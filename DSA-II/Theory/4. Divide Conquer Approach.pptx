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8"/>
  </p:notesMasterIdLst>
  <p:sldIdLst>
    <p:sldId id="311" r:id="rId2"/>
    <p:sldId id="309" r:id="rId3"/>
    <p:sldId id="30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310" r:id="rId12"/>
    <p:sldId id="270" r:id="rId13"/>
    <p:sldId id="271" r:id="rId14"/>
    <p:sldId id="268" r:id="rId15"/>
    <p:sldId id="269" r:id="rId16"/>
    <p:sldId id="272" r:id="rId17"/>
    <p:sldId id="273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298" r:id="rId42"/>
    <p:sldId id="300" r:id="rId43"/>
    <p:sldId id="301" r:id="rId44"/>
    <p:sldId id="304" r:id="rId45"/>
    <p:sldId id="305" r:id="rId46"/>
    <p:sldId id="299" r:id="rId47"/>
  </p:sldIdLst>
  <p:sldSz cx="12192000" cy="6858000"/>
  <p:notesSz cx="6858000" cy="9144000"/>
  <p:embeddedFontLst>
    <p:embeddedFont>
      <p:font typeface="Candara" panose="020E0502030303020204" pitchFamily="34" charset="0"/>
      <p:regular r:id="rId49"/>
      <p:bold r:id="rId50"/>
      <p:italic r:id="rId51"/>
      <p:boldItalic r:id="rId52"/>
    </p:embeddedFont>
    <p:embeddedFont>
      <p:font typeface="Comic Sans MS" panose="030F0702030302020204" pitchFamily="66" charset="0"/>
      <p:regular r:id="rId53"/>
      <p:bold r:id="rId54"/>
      <p:italic r:id="rId55"/>
      <p:boldItalic r:id="rId56"/>
    </p:embeddedFont>
    <p:embeddedFont>
      <p:font typeface="Lucida Sans Typewriter" panose="020B0509030504030204" pitchFamily="49" charset="0"/>
      <p:regular r:id="rId57"/>
      <p:bold r:id="rId58"/>
      <p:italic r:id="rId59"/>
      <p:boldItalic r:id="rId60"/>
    </p:embeddedFont>
    <p:embeddedFont>
      <p:font typeface="Tahoma" panose="020B0604030504040204" pitchFamily="34" charset="0"/>
      <p:regular r:id="rId61"/>
      <p:bold r:id="rId6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jels4WPE6ZksU0MO8AJ1oadtOh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A6DA43-D3E8-454F-BD3C-A02ECF028E96}">
  <a:tblStyle styleId="{3CA6DA43-D3E8-454F-BD3C-A02ECF028E9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DEE7AC1-399C-4376-8548-5C3429A4A10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8FC11F-FE77-4ACE-B6F6-A7261129B311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9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591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5" name="Google Shape;3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D4E90B12-EBA4-5764-0A4E-02746DB81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0AFEDB94-10A8-65B6-3412-823FEAB096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F79DB1BD-6B8B-799A-7C20-1572DF757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42873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D3CAB2AC-42FC-66B7-09B7-D00B3AA70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D4A0C9E8-DA6E-3583-F552-1CC962A6D1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AC84A882-4747-B25E-A963-04B7930D57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77965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FA64A36E-DDD1-F221-ACF0-256E8B2B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FCB64BE5-CF78-4434-871B-2967336F9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A4E01E20-4A92-12B6-0688-BE5EA258D0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73377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539936EA-22AD-F816-DE0C-ECC44F236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3BACF20A-7E94-9616-7706-7388AF096D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BACBD4A0-3384-4CF2-BA8D-46F2EB56F2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7193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B6C0E444-077C-847C-7F8B-3ECD8F5D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8F7ECE68-3D51-21BF-05A4-9EFB8FB0F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5637EEC4-251E-16CB-B42C-752BC17477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03926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8FD0520C-078B-68FB-C4D4-903343A66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19A6D50C-FABD-1272-9363-6F4D56952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A28DAA8E-9A9C-8FAF-69EC-9A566CF09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74161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CA503747-5C0C-CE7B-F969-CE53E391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FCE3C4E6-B13B-9C0B-B110-FA2107FD4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BEEF8BAF-D043-DC1E-F47F-4B594C92C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03815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BE9CC9BB-CF86-4ABF-4FFD-5D5B9F6C9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6A5F0A43-7D8F-6614-DFAC-AB5B39A53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B591479E-201D-917C-6A87-6CB2A75C38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14318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CD51F510-48AD-FE87-C073-BFF5817E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D246C12E-C939-3423-5CCF-4B9240B55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8D3FED2B-5DD1-35D8-DC2F-8ED7BA9FB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51416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0A4E145E-B587-182C-E48F-92F6A9A4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72B6EBF2-65F4-3FF6-69EE-7A15832EC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01BD5471-CD1C-E834-0B2A-26AF038ABC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37997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8DAEB7CC-411D-D1AB-0CA9-3096E9F1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8E131299-815B-91A6-4D3B-68A120EB9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BD653121-2B75-CC93-9827-62DDF84E9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62065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76394D31-6BC3-D69C-6BE8-F67AEF19B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37AB6A05-54C9-9244-BA46-1F9714DC8E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66BE5C56-5900-362E-5089-6CEF97898B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66401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58EB8092-97C8-ABC0-FB3B-EACB70FCC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>
            <a:extLst>
              <a:ext uri="{FF2B5EF4-FFF2-40B4-BE49-F238E27FC236}">
                <a16:creationId xmlns:a16="http://schemas.microsoft.com/office/drawing/2014/main" id="{D800C3A3-650A-5104-D5A8-F7DFAE028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6:notes">
            <a:extLst>
              <a:ext uri="{FF2B5EF4-FFF2-40B4-BE49-F238E27FC236}">
                <a16:creationId xmlns:a16="http://schemas.microsoft.com/office/drawing/2014/main" id="{D9E26960-5A02-F081-D905-EF48AC50B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80515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September 26,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33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September 26,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4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September 26,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11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September 26,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8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September 26,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25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September 26,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7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September 26,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Charles Aunkan Gomes (Lecturer, Dept of CSE, UIU)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8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Tuesday, September 26,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Charles Aunkan Gomes (Lecturer, Dept of CSE, UIU)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September 26,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8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September 26,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21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September 26,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87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marL="914400" marR="0" lvl="1" indent="-344169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marL="1371600" marR="0" lvl="2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marL="1828800" marR="0" lvl="3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marL="2286000" marR="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Tuesday, September 26, 2023</a:t>
            </a:r>
            <a:endParaRPr/>
          </a:p>
        </p:txBody>
      </p:sp>
      <p:sp>
        <p:nvSpPr>
          <p:cNvPr id="27" name="Google Shape;27;p5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Charles Aunkan Gomes (Lecturer, Dept of CSE, UIU)</a:t>
            </a:r>
            <a:endParaRPr/>
          </a:p>
        </p:txBody>
      </p:sp>
      <p:sp>
        <p:nvSpPr>
          <p:cNvPr id="28" name="Google Shape;28;p5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5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193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Tuesday, September 26,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Charles Aunkan Gomes (Lecturer, Dept of CSE, UIU)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064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n orange and white logo">
            <a:extLst>
              <a:ext uri="{FF2B5EF4-FFF2-40B4-BE49-F238E27FC236}">
                <a16:creationId xmlns:a16="http://schemas.microsoft.com/office/drawing/2014/main" id="{45BC1B21-A1AF-B9DB-511B-1F52F241C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4188136"/>
            <a:ext cx="1371556" cy="13715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14800" y="4396311"/>
            <a:ext cx="343216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dirty="0"/>
              <a:t>Charles Aunkan Gomes</a:t>
            </a:r>
          </a:p>
          <a:p>
            <a:r>
              <a:rPr lang="en-US" sz="2000" dirty="0"/>
              <a:t>Lecturer, Dept. of CSE</a:t>
            </a:r>
          </a:p>
          <a:p>
            <a:r>
              <a:rPr lang="en-US" sz="2000" dirty="0"/>
              <a:t>United International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02C04-3C85-7143-002D-E146E763A49A}"/>
              </a:ext>
            </a:extLst>
          </p:cNvPr>
          <p:cNvSpPr txBox="1"/>
          <p:nvPr/>
        </p:nvSpPr>
        <p:spPr>
          <a:xfrm>
            <a:off x="1600200" y="1407981"/>
            <a:ext cx="88613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kern="0" spc="-5" dirty="0">
                <a:latin typeface="Lucida Sans Typewriter" panose="020B0509030504030204" pitchFamily="49" charset="0"/>
                <a:cs typeface="Arial"/>
              </a:rPr>
              <a:t>Divide &amp; Conquer</a:t>
            </a:r>
            <a:endParaRPr lang="en-US" sz="6000" b="1" dirty="0">
              <a:latin typeface="Lucida Sans Typewriter" panose="020B05090305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655FE0-EECE-06D4-CF40-3DF48CB66AAE}"/>
              </a:ext>
            </a:extLst>
          </p:cNvPr>
          <p:cNvSpPr txBox="1"/>
          <p:nvPr/>
        </p:nvSpPr>
        <p:spPr>
          <a:xfrm>
            <a:off x="8382000" y="4963133"/>
            <a:ext cx="3146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Courtesy: Md Shadman </a:t>
            </a:r>
            <a:r>
              <a:rPr lang="en-US" dirty="0" err="1"/>
              <a:t>Aadeeb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5B36A-2BC4-5E42-012C-8C53A45C2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E9DED9-B1B5-E545-DFC5-77D67D43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3"/>
          <p:cNvSpPr txBox="1">
            <a:spLocks noGrp="1"/>
          </p:cNvSpPr>
          <p:nvPr>
            <p:ph type="title"/>
          </p:nvPr>
        </p:nvSpPr>
        <p:spPr>
          <a:xfrm>
            <a:off x="1097280" y="2820894"/>
            <a:ext cx="10058400" cy="1504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 sz="6000" dirty="0">
                <a:latin typeface="Lucida Sans Typewriter" panose="020B0509030504030204" pitchFamily="49" charset="0"/>
              </a:rPr>
              <a:t>Divide and Conquer</a:t>
            </a:r>
            <a:endParaRPr sz="6000" dirty="0">
              <a:latin typeface="Lucida Sans Typewriter" panose="020B0509030504030204" pitchFamily="49" charset="0"/>
            </a:endParaRPr>
          </a:p>
        </p:txBody>
      </p:sp>
      <p:sp>
        <p:nvSpPr>
          <p:cNvPr id="220" name="Google Shape;220;p4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>
                <a:latin typeface="Lucida Sans Typewriter" panose="020B0509030504030204" pitchFamily="49" charset="0"/>
              </a:rPr>
              <a:t>The first problem solving strategy</a:t>
            </a:r>
            <a:endParaRPr dirty="0">
              <a:latin typeface="Lucida Sans Typewriter" panose="020B05090305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237259-42D3-0483-BBEC-DB4952CE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825B15-BABF-7660-BB87-074DB6297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2603796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B1FF82-7718-4CCB-B858-0A85E2CB0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50869"/>
            <a:ext cx="10515600" cy="3709851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Lucida Sans Typewriter" panose="020B0509030504030204" pitchFamily="49" charset="0"/>
              </a:rPr>
              <a:t>The steps of the Divide and Conquer approach are:</a:t>
            </a:r>
          </a:p>
          <a:p>
            <a:pPr marL="685800" indent="-457200">
              <a:buClr>
                <a:schemeClr val="accent2"/>
              </a:buClr>
              <a:buFont typeface="+mj-lt"/>
              <a:buAutoNum type="arabicPeriod"/>
            </a:pPr>
            <a:endParaRPr lang="en-US" dirty="0">
              <a:effectLst/>
              <a:latin typeface="Lucida Sans Typewriter" panose="020B0509030504030204" pitchFamily="49" charset="0"/>
            </a:endParaRPr>
          </a:p>
          <a:p>
            <a:pPr marL="685800" indent="-457200">
              <a:buClr>
                <a:schemeClr val="accent2"/>
              </a:buClr>
              <a:buFont typeface="+mj-lt"/>
              <a:buAutoNum type="arabicPeriod"/>
            </a:pPr>
            <a:r>
              <a:rPr lang="en-US" b="1" dirty="0">
                <a:solidFill>
                  <a:schemeClr val="accent2"/>
                </a:solidFill>
                <a:latin typeface="Lucida Sans Typewriter" panose="020B0509030504030204" pitchFamily="49" charset="0"/>
              </a:rPr>
              <a:t>Divide</a:t>
            </a:r>
            <a:r>
              <a:rPr lang="en-US" dirty="0">
                <a:latin typeface="Lucida Sans Typewriter" panose="020B0509030504030204" pitchFamily="49" charset="0"/>
              </a:rPr>
              <a:t>: Keep splitting the problem into smaller sub-problems.</a:t>
            </a:r>
          </a:p>
          <a:p>
            <a:pPr marL="685800" indent="-457200">
              <a:buClr>
                <a:schemeClr val="accent2"/>
              </a:buClr>
              <a:buFont typeface="+mj-lt"/>
              <a:buAutoNum type="arabicPeriod"/>
            </a:pPr>
            <a:endParaRPr lang="en-US" dirty="0">
              <a:latin typeface="Lucida Sans Typewriter" panose="020B0509030504030204" pitchFamily="49" charset="0"/>
            </a:endParaRPr>
          </a:p>
          <a:p>
            <a:pPr marL="685800" indent="-457200">
              <a:buClr>
                <a:schemeClr val="accent2"/>
              </a:buClr>
              <a:buFont typeface="+mj-lt"/>
              <a:buAutoNum type="arabicPeriod"/>
            </a:pPr>
            <a:r>
              <a:rPr lang="en-US" b="1" dirty="0">
                <a:solidFill>
                  <a:schemeClr val="accent2"/>
                </a:solidFill>
                <a:latin typeface="Lucida Sans Typewriter" panose="020B0509030504030204" pitchFamily="49" charset="0"/>
              </a:rPr>
              <a:t>Conquer</a:t>
            </a:r>
            <a:r>
              <a:rPr lang="en-US" dirty="0">
                <a:latin typeface="Lucida Sans Typewriter" panose="020B0509030504030204" pitchFamily="49" charset="0"/>
              </a:rPr>
              <a:t>: Solve the smallest sub-problems directly</a:t>
            </a:r>
          </a:p>
          <a:p>
            <a:pPr marL="685800" indent="-457200">
              <a:buClr>
                <a:schemeClr val="accent2"/>
              </a:buClr>
              <a:buFont typeface="+mj-lt"/>
              <a:buAutoNum type="arabicPeriod"/>
            </a:pPr>
            <a:endParaRPr lang="en-US" dirty="0">
              <a:latin typeface="Lucida Sans Typewriter" panose="020B0509030504030204" pitchFamily="49" charset="0"/>
            </a:endParaRPr>
          </a:p>
          <a:p>
            <a:pPr marL="685800" indent="-457200">
              <a:buClr>
                <a:schemeClr val="accent2"/>
              </a:buClr>
              <a:buFont typeface="+mj-lt"/>
              <a:buAutoNum type="arabicPeriod"/>
            </a:pPr>
            <a:r>
              <a:rPr lang="en-US" b="1" dirty="0">
                <a:solidFill>
                  <a:schemeClr val="accent2"/>
                </a:solidFill>
                <a:latin typeface="Lucida Sans Typewriter" panose="020B0509030504030204" pitchFamily="49" charset="0"/>
              </a:rPr>
              <a:t>Combine</a:t>
            </a:r>
            <a:r>
              <a:rPr lang="en-US" dirty="0">
                <a:latin typeface="Lucida Sans Typewriter" panose="020B0509030504030204" pitchFamily="49" charset="0"/>
              </a:rPr>
              <a:t>: Merge the solutions of the subproblems to produce the final solution for the original problem.</a:t>
            </a:r>
          </a:p>
          <a:p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261261-36CC-4B32-8A81-B4AC90E0C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528" y="1016726"/>
            <a:ext cx="10515600" cy="604730"/>
          </a:xfrm>
        </p:spPr>
        <p:txBody>
          <a:bodyPr/>
          <a:lstStyle/>
          <a:p>
            <a:pPr algn="l"/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Divide and Conquer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5F8E1-DE86-5BBD-61EE-B1F93CFBEE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736A47-0069-078B-CC71-8004BF008E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1357560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>
            <a:spLocks noGrp="1"/>
          </p:cNvSpPr>
          <p:nvPr>
            <p:ph type="body" idx="1"/>
          </p:nvPr>
        </p:nvSpPr>
        <p:spPr>
          <a:xfrm>
            <a:off x="838200" y="2279469"/>
            <a:ext cx="10515600" cy="286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Lucida Sans Typewriter" panose="020B0509030504030204" pitchFamily="49" charset="0"/>
              </a:rPr>
              <a:t>Note that the divide and conquer problems you will be solving are mostly </a:t>
            </a:r>
            <a:r>
              <a:rPr lang="en-US" b="1" dirty="0">
                <a:latin typeface="Lucida Sans Typewriter" panose="020B0509030504030204" pitchFamily="49" charset="0"/>
              </a:rPr>
              <a:t>based on arrays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 pitchFamily="34" charset="0"/>
              <a:buChar char="•"/>
            </a:pPr>
            <a:endParaRPr lang="en-US" b="1" dirty="0">
              <a:latin typeface="Lucida Sans Typewriter" panose="020B0509030504030204" pitchFamily="49" charset="0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Lucida Sans Typewriter" panose="020B0509030504030204" pitchFamily="49" charset="0"/>
              </a:rPr>
              <a:t>However, </a:t>
            </a:r>
            <a:r>
              <a:rPr lang="en-US" b="1" dirty="0">
                <a:latin typeface="Lucida Sans Typewriter" panose="020B0509030504030204" pitchFamily="49" charset="0"/>
              </a:rPr>
              <a:t>not all divide and conquer </a:t>
            </a:r>
            <a:r>
              <a:rPr lang="en-US" dirty="0">
                <a:latin typeface="Lucida Sans Typewriter" panose="020B0509030504030204" pitchFamily="49" charset="0"/>
              </a:rPr>
              <a:t>problems are based on arrays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 pitchFamily="34" charset="0"/>
              <a:buChar char="•"/>
            </a:pPr>
            <a:endParaRPr lang="en-US" dirty="0">
              <a:latin typeface="Lucida Sans Typewriter" panose="020B0509030504030204" pitchFamily="49" charset="0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Lucida Sans Typewriter" panose="020B0509030504030204" pitchFamily="49" charset="0"/>
              </a:rPr>
              <a:t>Example : </a:t>
            </a:r>
            <a:r>
              <a:rPr lang="en-US" b="1" dirty="0">
                <a:latin typeface="Lucida Sans Typewriter" panose="020B0509030504030204" pitchFamily="49" charset="0"/>
              </a:rPr>
              <a:t>Strassen’s algorithm for matrix multiplication (Not in syllabus)</a:t>
            </a:r>
            <a:endParaRPr b="1" dirty="0">
              <a:latin typeface="Lucida Sans Typewriter" panose="020B05090305040302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836D65-27D9-608D-5DE5-3C2C6040D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528" y="1016726"/>
            <a:ext cx="10515600" cy="604730"/>
          </a:xfrm>
        </p:spPr>
        <p:txBody>
          <a:bodyPr/>
          <a:lstStyle/>
          <a:p>
            <a:pPr algn="l"/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Divide and Conquer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0AC468-DBDE-1D9A-1065-384827027D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EF11A-0549-7310-8F97-9E898C4DC1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" name="Google Shape;193;p6"/>
          <p:cNvGraphicFramePr/>
          <p:nvPr>
            <p:extLst>
              <p:ext uri="{D42A27DB-BD31-4B8C-83A1-F6EECF244321}">
                <p14:modId xmlns:p14="http://schemas.microsoft.com/office/powerpoint/2010/main" val="1883117356"/>
              </p:ext>
            </p:extLst>
          </p:nvPr>
        </p:nvGraphicFramePr>
        <p:xfrm>
          <a:off x="2000523" y="2024978"/>
          <a:ext cx="6225500" cy="365770"/>
        </p:xfrm>
        <a:graphic>
          <a:graphicData uri="http://schemas.openxmlformats.org/drawingml/2006/table">
            <a:tbl>
              <a:tblPr firstRow="1" bandRow="1">
                <a:noFill/>
                <a:tableStyleId>{3CA6DA43-D3E8-454F-BD3C-A02ECF028E96}</a:tableStyleId>
              </a:tblPr>
              <a:tblGrid>
                <a:gridCol w="62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66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7" name="Google Shape;197;p6"/>
          <p:cNvSpPr txBox="1">
            <a:spLocks noGrp="1"/>
          </p:cNvSpPr>
          <p:nvPr>
            <p:ph type="title"/>
          </p:nvPr>
        </p:nvSpPr>
        <p:spPr>
          <a:xfrm>
            <a:off x="910844" y="317521"/>
            <a:ext cx="10515600" cy="1398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None/>
            </a:pPr>
            <a:r>
              <a:rPr lang="en-US" sz="3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Divide and Conquer (Basic structure for array based problems)</a:t>
            </a:r>
            <a:endParaRPr sz="3600"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083784" y="1758427"/>
            <a:ext cx="2149312" cy="23626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(</a:t>
            </a: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A,start,end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</p:txBody>
      </p:sp>
      <p:cxnSp>
        <p:nvCxnSpPr>
          <p:cNvPr id="199" name="Google Shape;199;p6"/>
          <p:cNvCxnSpPr>
            <a:endCxn id="200" idx="0"/>
          </p:cNvCxnSpPr>
          <p:nvPr/>
        </p:nvCxnSpPr>
        <p:spPr>
          <a:xfrm flipH="1">
            <a:off x="2720506" y="2355282"/>
            <a:ext cx="2392800" cy="1082566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1" name="Google Shape;201;p6"/>
          <p:cNvCxnSpPr>
            <a:endCxn id="202" idx="0"/>
          </p:cNvCxnSpPr>
          <p:nvPr/>
        </p:nvCxnSpPr>
        <p:spPr>
          <a:xfrm>
            <a:off x="5113177" y="2355227"/>
            <a:ext cx="559800" cy="1065466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203" name="Google Shape;203;p6"/>
          <p:cNvGraphicFramePr/>
          <p:nvPr>
            <p:extLst>
              <p:ext uri="{D42A27DB-BD31-4B8C-83A1-F6EECF244321}">
                <p14:modId xmlns:p14="http://schemas.microsoft.com/office/powerpoint/2010/main" val="3434736482"/>
              </p:ext>
            </p:extLst>
          </p:nvPr>
        </p:nvGraphicFramePr>
        <p:xfrm>
          <a:off x="1645850" y="3817849"/>
          <a:ext cx="1867650" cy="36577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2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6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0" name="Google Shape;200;p6"/>
          <p:cNvSpPr/>
          <p:nvPr/>
        </p:nvSpPr>
        <p:spPr>
          <a:xfrm>
            <a:off x="1645850" y="3437848"/>
            <a:ext cx="2149312" cy="23626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(A,start,i)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598321" y="3420693"/>
            <a:ext cx="2149312" cy="23626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(A,i+1,end)</a:t>
            </a:r>
            <a:endParaRPr/>
          </a:p>
        </p:txBody>
      </p:sp>
      <p:graphicFrame>
        <p:nvGraphicFramePr>
          <p:cNvPr id="204" name="Google Shape;204;p6"/>
          <p:cNvGraphicFramePr/>
          <p:nvPr>
            <p:extLst>
              <p:ext uri="{D42A27DB-BD31-4B8C-83A1-F6EECF244321}">
                <p14:modId xmlns:p14="http://schemas.microsoft.com/office/powerpoint/2010/main" val="3559841882"/>
              </p:ext>
            </p:extLst>
          </p:nvPr>
        </p:nvGraphicFramePr>
        <p:xfrm>
          <a:off x="4301836" y="3813810"/>
          <a:ext cx="4357850" cy="36577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2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6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5" name="Google Shape;205;p6"/>
          <p:cNvCxnSpPr>
            <a:endCxn id="206" idx="0"/>
          </p:cNvCxnSpPr>
          <p:nvPr/>
        </p:nvCxnSpPr>
        <p:spPr>
          <a:xfrm>
            <a:off x="5113369" y="2355201"/>
            <a:ext cx="5337000" cy="979966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6" name="Google Shape;206;p6"/>
          <p:cNvSpPr/>
          <p:nvPr/>
        </p:nvSpPr>
        <p:spPr>
          <a:xfrm>
            <a:off x="8903901" y="3335167"/>
            <a:ext cx="3092936" cy="23626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 Function (A,start,end)</a:t>
            </a:r>
            <a:endParaRPr/>
          </a:p>
        </p:txBody>
      </p:sp>
      <p:cxnSp>
        <p:nvCxnSpPr>
          <p:cNvPr id="207" name="Google Shape;207;p6"/>
          <p:cNvCxnSpPr>
            <a:endCxn id="208" idx="0"/>
          </p:cNvCxnSpPr>
          <p:nvPr/>
        </p:nvCxnSpPr>
        <p:spPr>
          <a:xfrm flipH="1">
            <a:off x="3523665" y="4179609"/>
            <a:ext cx="2957100" cy="1266166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9" name="Google Shape;209;p6"/>
          <p:cNvCxnSpPr>
            <a:endCxn id="210" idx="0"/>
          </p:cNvCxnSpPr>
          <p:nvPr/>
        </p:nvCxnSpPr>
        <p:spPr>
          <a:xfrm flipH="1">
            <a:off x="6179343" y="4227742"/>
            <a:ext cx="292800" cy="1205866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1" name="Google Shape;211;p6"/>
          <p:cNvCxnSpPr>
            <a:cxnSpLocks/>
            <a:stCxn id="204" idx="2"/>
            <a:endCxn id="212" idx="0"/>
          </p:cNvCxnSpPr>
          <p:nvPr/>
        </p:nvCxnSpPr>
        <p:spPr>
          <a:xfrm>
            <a:off x="6480761" y="4179580"/>
            <a:ext cx="3432586" cy="1266195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8" name="Google Shape;208;p6"/>
          <p:cNvSpPr/>
          <p:nvPr/>
        </p:nvSpPr>
        <p:spPr>
          <a:xfrm>
            <a:off x="2449009" y="5445775"/>
            <a:ext cx="2149312" cy="23626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(A,start,i)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5104687" y="5433608"/>
            <a:ext cx="2149312" cy="23626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(A,i+1,end)</a:t>
            </a:r>
            <a:endParaRPr dirty="0"/>
          </a:p>
        </p:txBody>
      </p:sp>
      <p:sp>
        <p:nvSpPr>
          <p:cNvPr id="212" name="Google Shape;212;p6"/>
          <p:cNvSpPr/>
          <p:nvPr/>
        </p:nvSpPr>
        <p:spPr>
          <a:xfrm>
            <a:off x="8366879" y="5445775"/>
            <a:ext cx="3092936" cy="23626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 Function (A,start,end)</a:t>
            </a:r>
            <a:endParaRPr/>
          </a:p>
        </p:txBody>
      </p:sp>
      <p:graphicFrame>
        <p:nvGraphicFramePr>
          <p:cNvPr id="213" name="Google Shape;213;p6"/>
          <p:cNvGraphicFramePr/>
          <p:nvPr>
            <p:extLst>
              <p:ext uri="{D42A27DB-BD31-4B8C-83A1-F6EECF244321}">
                <p14:modId xmlns:p14="http://schemas.microsoft.com/office/powerpoint/2010/main" val="3877201625"/>
              </p:ext>
            </p:extLst>
          </p:nvPr>
        </p:nvGraphicFramePr>
        <p:xfrm>
          <a:off x="1767997" y="5802249"/>
          <a:ext cx="3112750" cy="36577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2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6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4" name="Google Shape;214;p6"/>
          <p:cNvGraphicFramePr/>
          <p:nvPr>
            <p:extLst>
              <p:ext uri="{D42A27DB-BD31-4B8C-83A1-F6EECF244321}">
                <p14:modId xmlns:p14="http://schemas.microsoft.com/office/powerpoint/2010/main" val="1676426410"/>
              </p:ext>
            </p:extLst>
          </p:nvPr>
        </p:nvGraphicFramePr>
        <p:xfrm>
          <a:off x="5565362" y="5786440"/>
          <a:ext cx="1245100" cy="36577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2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6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855C71-630B-DC07-E59A-7F67D59C55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938F186-6607-179F-8B02-4911450E35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 sz="5400" dirty="0">
                <a:latin typeface="Lucida Sans Typewriter" panose="020B0509030504030204" pitchFamily="49" charset="0"/>
              </a:rPr>
              <a:t>MIN MAX PROBLEM</a:t>
            </a:r>
            <a:endParaRPr sz="5400" dirty="0">
              <a:latin typeface="Lucida Sans Typewriter" panose="020B05090305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F24E41-687A-3A58-7AD8-5CDFA1F1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39C8C-90E2-D28B-91C4-F99815F6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4"/>
          <p:cNvSpPr txBox="1">
            <a:spLocks noGrp="1"/>
          </p:cNvSpPr>
          <p:nvPr>
            <p:ph type="title"/>
          </p:nvPr>
        </p:nvSpPr>
        <p:spPr>
          <a:xfrm>
            <a:off x="966597" y="1005149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Finding Maximum and Minimum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graphicFrame>
        <p:nvGraphicFramePr>
          <p:cNvPr id="232" name="Google Shape;232;p44"/>
          <p:cNvGraphicFramePr/>
          <p:nvPr>
            <p:extLst>
              <p:ext uri="{D42A27DB-BD31-4B8C-83A1-F6EECF244321}">
                <p14:modId xmlns:p14="http://schemas.microsoft.com/office/powerpoint/2010/main" val="418258707"/>
              </p:ext>
            </p:extLst>
          </p:nvPr>
        </p:nvGraphicFramePr>
        <p:xfrm>
          <a:off x="2394698" y="1768640"/>
          <a:ext cx="7904940" cy="54866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790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0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0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04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04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04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04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Index</a:t>
                      </a:r>
                      <a:endParaRPr sz="12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2</a:t>
                      </a:r>
                      <a:endParaRPr sz="12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3</a:t>
                      </a:r>
                      <a:endParaRPr sz="12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9</a:t>
                      </a:r>
                      <a:endParaRPr sz="12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Array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22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13</a:t>
                      </a:r>
                      <a:endParaRPr sz="12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-5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-8</a:t>
                      </a:r>
                      <a:endParaRPr sz="12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15</a:t>
                      </a:r>
                      <a:endParaRPr sz="12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60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17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31</a:t>
                      </a:r>
                      <a:endParaRPr sz="12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47</a:t>
                      </a:r>
                      <a:endParaRPr sz="12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3" name="Google Shape;233;p44"/>
          <p:cNvSpPr/>
          <p:nvPr/>
        </p:nvSpPr>
        <p:spPr>
          <a:xfrm>
            <a:off x="5115178" y="2421774"/>
            <a:ext cx="17607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</a:t>
            </a:r>
            <a:r>
              <a:rPr lang="en-US" sz="1200" b="0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(1,9)</a:t>
            </a:r>
            <a:endParaRPr sz="1200" dirty="0"/>
          </a:p>
        </p:txBody>
      </p:sp>
      <p:cxnSp>
        <p:nvCxnSpPr>
          <p:cNvPr id="234" name="Google Shape;234;p44"/>
          <p:cNvCxnSpPr>
            <a:cxnSpLocks/>
            <a:endCxn id="235" idx="0"/>
          </p:cNvCxnSpPr>
          <p:nvPr/>
        </p:nvCxnSpPr>
        <p:spPr>
          <a:xfrm flipH="1">
            <a:off x="4608667" y="2664382"/>
            <a:ext cx="1262471" cy="46088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6" name="Google Shape;236;p44"/>
          <p:cNvCxnSpPr>
            <a:cxnSpLocks/>
          </p:cNvCxnSpPr>
          <p:nvPr/>
        </p:nvCxnSpPr>
        <p:spPr>
          <a:xfrm>
            <a:off x="5871138" y="2679448"/>
            <a:ext cx="3071694" cy="78919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5" name="Google Shape;235;p44"/>
          <p:cNvSpPr/>
          <p:nvPr/>
        </p:nvSpPr>
        <p:spPr>
          <a:xfrm>
            <a:off x="3728307" y="3125262"/>
            <a:ext cx="17607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</a:t>
            </a:r>
            <a:r>
              <a:rPr lang="en-US" sz="1200" b="0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(1,5)</a:t>
            </a:r>
            <a:endParaRPr sz="1200" dirty="0"/>
          </a:p>
        </p:txBody>
      </p:sp>
      <p:sp>
        <p:nvSpPr>
          <p:cNvPr id="237" name="Google Shape;237;p44"/>
          <p:cNvSpPr/>
          <p:nvPr/>
        </p:nvSpPr>
        <p:spPr>
          <a:xfrm>
            <a:off x="8140111" y="3468642"/>
            <a:ext cx="17607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</a:t>
            </a:r>
            <a:r>
              <a:rPr lang="en-US" sz="1200" b="0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(6,9)</a:t>
            </a:r>
            <a:endParaRPr sz="1200" dirty="0"/>
          </a:p>
        </p:txBody>
      </p:sp>
      <p:cxnSp>
        <p:nvCxnSpPr>
          <p:cNvPr id="238" name="Google Shape;238;p44"/>
          <p:cNvCxnSpPr>
            <a:cxnSpLocks/>
            <a:endCxn id="239" idx="0"/>
          </p:cNvCxnSpPr>
          <p:nvPr/>
        </p:nvCxnSpPr>
        <p:spPr>
          <a:xfrm flipH="1">
            <a:off x="2832917" y="3405924"/>
            <a:ext cx="1654231" cy="46039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0" name="Google Shape;240;p44"/>
          <p:cNvCxnSpPr>
            <a:cxnSpLocks/>
            <a:endCxn id="241" idx="0"/>
          </p:cNvCxnSpPr>
          <p:nvPr/>
        </p:nvCxnSpPr>
        <p:spPr>
          <a:xfrm>
            <a:off x="4510982" y="3400903"/>
            <a:ext cx="1803585" cy="57072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9" name="Google Shape;239;p44"/>
          <p:cNvSpPr/>
          <p:nvPr/>
        </p:nvSpPr>
        <p:spPr>
          <a:xfrm>
            <a:off x="1952557" y="3866319"/>
            <a:ext cx="17607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MaxMin(1,3)</a:t>
            </a:r>
            <a:endParaRPr sz="1200"/>
          </a:p>
        </p:txBody>
      </p:sp>
      <p:sp>
        <p:nvSpPr>
          <p:cNvPr id="241" name="Google Shape;241;p44"/>
          <p:cNvSpPr/>
          <p:nvPr/>
        </p:nvSpPr>
        <p:spPr>
          <a:xfrm>
            <a:off x="5434207" y="3971623"/>
            <a:ext cx="17607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MaxMin(4,5)</a:t>
            </a:r>
            <a:endParaRPr sz="1200"/>
          </a:p>
        </p:txBody>
      </p:sp>
      <p:sp>
        <p:nvSpPr>
          <p:cNvPr id="242" name="Google Shape;242;p44"/>
          <p:cNvSpPr/>
          <p:nvPr/>
        </p:nvSpPr>
        <p:spPr>
          <a:xfrm>
            <a:off x="420173" y="4899790"/>
            <a:ext cx="17607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MaxMin(1,2)</a:t>
            </a:r>
            <a:endParaRPr sz="1200"/>
          </a:p>
        </p:txBody>
      </p:sp>
      <p:sp>
        <p:nvSpPr>
          <p:cNvPr id="243" name="Google Shape;243;p44"/>
          <p:cNvSpPr/>
          <p:nvPr/>
        </p:nvSpPr>
        <p:spPr>
          <a:xfrm>
            <a:off x="2619704" y="4961641"/>
            <a:ext cx="17607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MaxMin(3,3)</a:t>
            </a:r>
            <a:endParaRPr sz="1200"/>
          </a:p>
        </p:txBody>
      </p:sp>
      <p:cxnSp>
        <p:nvCxnSpPr>
          <p:cNvPr id="244" name="Google Shape;244;p44"/>
          <p:cNvCxnSpPr>
            <a:stCxn id="239" idx="2"/>
            <a:endCxn id="242" idx="0"/>
          </p:cNvCxnSpPr>
          <p:nvPr/>
        </p:nvCxnSpPr>
        <p:spPr>
          <a:xfrm flipH="1">
            <a:off x="1300533" y="4143278"/>
            <a:ext cx="1532384" cy="75651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5" name="Google Shape;245;p44"/>
          <p:cNvCxnSpPr>
            <a:stCxn id="239" idx="2"/>
            <a:endCxn id="243" idx="0"/>
          </p:cNvCxnSpPr>
          <p:nvPr/>
        </p:nvCxnSpPr>
        <p:spPr>
          <a:xfrm>
            <a:off x="2832917" y="4143278"/>
            <a:ext cx="667147" cy="81836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6" name="Google Shape;246;p44"/>
          <p:cNvCxnSpPr>
            <a:stCxn id="241" idx="2"/>
            <a:endCxn id="247" idx="0"/>
          </p:cNvCxnSpPr>
          <p:nvPr/>
        </p:nvCxnSpPr>
        <p:spPr>
          <a:xfrm flipH="1">
            <a:off x="5427709" y="4248582"/>
            <a:ext cx="886858" cy="117472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8" name="Google Shape;248;p44"/>
          <p:cNvCxnSpPr>
            <a:stCxn id="241" idx="2"/>
          </p:cNvCxnSpPr>
          <p:nvPr/>
        </p:nvCxnSpPr>
        <p:spPr>
          <a:xfrm>
            <a:off x="6314567" y="4248582"/>
            <a:ext cx="1169059" cy="101346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7" name="Google Shape;247;p44"/>
          <p:cNvSpPr/>
          <p:nvPr/>
        </p:nvSpPr>
        <p:spPr>
          <a:xfrm>
            <a:off x="4547349" y="5423306"/>
            <a:ext cx="17607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MaxMin(4,4)</a:t>
            </a:r>
            <a:endParaRPr sz="1200"/>
          </a:p>
        </p:txBody>
      </p:sp>
      <p:sp>
        <p:nvSpPr>
          <p:cNvPr id="249" name="Google Shape;249;p44"/>
          <p:cNvSpPr/>
          <p:nvPr/>
        </p:nvSpPr>
        <p:spPr>
          <a:xfrm>
            <a:off x="6619989" y="5423306"/>
            <a:ext cx="17607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MaxMin(5,5)</a:t>
            </a:r>
            <a:endParaRPr sz="1200"/>
          </a:p>
        </p:txBody>
      </p:sp>
      <p:sp>
        <p:nvSpPr>
          <p:cNvPr id="250" name="Google Shape;250;p44"/>
          <p:cNvSpPr/>
          <p:nvPr/>
        </p:nvSpPr>
        <p:spPr>
          <a:xfrm>
            <a:off x="294694" y="6049929"/>
            <a:ext cx="17607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MaxMin(1,1)</a:t>
            </a:r>
            <a:endParaRPr sz="1200"/>
          </a:p>
        </p:txBody>
      </p:sp>
      <p:sp>
        <p:nvSpPr>
          <p:cNvPr id="251" name="Google Shape;251;p44"/>
          <p:cNvSpPr/>
          <p:nvPr/>
        </p:nvSpPr>
        <p:spPr>
          <a:xfrm>
            <a:off x="2494225" y="6111780"/>
            <a:ext cx="17607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MaxMin(2,2)</a:t>
            </a:r>
            <a:endParaRPr sz="1200"/>
          </a:p>
        </p:txBody>
      </p:sp>
      <p:cxnSp>
        <p:nvCxnSpPr>
          <p:cNvPr id="252" name="Google Shape;252;p44"/>
          <p:cNvCxnSpPr>
            <a:stCxn id="242" idx="2"/>
            <a:endCxn id="250" idx="0"/>
          </p:cNvCxnSpPr>
          <p:nvPr/>
        </p:nvCxnSpPr>
        <p:spPr>
          <a:xfrm flipH="1">
            <a:off x="1175054" y="5176749"/>
            <a:ext cx="125479" cy="87318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3" name="Google Shape;253;p44"/>
          <p:cNvCxnSpPr>
            <a:stCxn id="242" idx="2"/>
            <a:endCxn id="251" idx="0"/>
          </p:cNvCxnSpPr>
          <p:nvPr/>
        </p:nvCxnSpPr>
        <p:spPr>
          <a:xfrm>
            <a:off x="1300533" y="5176749"/>
            <a:ext cx="2074052" cy="93503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4" name="Google Shape;254;p44"/>
          <p:cNvSpPr txBox="1"/>
          <p:nvPr/>
        </p:nvSpPr>
        <p:spPr>
          <a:xfrm>
            <a:off x="362557" y="5654138"/>
            <a:ext cx="69711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22,22</a:t>
            </a:r>
            <a:endParaRPr sz="1200"/>
          </a:p>
        </p:txBody>
      </p:sp>
      <p:sp>
        <p:nvSpPr>
          <p:cNvPr id="255" name="Google Shape;255;p44"/>
          <p:cNvSpPr txBox="1"/>
          <p:nvPr/>
        </p:nvSpPr>
        <p:spPr>
          <a:xfrm>
            <a:off x="2938866" y="5622236"/>
            <a:ext cx="69711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13,13</a:t>
            </a:r>
            <a:endParaRPr sz="1200"/>
          </a:p>
        </p:txBody>
      </p:sp>
      <p:sp>
        <p:nvSpPr>
          <p:cNvPr id="256" name="Google Shape;256;p44"/>
          <p:cNvSpPr txBox="1"/>
          <p:nvPr/>
        </p:nvSpPr>
        <p:spPr>
          <a:xfrm>
            <a:off x="723905" y="4530458"/>
            <a:ext cx="69711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22,13</a:t>
            </a:r>
            <a:endParaRPr sz="1200"/>
          </a:p>
        </p:txBody>
      </p:sp>
      <p:sp>
        <p:nvSpPr>
          <p:cNvPr id="257" name="Google Shape;257;p44"/>
          <p:cNvSpPr txBox="1"/>
          <p:nvPr/>
        </p:nvSpPr>
        <p:spPr>
          <a:xfrm>
            <a:off x="3454708" y="4654160"/>
            <a:ext cx="69711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-5,-5</a:t>
            </a:r>
            <a:endParaRPr sz="1200"/>
          </a:p>
        </p:txBody>
      </p:sp>
      <p:sp>
        <p:nvSpPr>
          <p:cNvPr id="258" name="Google Shape;258;p44"/>
          <p:cNvSpPr txBox="1"/>
          <p:nvPr/>
        </p:nvSpPr>
        <p:spPr>
          <a:xfrm>
            <a:off x="2345296" y="3558838"/>
            <a:ext cx="65150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22,-5</a:t>
            </a:r>
            <a:endParaRPr sz="1200"/>
          </a:p>
        </p:txBody>
      </p:sp>
      <p:sp>
        <p:nvSpPr>
          <p:cNvPr id="259" name="Google Shape;259;p44"/>
          <p:cNvSpPr txBox="1"/>
          <p:nvPr/>
        </p:nvSpPr>
        <p:spPr>
          <a:xfrm>
            <a:off x="4883140" y="5148874"/>
            <a:ext cx="60588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-8,-8</a:t>
            </a:r>
            <a:endParaRPr sz="1200"/>
          </a:p>
        </p:txBody>
      </p:sp>
      <p:sp>
        <p:nvSpPr>
          <p:cNvPr id="260" name="Google Shape;260;p44"/>
          <p:cNvSpPr txBox="1"/>
          <p:nvPr/>
        </p:nvSpPr>
        <p:spPr>
          <a:xfrm>
            <a:off x="7384669" y="5176789"/>
            <a:ext cx="69711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15,15</a:t>
            </a:r>
            <a:endParaRPr sz="1200"/>
          </a:p>
        </p:txBody>
      </p:sp>
      <p:sp>
        <p:nvSpPr>
          <p:cNvPr id="261" name="Google Shape;261;p44"/>
          <p:cNvSpPr txBox="1"/>
          <p:nvPr/>
        </p:nvSpPr>
        <p:spPr>
          <a:xfrm>
            <a:off x="6224397" y="3707595"/>
            <a:ext cx="65150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15,-8</a:t>
            </a:r>
            <a:endParaRPr sz="1200"/>
          </a:p>
        </p:txBody>
      </p:sp>
      <p:sp>
        <p:nvSpPr>
          <p:cNvPr id="262" name="Google Shape;262;p44"/>
          <p:cNvSpPr txBox="1"/>
          <p:nvPr/>
        </p:nvSpPr>
        <p:spPr>
          <a:xfrm>
            <a:off x="4035552" y="2919765"/>
            <a:ext cx="65150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22,-8</a:t>
            </a:r>
            <a:endParaRPr sz="1200" dirty="0"/>
          </a:p>
        </p:txBody>
      </p:sp>
      <p:sp>
        <p:nvSpPr>
          <p:cNvPr id="263" name="Google Shape;263;p44"/>
          <p:cNvSpPr txBox="1"/>
          <p:nvPr/>
        </p:nvSpPr>
        <p:spPr>
          <a:xfrm>
            <a:off x="8309166" y="3786958"/>
            <a:ext cx="169314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Similar recursive</a:t>
            </a:r>
            <a:endParaRPr sz="12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calls</a:t>
            </a:r>
            <a:endParaRPr sz="1200" dirty="0"/>
          </a:p>
        </p:txBody>
      </p:sp>
      <p:sp>
        <p:nvSpPr>
          <p:cNvPr id="264" name="Google Shape;264;p44"/>
          <p:cNvSpPr txBox="1"/>
          <p:nvPr/>
        </p:nvSpPr>
        <p:spPr>
          <a:xfrm>
            <a:off x="8958599" y="3207387"/>
            <a:ext cx="69711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60,17</a:t>
            </a:r>
            <a:endParaRPr sz="1200" dirty="0"/>
          </a:p>
        </p:txBody>
      </p:sp>
      <p:sp>
        <p:nvSpPr>
          <p:cNvPr id="265" name="Google Shape;265;p44"/>
          <p:cNvSpPr txBox="1"/>
          <p:nvPr/>
        </p:nvSpPr>
        <p:spPr>
          <a:xfrm>
            <a:off x="5669787" y="2248943"/>
            <a:ext cx="65150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60,-8</a:t>
            </a:r>
            <a:endParaRPr sz="120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A21840-92B6-16AC-45EF-43A0B4A82E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177AA3B-7F96-BBEB-2D92-ABFC085981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>
            <a:spLocks noGrp="1"/>
          </p:cNvSpPr>
          <p:nvPr>
            <p:ph type="body" idx="1"/>
          </p:nvPr>
        </p:nvSpPr>
        <p:spPr>
          <a:xfrm>
            <a:off x="838200" y="1922853"/>
            <a:ext cx="10515600" cy="41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ndara"/>
              <a:buNone/>
            </a:pP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Find_</a:t>
            </a:r>
            <a:r>
              <a:rPr lang="en-US" b="0" i="0" u="none" strike="noStrike" cap="none" dirty="0" err="1">
                <a:solidFill>
                  <a:schemeClr val="accent6">
                    <a:lumMod val="75000"/>
                  </a:schemeClr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maxmin</a:t>
            </a:r>
            <a:r>
              <a:rPr lang="en-US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(A, </a:t>
            </a:r>
            <a:r>
              <a:rPr lang="en-US" b="0" i="1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i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, 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j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)       		</a:t>
            </a:r>
            <a:endParaRPr dirty="0">
              <a:solidFill>
                <a:schemeClr val="accent3">
                  <a:lumMod val="75000"/>
                </a:schemeClr>
              </a:solidFill>
              <a:latin typeface="Lucida Sans Typewriter" panose="020B0509030504030204" pitchFamily="49" charset="0"/>
            </a:endParaRPr>
          </a:p>
          <a:p>
            <a:pPr marL="74295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 sz="2000" b="1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 = j: </a:t>
            </a:r>
            <a:endParaRPr sz="2000" dirty="0">
              <a:latin typeface="Lucida Sans Typewriter" panose="020B0509030504030204" pitchFamily="49" charset="0"/>
            </a:endParaRPr>
          </a:p>
          <a:p>
            <a:pPr marL="11430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999"/>
              <a:buFont typeface="Candara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	return A[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], A[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]  				</a:t>
            </a:r>
            <a:r>
              <a:rPr lang="en-US" sz="2000" b="0" i="0" u="none" strike="noStrike" cap="none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// base case</a:t>
            </a:r>
            <a:endParaRPr sz="2000" dirty="0">
              <a:solidFill>
                <a:schemeClr val="accent3">
                  <a:lumMod val="75000"/>
                </a:schemeClr>
              </a:solidFill>
              <a:latin typeface="Lucida Sans Typewriter" panose="020B0509030504030204" pitchFamily="49" charset="0"/>
            </a:endParaRPr>
          </a:p>
          <a:p>
            <a:pPr marL="74295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 sz="2000" b="1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else if </a:t>
            </a:r>
            <a:r>
              <a:rPr lang="en-US" sz="2000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 &lt; j:</a:t>
            </a:r>
            <a:endParaRPr sz="2000" dirty="0">
              <a:latin typeface="Lucida Sans Typewriter" panose="020B0509030504030204" pitchFamily="49" charset="0"/>
            </a:endParaRPr>
          </a:p>
          <a:p>
            <a:pPr marL="11430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	mid = 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i+j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)/2; 					</a:t>
            </a:r>
            <a:r>
              <a:rPr lang="en-US" sz="2000" b="0" i="0" u="none" strike="noStrike" cap="none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// divide</a:t>
            </a:r>
            <a:endParaRPr sz="2000" dirty="0">
              <a:solidFill>
                <a:schemeClr val="accent3">
                  <a:lumMod val="75000"/>
                </a:schemeClr>
              </a:solidFill>
              <a:latin typeface="Lucida Sans Typewriter" panose="020B0509030504030204" pitchFamily="49" charset="0"/>
            </a:endParaRPr>
          </a:p>
          <a:p>
            <a:pPr marL="11430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	mx1, min1 = </a:t>
            </a:r>
            <a:r>
              <a:rPr lang="en-US" sz="2000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Find_maxmin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(A, </a:t>
            </a:r>
            <a:r>
              <a:rPr lang="en-US" sz="2000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, mid) 		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// conquer</a:t>
            </a:r>
            <a:endParaRPr sz="2000" dirty="0">
              <a:solidFill>
                <a:schemeClr val="accent3">
                  <a:lumMod val="75000"/>
                </a:schemeClr>
              </a:solidFill>
              <a:latin typeface="Lucida Sans Typewriter" panose="020B0509030504030204" pitchFamily="49" charset="0"/>
            </a:endParaRPr>
          </a:p>
          <a:p>
            <a:pPr marL="1143000" lvl="2" indent="0">
              <a:spcBef>
                <a:spcPts val="0"/>
              </a:spcBef>
              <a:buSzPct val="65000"/>
              <a:buNone/>
            </a:pP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	mx2, min2 = </a:t>
            </a:r>
            <a:r>
              <a:rPr lang="en-US" sz="2000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Find_maxmin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(A, mid+1, j) 	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// conquer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	fmax, </a:t>
            </a:r>
            <a:r>
              <a:rPr lang="en-US" sz="2000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fmin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 = -1, -1 				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// combine</a:t>
            </a:r>
            <a:endParaRPr sz="2000" dirty="0">
              <a:latin typeface="Lucida Sans Typewriter" panose="020B0509030504030204" pitchFamily="49" charset="0"/>
            </a:endParaRPr>
          </a:p>
          <a:p>
            <a:pPr marL="11430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	</a:t>
            </a:r>
            <a:r>
              <a:rPr lang="en-US" sz="2000" b="1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 mx1 &gt; mx2: fmax = mx1</a:t>
            </a:r>
            <a:endParaRPr sz="2000" dirty="0">
              <a:latin typeface="Lucida Sans Typewriter" panose="020B0509030504030204" pitchFamily="49" charset="0"/>
            </a:endParaRPr>
          </a:p>
          <a:p>
            <a:pPr marL="11430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	</a:t>
            </a:r>
            <a:r>
              <a:rPr lang="en-US" sz="2000" b="1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else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 fmax = mx2</a:t>
            </a:r>
            <a:endParaRPr sz="2000" dirty="0">
              <a:latin typeface="Lucida Sans Typewriter" panose="020B0509030504030204" pitchFamily="49" charset="0"/>
            </a:endParaRPr>
          </a:p>
          <a:p>
            <a:pPr marL="11430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	</a:t>
            </a:r>
            <a:r>
              <a:rPr lang="en-US" sz="2000" b="1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 min1 &lt; min2: </a:t>
            </a:r>
            <a:r>
              <a:rPr lang="en-US" sz="2000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fmin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 = min1</a:t>
            </a:r>
            <a:endParaRPr sz="2000" dirty="0">
              <a:latin typeface="Lucida Sans Typewriter" panose="020B0509030504030204" pitchFamily="49" charset="0"/>
            </a:endParaRPr>
          </a:p>
          <a:p>
            <a:pPr marL="11430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	</a:t>
            </a:r>
            <a:r>
              <a:rPr lang="en-US" sz="2000" b="1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else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fmin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 = min2</a:t>
            </a:r>
            <a:endParaRPr sz="2000" dirty="0">
              <a:latin typeface="Lucida Sans Typewriter" panose="020B0509030504030204" pitchFamily="49" charset="0"/>
            </a:endParaRPr>
          </a:p>
          <a:p>
            <a:pPr marL="114300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	</a:t>
            </a:r>
            <a:r>
              <a:rPr lang="en-US" sz="2000" b="1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 fmax, </a:t>
            </a:r>
            <a:r>
              <a:rPr lang="en-US" sz="2000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ndara"/>
                <a:cs typeface="Candara"/>
                <a:sym typeface="Candara"/>
              </a:rPr>
              <a:t>fmin</a:t>
            </a:r>
            <a:endParaRPr sz="2000" dirty="0">
              <a:solidFill>
                <a:srgbClr val="000000"/>
              </a:solidFill>
              <a:latin typeface="Lucida Sans Typewriter" panose="020B0509030504030204" pitchFamily="49" charset="0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endParaRPr dirty="0">
              <a:latin typeface="Lucida Sans Typewriter" panose="020B0509030504030204" pitchFamily="49" charset="0"/>
            </a:endParaRPr>
          </a:p>
        </p:txBody>
      </p:sp>
      <p:sp>
        <p:nvSpPr>
          <p:cNvPr id="274" name="Google Shape;274;p45"/>
          <p:cNvSpPr txBox="1">
            <a:spLocks noGrp="1"/>
          </p:cNvSpPr>
          <p:nvPr>
            <p:ph type="title"/>
          </p:nvPr>
        </p:nvSpPr>
        <p:spPr>
          <a:xfrm>
            <a:off x="838200" y="940842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C0629B-9298-1C21-34F9-83E636BCBD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B1A85-2EFC-D780-4070-C4B3C92BF2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>
            <a:spLocks noGrp="1"/>
          </p:cNvSpPr>
          <p:nvPr>
            <p:ph type="body" idx="1"/>
          </p:nvPr>
        </p:nvSpPr>
        <p:spPr>
          <a:xfrm>
            <a:off x="1197864" y="2401383"/>
            <a:ext cx="9796272" cy="318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i="1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T</a:t>
            </a:r>
            <a:r>
              <a:rPr lang="en-US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(</a:t>
            </a:r>
            <a:r>
              <a:rPr lang="en-US" i="1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) =     </a:t>
            </a:r>
            <a:r>
              <a:rPr lang="en-US" i="1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b </a:t>
            </a:r>
            <a:r>
              <a:rPr lang="en-US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                   if </a:t>
            </a:r>
            <a:r>
              <a:rPr lang="en-US" i="1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 = 1</a:t>
            </a:r>
            <a:endParaRPr dirty="0">
              <a:latin typeface="Lucida Sans Typewriter" panose="020B0509030504030204" pitchFamily="49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           2</a:t>
            </a:r>
            <a:r>
              <a:rPr lang="en-US" i="1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T</a:t>
            </a:r>
            <a:r>
              <a:rPr lang="en-US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(</a:t>
            </a:r>
            <a:r>
              <a:rPr lang="en-US" i="1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/2) + </a:t>
            </a:r>
            <a:r>
              <a:rPr lang="en-US" i="1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b</a:t>
            </a:r>
            <a:r>
              <a:rPr lang="en-US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          if </a:t>
            </a:r>
            <a:r>
              <a:rPr lang="en-US" i="1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 &gt; 1</a:t>
            </a:r>
            <a:endParaRPr dirty="0">
              <a:latin typeface="Lucida Sans Typewriter" panose="020B0509030504030204" pitchFamily="49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endParaRPr dirty="0">
              <a:latin typeface="Lucida Sans Typewriter" panose="020B0509030504030204" pitchFamily="49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 dirty="0"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By solving the recurrence, we get</a:t>
            </a:r>
            <a:endParaRPr dirty="0">
              <a:latin typeface="Lucida Sans Typewriter" panose="020B0509030504030204" pitchFamily="49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 i="1" dirty="0">
                <a:solidFill>
                  <a:srgbClr val="0000FF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	T</a:t>
            </a:r>
            <a:r>
              <a:rPr lang="en-US" dirty="0">
                <a:solidFill>
                  <a:srgbClr val="0000FF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(</a:t>
            </a:r>
            <a:r>
              <a:rPr lang="en-US" i="1" dirty="0">
                <a:solidFill>
                  <a:srgbClr val="0000FF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solidFill>
                  <a:srgbClr val="0000FF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) is </a:t>
            </a:r>
            <a:r>
              <a:rPr lang="en-US" i="1" dirty="0">
                <a:solidFill>
                  <a:srgbClr val="0000FF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O</a:t>
            </a:r>
            <a:r>
              <a:rPr lang="en-US" dirty="0">
                <a:solidFill>
                  <a:srgbClr val="0000FF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( </a:t>
            </a:r>
            <a:r>
              <a:rPr lang="en-US" i="1" dirty="0">
                <a:solidFill>
                  <a:srgbClr val="0000FF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solidFill>
                  <a:srgbClr val="0000FF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 )</a:t>
            </a:r>
            <a:endParaRPr dirty="0">
              <a:solidFill>
                <a:srgbClr val="0000FF"/>
              </a:solidFill>
              <a:latin typeface="Lucida Sans Typewriter" panose="020B0509030504030204" pitchFamily="49" charset="0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 dirty="0">
              <a:latin typeface="Lucida Sans Typewriter" panose="020B0509030504030204" pitchFamily="49" charset="0"/>
            </a:endParaRPr>
          </a:p>
        </p:txBody>
      </p:sp>
      <p:sp>
        <p:nvSpPr>
          <p:cNvPr id="283" name="Google Shape;283;p46"/>
          <p:cNvSpPr txBox="1">
            <a:spLocks noGrp="1"/>
          </p:cNvSpPr>
          <p:nvPr>
            <p:ph type="title"/>
          </p:nvPr>
        </p:nvSpPr>
        <p:spPr>
          <a:xfrm>
            <a:off x="920496" y="968651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Time Complexity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F2AB32-3774-082B-AFD8-018C953D3E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7F540-71DF-343D-203E-1142DEE126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 sz="4800" dirty="0">
                <a:latin typeface="Lucida Sans Typewriter" panose="020B0509030504030204" pitchFamily="49" charset="0"/>
              </a:rPr>
              <a:t>MAXIMUM SUB ARRAY PROBLEM</a:t>
            </a:r>
            <a:endParaRPr sz="4800" dirty="0">
              <a:latin typeface="Lucida Sans Typewriter" panose="020B05090305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237CA4-5063-850D-F7F1-4A4B0781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4200B3-50F9-0239-9A3B-79EDB55D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868EEF-20B5-4FE1-983E-C657FF7C4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515600" cy="3865299"/>
          </a:xfrm>
        </p:spPr>
        <p:txBody>
          <a:bodyPr/>
          <a:lstStyle/>
          <a:p>
            <a:r>
              <a:rPr lang="en-US" dirty="0">
                <a:latin typeface="Lucida Sans Typewriter" panose="020B0509030504030204" pitchFamily="49" charset="0"/>
              </a:rPr>
              <a:t>Determine the maximum sub array from this array.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AED391-42E1-40CE-A494-F024E8CA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4" y="988917"/>
            <a:ext cx="10515600" cy="604730"/>
          </a:xfrm>
        </p:spPr>
        <p:txBody>
          <a:bodyPr/>
          <a:lstStyle/>
          <a:p>
            <a:pPr algn="l"/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MAXIMUM SUB ARRAY PROBLEM</a:t>
            </a:r>
          </a:p>
        </p:txBody>
      </p:sp>
      <p:graphicFrame>
        <p:nvGraphicFramePr>
          <p:cNvPr id="5" name="Google Shape;367;p14">
            <a:extLst>
              <a:ext uri="{FF2B5EF4-FFF2-40B4-BE49-F238E27FC236}">
                <a16:creationId xmlns:a16="http://schemas.microsoft.com/office/drawing/2014/main" id="{B97023BE-B322-40EA-A336-1F7DBC153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6443063"/>
              </p:ext>
            </p:extLst>
          </p:nvPr>
        </p:nvGraphicFramePr>
        <p:xfrm>
          <a:off x="3074800" y="2970896"/>
          <a:ext cx="6042400" cy="73154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86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2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1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2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4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5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6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FA442-F62B-FFDC-77A6-E2B5FAC886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FC3625-6598-3757-05DA-4679756E7B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688810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 txBox="1">
            <a:spLocks noGrp="1"/>
          </p:cNvSpPr>
          <p:nvPr>
            <p:ph type="body" idx="1"/>
          </p:nvPr>
        </p:nvSpPr>
        <p:spPr>
          <a:xfrm>
            <a:off x="1011936" y="1824908"/>
            <a:ext cx="10515600" cy="4475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Arial"/>
              <a:buNone/>
            </a:pPr>
            <a:r>
              <a:rPr lang="en-US" b="0" i="0" u="none" strike="noStrike" cap="none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All possible contiguous subarrays</a:t>
            </a:r>
            <a:endParaRPr dirty="0">
              <a:solidFill>
                <a:schemeClr val="accent2">
                  <a:lumMod val="75000"/>
                </a:schemeClr>
              </a:solidFill>
              <a:latin typeface="Lucida Sans Typewriter" panose="020B0509030504030204" pitchFamily="49" charset="0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A[1..1], A[1..2], A[1..3], ..., A[1..(</a:t>
            </a:r>
            <a:r>
              <a:rPr lang="en-US" sz="16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-1)], A[1..</a:t>
            </a:r>
            <a:r>
              <a:rPr lang="en-US" sz="16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]</a:t>
            </a:r>
            <a:endParaRPr sz="1600" dirty="0">
              <a:latin typeface="Lucida Sans Typewriter" panose="020B0509030504030204" pitchFamily="49" charset="0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              A[2..2], A[2..3], ..., A[2..(</a:t>
            </a:r>
            <a:r>
              <a:rPr lang="en-US" sz="16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-1)], A[2..</a:t>
            </a:r>
            <a:r>
              <a:rPr lang="en-US" sz="16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]</a:t>
            </a:r>
            <a:endParaRPr sz="1600" dirty="0">
              <a:latin typeface="Lucida Sans Typewriter" panose="020B0509030504030204" pitchFamily="49" charset="0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...</a:t>
            </a:r>
            <a:endParaRPr sz="1600" dirty="0">
              <a:latin typeface="Lucida Sans Typewriter" panose="020B0509030504030204" pitchFamily="49" charset="0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                                  A[(</a:t>
            </a:r>
            <a:r>
              <a:rPr lang="en-US" sz="16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-1)..(</a:t>
            </a:r>
            <a:r>
              <a:rPr lang="en-US" sz="16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-1)], A[(</a:t>
            </a:r>
            <a:r>
              <a:rPr lang="en-US" sz="16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-1)..</a:t>
            </a:r>
            <a:r>
              <a:rPr lang="en-US" sz="16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]</a:t>
            </a:r>
            <a:endParaRPr sz="1600" dirty="0">
              <a:latin typeface="Lucida Sans Typewriter" panose="020B0509030504030204" pitchFamily="49" charset="0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                                                         A[</a:t>
            </a:r>
            <a:r>
              <a:rPr lang="en-US" sz="1600" b="0" i="1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..</a:t>
            </a:r>
            <a:r>
              <a:rPr lang="en-US" sz="1600" b="0" i="1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]</a:t>
            </a:r>
            <a:endParaRPr sz="16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Arial"/>
              <a:buNone/>
            </a:pPr>
            <a:r>
              <a:rPr lang="en-US" b="0" i="0" u="none" strike="noStrike" cap="none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How many of them in total?</a:t>
            </a:r>
            <a:endParaRPr dirty="0">
              <a:solidFill>
                <a:schemeClr val="accent2">
                  <a:lumMod val="75000"/>
                </a:schemeClr>
              </a:solidFill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Lucida Sans Typewriter" panose="020B0509030504030204" pitchFamily="49" charset="0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Arial"/>
              <a:buNone/>
            </a:pPr>
            <a:endParaRPr lang="en-US" b="0" i="0" u="none" strike="noStrike" cap="none" dirty="0">
              <a:solidFill>
                <a:srgbClr val="0000FF"/>
              </a:solidFill>
              <a:latin typeface="Lucida Sans Typewriter" panose="020B0509030504030204" pitchFamily="49" charset="0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Arial"/>
              <a:buNone/>
            </a:pPr>
            <a:r>
              <a:rPr lang="en-US" b="0" i="0" u="none" strike="noStrike" cap="none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Algorithm: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	For each subarray, compute the sum. </a:t>
            </a:r>
            <a:endParaRPr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Arial"/>
              <a:buNone/>
            </a:pP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		Find the subarray that has the maximum sum.</a:t>
            </a:r>
            <a:endParaRPr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 dirty="0">
              <a:latin typeface="Lucida Sans Typewriter" panose="020B0509030504030204" pitchFamily="49" charset="0"/>
            </a:endParaRPr>
          </a:p>
        </p:txBody>
      </p:sp>
      <p:sp>
        <p:nvSpPr>
          <p:cNvPr id="331" name="Google Shape;331;p11"/>
          <p:cNvSpPr txBox="1">
            <a:spLocks noGrp="1"/>
          </p:cNvSpPr>
          <p:nvPr>
            <p:ph type="title"/>
          </p:nvPr>
        </p:nvSpPr>
        <p:spPr>
          <a:xfrm>
            <a:off x="1011936" y="1008124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Brute Force Approach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6096000" y="3866632"/>
            <a:ext cx="2606919" cy="1006475"/>
          </a:xfrm>
          <a:prstGeom prst="cloudCallout">
            <a:avLst>
              <a:gd name="adj1" fmla="val -82425"/>
              <a:gd name="adj2" fmla="val -1358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O(n</a:t>
            </a:r>
            <a:r>
              <a:rPr lang="en-US" sz="1800" b="1" baseline="30000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-US" sz="1800" b="1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800" b="1" dirty="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25CEE2-A7B4-970F-D25D-344EC352CD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734300-C98F-1610-BC18-218957411F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"/>
          <p:cNvSpPr txBox="1"/>
          <p:nvPr/>
        </p:nvSpPr>
        <p:spPr>
          <a:xfrm>
            <a:off x="1331976" y="1905734"/>
            <a:ext cx="6093500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lang="en-US" sz="2000" i="0" u="none" strike="noStrike" cap="none" dirty="0">
                <a:solidFill>
                  <a:srgbClr val="FF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max = -</a:t>
            </a:r>
            <a:r>
              <a:rPr lang="en-US" sz="2000" i="0" u="none" strike="noStrike" cap="none" dirty="0">
                <a:solidFill>
                  <a:srgbClr val="FF0000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∞</a:t>
            </a:r>
            <a:endParaRPr sz="20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for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i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 = 1 to n do</a:t>
            </a:r>
            <a:endParaRPr sz="20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begin</a:t>
            </a:r>
            <a:endParaRPr sz="20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	</a:t>
            </a:r>
            <a:r>
              <a:rPr lang="en-US" sz="2000" i="0" u="none" strike="noStrike" cap="none" dirty="0">
                <a:solidFill>
                  <a:srgbClr val="FF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sum = 0</a:t>
            </a:r>
            <a:endParaRPr sz="20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	for j = </a:t>
            </a:r>
            <a:r>
              <a:rPr lang="en-US" sz="2000" i="0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i</a:t>
            </a:r>
            <a:r>
              <a:rPr lang="en-US" sz="200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 to n do</a:t>
            </a:r>
            <a:endParaRPr sz="20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	begin</a:t>
            </a:r>
            <a:endParaRPr sz="20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		sum = sum + A[j]</a:t>
            </a:r>
            <a:endParaRPr sz="20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		if sum &gt; max </a:t>
            </a:r>
            <a:endParaRPr sz="20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		then max = sum</a:t>
            </a:r>
            <a:endParaRPr sz="20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	end</a:t>
            </a:r>
            <a:endParaRPr sz="20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lang="en-US" sz="200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ourier New"/>
                <a:cs typeface="Courier New"/>
                <a:sym typeface="Courier New"/>
              </a:rPr>
              <a:t>end</a:t>
            </a:r>
            <a:endParaRPr sz="2000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6742113" y="2058291"/>
            <a:ext cx="3240087" cy="1655762"/>
          </a:xfrm>
          <a:prstGeom prst="cloudCallout">
            <a:avLst>
              <a:gd name="adj1" fmla="val -65010"/>
              <a:gd name="adj2" fmla="val 8846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Time complexity?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</a:t>
            </a:r>
            <a:r>
              <a:rPr lang="en-US" sz="1800" b="1" baseline="30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331;p11">
            <a:extLst>
              <a:ext uri="{FF2B5EF4-FFF2-40B4-BE49-F238E27FC236}">
                <a16:creationId xmlns:a16="http://schemas.microsoft.com/office/drawing/2014/main" id="{AD3A3FD8-3FF3-3E02-8F2F-34D382F686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1936" y="1008124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Brute Force Approach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67326-39D0-EC7D-0B1A-A6C39574AF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9AC7B-D388-0EEF-5917-282327D4AD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"/>
          <p:cNvSpPr txBox="1">
            <a:spLocks noGrp="1"/>
          </p:cNvSpPr>
          <p:nvPr>
            <p:ph type="body" idx="1"/>
          </p:nvPr>
        </p:nvSpPr>
        <p:spPr>
          <a:xfrm>
            <a:off x="838200" y="1920240"/>
            <a:ext cx="10515600" cy="4398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endParaRPr dirty="0">
              <a:latin typeface="Lucida Sans Typewriter" panose="020B0509030504030204" pitchFamily="49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endParaRPr dirty="0">
              <a:latin typeface="Lucida Sans Typewriter" panose="020B0509030504030204" pitchFamily="49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endParaRPr dirty="0">
              <a:latin typeface="Lucida Sans Typewriter" panose="020B0509030504030204" pitchFamily="49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endParaRPr dirty="0">
              <a:latin typeface="Lucida Sans Typewriter" panose="020B0509030504030204" pitchFamily="49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endParaRPr dirty="0">
              <a:latin typeface="Lucida Sans Typewriter" panose="020B0509030504030204" pitchFamily="49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endParaRPr lang="en-US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accent2"/>
              </a:buClr>
              <a:buSzPct val="75000"/>
            </a:pPr>
            <a:endParaRPr dirty="0">
              <a:latin typeface="Lucida Sans Typewriter" panose="020B0509030504030204" pitchFamily="49" charset="0"/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dirty="0">
                <a:latin typeface="Lucida Sans Typewriter" panose="020B0509030504030204" pitchFamily="49" charset="0"/>
              </a:rPr>
              <a:t>This is the </a:t>
            </a:r>
            <a:r>
              <a:rPr lang="en-US" b="1" dirty="0">
                <a:latin typeface="Lucida Sans Typewriter" panose="020B0509030504030204" pitchFamily="49" charset="0"/>
              </a:rPr>
              <a:t>prediction</a:t>
            </a:r>
            <a:r>
              <a:rPr lang="en-US" dirty="0">
                <a:latin typeface="Lucida Sans Typewriter" panose="020B0509030504030204" pitchFamily="49" charset="0"/>
              </a:rPr>
              <a:t> of prices of share of a company.</a:t>
            </a:r>
            <a:endParaRPr dirty="0">
              <a:latin typeface="Lucida Sans Typewriter" panose="020B0509030504030204" pitchFamily="49" charset="0"/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dirty="0">
                <a:latin typeface="Lucida Sans Typewriter" panose="020B0509030504030204" pitchFamily="49" charset="0"/>
              </a:rPr>
              <a:t>You want to buy the share on the day when the price is the lowest</a:t>
            </a:r>
            <a:endParaRPr dirty="0">
              <a:latin typeface="Lucida Sans Typewriter" panose="020B0509030504030204" pitchFamily="49" charset="0"/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dirty="0">
                <a:latin typeface="Lucida Sans Typewriter" panose="020B0509030504030204" pitchFamily="49" charset="0"/>
              </a:rPr>
              <a:t>You want to sell the share on the day when the price is the highest</a:t>
            </a:r>
            <a:endParaRPr dirty="0">
              <a:latin typeface="Lucida Sans Typewriter" panose="020B0509030504030204" pitchFamily="49" charset="0"/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Char char="•"/>
            </a:pPr>
            <a:r>
              <a:rPr lang="en-US" dirty="0">
                <a:latin typeface="Lucida Sans Typewriter" panose="020B0509030504030204" pitchFamily="49" charset="0"/>
              </a:rPr>
              <a:t>Identify these two days</a:t>
            </a:r>
            <a:endParaRPr dirty="0">
              <a:latin typeface="Lucida Sans Typewriter" panose="020B0509030504030204" pitchFamily="49" charset="0"/>
            </a:endParaRPr>
          </a:p>
        </p:txBody>
      </p:sp>
      <p:sp>
        <p:nvSpPr>
          <p:cNvPr id="310" name="Google Shape;310;p9"/>
          <p:cNvSpPr txBox="1">
            <a:spLocks noGrp="1"/>
          </p:cNvSpPr>
          <p:nvPr>
            <p:ph type="title"/>
          </p:nvPr>
        </p:nvSpPr>
        <p:spPr>
          <a:xfrm>
            <a:off x="993648" y="431510"/>
            <a:ext cx="10515600" cy="1186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The Maximum Sub Array Problem-practical example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pic>
        <p:nvPicPr>
          <p:cNvPr id="311" name="Google Shape;31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64052" y="1920240"/>
            <a:ext cx="5263896" cy="209234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C2635F-0E4E-17A0-F686-F9F0CE2FC7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72C5D-0DD8-A31B-B778-B066F79183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6443" y="1975827"/>
            <a:ext cx="7739114" cy="313151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0"/>
          <p:cNvSpPr/>
          <p:nvPr/>
        </p:nvSpPr>
        <p:spPr>
          <a:xfrm rot="5400000">
            <a:off x="7032133" y="4664562"/>
            <a:ext cx="343206" cy="1228768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5056124" y="5450549"/>
            <a:ext cx="552399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Buy on the 7</a:t>
            </a:r>
            <a:r>
              <a:rPr lang="en-US" sz="1600" baseline="300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th</a:t>
            </a:r>
            <a:r>
              <a:rPr lang="en-US" sz="16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 day and sell on the 11</a:t>
            </a:r>
            <a:r>
              <a:rPr lang="en-US" sz="1600" baseline="300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th</a:t>
            </a:r>
            <a:r>
              <a:rPr lang="en-US" sz="16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 day.</a:t>
            </a:r>
            <a:endParaRPr sz="16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Total profit= 106-63=43</a:t>
            </a:r>
            <a:endParaRPr sz="1600"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Also Total profit = 18+20-7+12=43</a:t>
            </a:r>
            <a:endParaRPr sz="1600" dirty="0">
              <a:latin typeface="Lucida Sans Typewriter" panose="020B0509030504030204" pitchFamily="49" charset="0"/>
            </a:endParaRPr>
          </a:p>
        </p:txBody>
      </p:sp>
      <p:sp>
        <p:nvSpPr>
          <p:cNvPr id="4" name="Google Shape;310;p9">
            <a:extLst>
              <a:ext uri="{FF2B5EF4-FFF2-40B4-BE49-F238E27FC236}">
                <a16:creationId xmlns:a16="http://schemas.microsoft.com/office/drawing/2014/main" id="{9FC0BA98-6D4B-F51B-D0F8-2D5A9ABA64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3648" y="431510"/>
            <a:ext cx="10515600" cy="1186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The Maximum Sub Array Problem-practical example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5FCE2-D505-58C0-2788-2CEEBB515F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5D387-4E78-3F14-ED69-9DB3772377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"/>
          <p:cNvSpPr txBox="1">
            <a:spLocks noGrp="1"/>
          </p:cNvSpPr>
          <p:nvPr>
            <p:ph type="body" idx="1"/>
          </p:nvPr>
        </p:nvSpPr>
        <p:spPr>
          <a:xfrm>
            <a:off x="1126455" y="2061583"/>
            <a:ext cx="10515600" cy="257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Possible locations of a maximum subarray 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[</a:t>
            </a:r>
            <a:r>
              <a:rPr lang="en-US" sz="1800" b="0" i="1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..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j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] of 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[</a:t>
            </a:r>
            <a:r>
              <a:rPr lang="en-US" sz="1800" b="0" i="1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low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..</a:t>
            </a:r>
            <a:r>
              <a:rPr lang="en-US" sz="1800" b="0" i="1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high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], where 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mid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 = ⎣(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low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+ 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high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)/2⎦</a:t>
            </a:r>
            <a:endParaRPr sz="1800" b="0" i="0" u="none" strike="noStrike" cap="none" dirty="0">
              <a:solidFill>
                <a:srgbClr val="000000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entirely in 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A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[</a:t>
            </a:r>
            <a:r>
              <a:rPr lang="en-US" b="0" i="1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low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..</a:t>
            </a:r>
            <a:r>
              <a:rPr lang="en-US" b="0" i="1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mid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] 		(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low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 ≤ </a:t>
            </a:r>
            <a:r>
              <a:rPr lang="en-US" b="0" i="1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i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≤ 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j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≤ 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mid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)</a:t>
            </a:r>
            <a:endParaRPr b="0" i="0" u="none" strike="noStrike" cap="none" dirty="0">
              <a:solidFill>
                <a:srgbClr val="000000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entirely in 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A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[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mid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+1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..high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] 		(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mid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 &lt; </a:t>
            </a:r>
            <a:r>
              <a:rPr lang="en-US" b="0" i="1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i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≤ 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j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≤ 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high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)</a:t>
            </a:r>
            <a:endParaRPr b="0" i="0" u="none" strike="noStrike" cap="none" dirty="0">
              <a:solidFill>
                <a:srgbClr val="000000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crossing the midpoint 		(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low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 ≤ </a:t>
            </a:r>
            <a:r>
              <a:rPr lang="en-US" b="0" i="1" u="none" strike="noStrike" cap="none" dirty="0" err="1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i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≤ 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mid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 &lt; 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j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≤ </a:t>
            </a:r>
            <a:r>
              <a:rPr lang="en-US" b="0" i="1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high</a:t>
            </a:r>
            <a:r>
              <a:rPr lang="en-US" b="0" i="0" u="none" strike="noStrike" cap="none" dirty="0">
                <a:solidFill>
                  <a:srgbClr val="00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)</a:t>
            </a:r>
            <a:endParaRPr b="0" i="0" u="none" strike="noStrike" cap="none" dirty="0">
              <a:solidFill>
                <a:srgbClr val="000000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Wingdings" panose="05000000000000000000" pitchFamily="2" charset="2"/>
              <a:buChar char="§"/>
            </a:pPr>
            <a:endParaRPr sz="1800" dirty="0">
              <a:latin typeface="Lucida Sans Typewriter" panose="020B0509030504030204" pitchFamily="49" charset="0"/>
            </a:endParaRPr>
          </a:p>
        </p:txBody>
      </p:sp>
      <p:sp>
        <p:nvSpPr>
          <p:cNvPr id="351" name="Google Shape;351;p13"/>
          <p:cNvSpPr txBox="1">
            <a:spLocks noGrp="1"/>
          </p:cNvSpPr>
          <p:nvPr>
            <p:ph type="title"/>
          </p:nvPr>
        </p:nvSpPr>
        <p:spPr>
          <a:xfrm>
            <a:off x="984504" y="460882"/>
            <a:ext cx="10515600" cy="131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The Divide and Conquer Approach for Max Sub Array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graphicFrame>
        <p:nvGraphicFramePr>
          <p:cNvPr id="352" name="Google Shape;352;p13"/>
          <p:cNvGraphicFramePr/>
          <p:nvPr/>
        </p:nvGraphicFramePr>
        <p:xfrm>
          <a:off x="3072606" y="4679043"/>
          <a:ext cx="6096000" cy="371475"/>
        </p:xfrm>
        <a:graphic>
          <a:graphicData uri="http://schemas.openxmlformats.org/drawingml/2006/table">
            <a:tbl>
              <a:tblPr>
                <a:noFill/>
                <a:tableStyleId>{868FC11F-FE77-4ACE-B6F6-A7261129B311}</a:tableStyleId>
              </a:tblPr>
              <a:tblGrid>
                <a:gridCol w="43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6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6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65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3" name="Google Shape;353;p13"/>
          <p:cNvCxnSpPr/>
          <p:nvPr/>
        </p:nvCxnSpPr>
        <p:spPr>
          <a:xfrm rot="5400000">
            <a:off x="5917406" y="4858431"/>
            <a:ext cx="358775" cy="0"/>
          </a:xfrm>
          <a:prstGeom prst="straightConnector1">
            <a:avLst/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4" name="Google Shape;354;p13"/>
          <p:cNvSpPr txBox="1"/>
          <p:nvPr/>
        </p:nvSpPr>
        <p:spPr>
          <a:xfrm>
            <a:off x="2999581" y="4390118"/>
            <a:ext cx="6284913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lang="en-US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                                              mid                                                     high</a:t>
            </a:r>
            <a:endParaRPr sz="1600" b="0" i="1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13"/>
          <p:cNvSpPr txBox="1"/>
          <p:nvPr/>
        </p:nvSpPr>
        <p:spPr>
          <a:xfrm>
            <a:off x="5952207" y="4965785"/>
            <a:ext cx="1081087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lang="en-US" sz="16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13"/>
          <p:cNvSpPr txBox="1"/>
          <p:nvPr/>
        </p:nvSpPr>
        <p:spPr>
          <a:xfrm>
            <a:off x="3359919" y="5471206"/>
            <a:ext cx="227488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entirely in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16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lang="en-US" sz="16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13"/>
          <p:cNvSpPr txBox="1"/>
          <p:nvPr/>
        </p:nvSpPr>
        <p:spPr>
          <a:xfrm>
            <a:off x="6384255" y="5541056"/>
            <a:ext cx="262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entirely in </a:t>
            </a:r>
            <a:r>
              <a:rPr lang="en-US" sz="16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16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mid+1</a:t>
            </a: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lang="en-US" sz="16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13"/>
          <p:cNvSpPr txBox="1"/>
          <p:nvPr/>
        </p:nvSpPr>
        <p:spPr>
          <a:xfrm>
            <a:off x="4990306" y="3916295"/>
            <a:ext cx="230346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6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crossing the midpoint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13"/>
          <p:cNvSpPr/>
          <p:nvPr/>
        </p:nvSpPr>
        <p:spPr>
          <a:xfrm rot="5400000">
            <a:off x="5844703" y="2958194"/>
            <a:ext cx="287337" cy="2808287"/>
          </a:xfrm>
          <a:prstGeom prst="leftBrace">
            <a:avLst>
              <a:gd name="adj1" fmla="val 8333"/>
              <a:gd name="adj2" fmla="val 4951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 rot="-5400000">
            <a:off x="4440560" y="4028962"/>
            <a:ext cx="287337" cy="2447925"/>
          </a:xfrm>
          <a:prstGeom prst="leftBrace">
            <a:avLst>
              <a:gd name="adj1" fmla="val 8333"/>
              <a:gd name="adj2" fmla="val 4951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 rot="-5400000">
            <a:off x="7524303" y="4041661"/>
            <a:ext cx="288926" cy="2713037"/>
          </a:xfrm>
          <a:prstGeom prst="leftBrace">
            <a:avLst>
              <a:gd name="adj1" fmla="val 8333"/>
              <a:gd name="adj2" fmla="val 4951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3215481" y="5974443"/>
            <a:ext cx="60960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Possible locations of subarrays of A[</a:t>
            </a:r>
            <a:r>
              <a:rPr lang="en-US" sz="1600" b="0" i="0" u="none" strike="noStrike" cap="none" dirty="0" err="1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low..high</a:t>
            </a:r>
            <a:r>
              <a:rPr lang="en-US" sz="1600" b="0" i="0" u="none" strike="noStrike" cap="none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]</a:t>
            </a:r>
            <a:endParaRPr sz="1600" b="0" i="0" u="none" strike="noStrike" cap="none" dirty="0">
              <a:solidFill>
                <a:srgbClr val="FF0000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39E7C2-6275-FA86-CD14-48715247EE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B486B-B547-24FB-F1C3-AC6E47FCA6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p14"/>
          <p:cNvGraphicFramePr/>
          <p:nvPr>
            <p:extLst>
              <p:ext uri="{D42A27DB-BD31-4B8C-83A1-F6EECF244321}">
                <p14:modId xmlns:p14="http://schemas.microsoft.com/office/powerpoint/2010/main" val="2280187728"/>
              </p:ext>
            </p:extLst>
          </p:nvPr>
        </p:nvGraphicFramePr>
        <p:xfrm>
          <a:off x="3358271" y="1842309"/>
          <a:ext cx="6042400" cy="60962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86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2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2" name="Google Shape;372;p14"/>
          <p:cNvSpPr/>
          <p:nvPr/>
        </p:nvSpPr>
        <p:spPr>
          <a:xfrm>
            <a:off x="5432122" y="2603771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(A,0,6)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2969581" y="3386467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(A,0,3)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8095617" y="3386467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(A,4,6)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1183033" y="4487728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(A,0,1)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279812" y="4487728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(A,2,3)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7440501" y="4433259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(A,4,5)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10462455" y="4504727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(A,6,6)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466548" y="5519959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(A,0,0)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1944346" y="5519959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(A,1,1)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3422144" y="5519959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(A,2,2)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4899942" y="5519959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(A,3,3)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6785385" y="5480051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(A,4,4)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8263183" y="5492725"/>
            <a:ext cx="13102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msa</a:t>
            </a:r>
            <a:r>
              <a:rPr lang="en-US" sz="1200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(A,5,5)</a:t>
            </a:r>
            <a:endParaRPr sz="1200" b="0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14"/>
          <p:cNvCxnSpPr>
            <a:stCxn id="372" idx="2"/>
            <a:endCxn id="373" idx="0"/>
          </p:cNvCxnSpPr>
          <p:nvPr/>
        </p:nvCxnSpPr>
        <p:spPr>
          <a:xfrm flipH="1">
            <a:off x="3624697" y="2880730"/>
            <a:ext cx="2462541" cy="50573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6" name="Google Shape;386;p14"/>
          <p:cNvCxnSpPr>
            <a:stCxn id="372" idx="2"/>
            <a:endCxn id="374" idx="0"/>
          </p:cNvCxnSpPr>
          <p:nvPr/>
        </p:nvCxnSpPr>
        <p:spPr>
          <a:xfrm>
            <a:off x="6087238" y="2880730"/>
            <a:ext cx="2663495" cy="50573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7" name="Google Shape;387;p14"/>
          <p:cNvCxnSpPr>
            <a:stCxn id="373" idx="2"/>
            <a:endCxn id="375" idx="0"/>
          </p:cNvCxnSpPr>
          <p:nvPr/>
        </p:nvCxnSpPr>
        <p:spPr>
          <a:xfrm flipH="1">
            <a:off x="1838149" y="3663426"/>
            <a:ext cx="1786548" cy="82430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8" name="Google Shape;388;p14"/>
          <p:cNvCxnSpPr>
            <a:stCxn id="373" idx="2"/>
            <a:endCxn id="376" idx="0"/>
          </p:cNvCxnSpPr>
          <p:nvPr/>
        </p:nvCxnSpPr>
        <p:spPr>
          <a:xfrm>
            <a:off x="3624697" y="3663426"/>
            <a:ext cx="1310231" cy="82430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9" name="Google Shape;389;p14"/>
          <p:cNvCxnSpPr>
            <a:stCxn id="374" idx="2"/>
            <a:endCxn id="377" idx="0"/>
          </p:cNvCxnSpPr>
          <p:nvPr/>
        </p:nvCxnSpPr>
        <p:spPr>
          <a:xfrm flipH="1">
            <a:off x="8095617" y="3663426"/>
            <a:ext cx="655116" cy="76983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90" name="Google Shape;390;p14"/>
          <p:cNvCxnSpPr>
            <a:stCxn id="374" idx="2"/>
            <a:endCxn id="378" idx="0"/>
          </p:cNvCxnSpPr>
          <p:nvPr/>
        </p:nvCxnSpPr>
        <p:spPr>
          <a:xfrm>
            <a:off x="8750733" y="3663426"/>
            <a:ext cx="2366838" cy="84130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91" name="Google Shape;391;p14"/>
          <p:cNvCxnSpPr/>
          <p:nvPr/>
        </p:nvCxnSpPr>
        <p:spPr>
          <a:xfrm flipH="1">
            <a:off x="1150442" y="4908722"/>
            <a:ext cx="716485" cy="632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92" name="Google Shape;392;p14"/>
          <p:cNvCxnSpPr>
            <a:stCxn id="375" idx="2"/>
            <a:endCxn id="380" idx="0"/>
          </p:cNvCxnSpPr>
          <p:nvPr/>
        </p:nvCxnSpPr>
        <p:spPr>
          <a:xfrm>
            <a:off x="1838149" y="4764687"/>
            <a:ext cx="761313" cy="75527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93" name="Google Shape;393;p14"/>
          <p:cNvCxnSpPr>
            <a:stCxn id="376" idx="2"/>
            <a:endCxn id="381" idx="0"/>
          </p:cNvCxnSpPr>
          <p:nvPr/>
        </p:nvCxnSpPr>
        <p:spPr>
          <a:xfrm flipH="1">
            <a:off x="4077260" y="4764687"/>
            <a:ext cx="857668" cy="75527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94" name="Google Shape;394;p14"/>
          <p:cNvCxnSpPr>
            <a:stCxn id="376" idx="2"/>
            <a:endCxn id="382" idx="0"/>
          </p:cNvCxnSpPr>
          <p:nvPr/>
        </p:nvCxnSpPr>
        <p:spPr>
          <a:xfrm>
            <a:off x="4934928" y="4764687"/>
            <a:ext cx="620130" cy="75527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95" name="Google Shape;395;p14"/>
          <p:cNvCxnSpPr>
            <a:stCxn id="377" idx="2"/>
            <a:endCxn id="383" idx="0"/>
          </p:cNvCxnSpPr>
          <p:nvPr/>
        </p:nvCxnSpPr>
        <p:spPr>
          <a:xfrm flipH="1">
            <a:off x="7440501" y="4710218"/>
            <a:ext cx="655116" cy="76983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96" name="Google Shape;396;p14"/>
          <p:cNvCxnSpPr>
            <a:stCxn id="377" idx="2"/>
            <a:endCxn id="384" idx="0"/>
          </p:cNvCxnSpPr>
          <p:nvPr/>
        </p:nvCxnSpPr>
        <p:spPr>
          <a:xfrm>
            <a:off x="8095617" y="4710218"/>
            <a:ext cx="822682" cy="78250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97" name="Google Shape;397;p14"/>
          <p:cNvSpPr txBox="1"/>
          <p:nvPr/>
        </p:nvSpPr>
        <p:spPr>
          <a:xfrm>
            <a:off x="310166" y="5323448"/>
            <a:ext cx="9220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-16(0,0)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398" name="Google Shape;398;p14"/>
          <p:cNvSpPr txBox="1"/>
          <p:nvPr/>
        </p:nvSpPr>
        <p:spPr>
          <a:xfrm>
            <a:off x="2536253" y="5273765"/>
            <a:ext cx="9220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-23(1,1)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2047016" y="4788387"/>
            <a:ext cx="9220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-39(0,1)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00" name="Google Shape;400;p14"/>
          <p:cNvSpPr txBox="1"/>
          <p:nvPr/>
        </p:nvSpPr>
        <p:spPr>
          <a:xfrm>
            <a:off x="3538070" y="5191400"/>
            <a:ext cx="8515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18(2,2)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5366838" y="5184773"/>
            <a:ext cx="8515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20(3,3)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02" name="Google Shape;402;p14"/>
          <p:cNvSpPr txBox="1"/>
          <p:nvPr/>
        </p:nvSpPr>
        <p:spPr>
          <a:xfrm>
            <a:off x="4559730" y="4093923"/>
            <a:ext cx="8515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38(2,3)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03" name="Google Shape;403;p14"/>
          <p:cNvSpPr txBox="1"/>
          <p:nvPr/>
        </p:nvSpPr>
        <p:spPr>
          <a:xfrm>
            <a:off x="4509428" y="5007419"/>
            <a:ext cx="8515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38(2,3)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04" name="Google Shape;404;p14"/>
          <p:cNvSpPr txBox="1"/>
          <p:nvPr/>
        </p:nvSpPr>
        <p:spPr>
          <a:xfrm>
            <a:off x="1245131" y="4179965"/>
            <a:ext cx="9220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-16(0,0)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05" name="Google Shape;405;p14"/>
          <p:cNvSpPr txBox="1"/>
          <p:nvPr/>
        </p:nvSpPr>
        <p:spPr>
          <a:xfrm>
            <a:off x="3085444" y="3822187"/>
            <a:ext cx="8515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15(1,3)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06" name="Google Shape;406;p14"/>
          <p:cNvSpPr txBox="1"/>
          <p:nvPr/>
        </p:nvSpPr>
        <p:spPr>
          <a:xfrm>
            <a:off x="3538069" y="2963108"/>
            <a:ext cx="8515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38(2,3)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07" name="Google Shape;407;p14"/>
          <p:cNvSpPr txBox="1"/>
          <p:nvPr/>
        </p:nvSpPr>
        <p:spPr>
          <a:xfrm>
            <a:off x="8324974" y="2931888"/>
            <a:ext cx="8515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12(5,5)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08" name="Google Shape;408;p14"/>
          <p:cNvSpPr txBox="1"/>
          <p:nvPr/>
        </p:nvSpPr>
        <p:spPr>
          <a:xfrm>
            <a:off x="7272934" y="4135395"/>
            <a:ext cx="8515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12(5,5)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09" name="Google Shape;409;p14"/>
          <p:cNvSpPr txBox="1"/>
          <p:nvPr/>
        </p:nvSpPr>
        <p:spPr>
          <a:xfrm>
            <a:off x="8805023" y="5145899"/>
            <a:ext cx="8515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12(5,5)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10" name="Google Shape;410;p14"/>
          <p:cNvSpPr txBox="1"/>
          <p:nvPr/>
        </p:nvSpPr>
        <p:spPr>
          <a:xfrm>
            <a:off x="6677069" y="5153686"/>
            <a:ext cx="8515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-7(4,4)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11" name="Google Shape;411;p14"/>
          <p:cNvSpPr txBox="1"/>
          <p:nvPr/>
        </p:nvSpPr>
        <p:spPr>
          <a:xfrm>
            <a:off x="8533997" y="3796456"/>
            <a:ext cx="8515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7(5,6)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12" name="Google Shape;412;p14"/>
          <p:cNvSpPr txBox="1"/>
          <p:nvPr/>
        </p:nvSpPr>
        <p:spPr>
          <a:xfrm>
            <a:off x="10700608" y="4082356"/>
            <a:ext cx="81168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5(6,6)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13" name="Google Shape;413;p14"/>
          <p:cNvSpPr txBox="1"/>
          <p:nvPr/>
        </p:nvSpPr>
        <p:spPr>
          <a:xfrm>
            <a:off x="5563280" y="2918984"/>
            <a:ext cx="8515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43(2,5)</a:t>
            </a:r>
            <a:endParaRPr sz="1200" dirty="0">
              <a:latin typeface="Lucida Sans Typewriter" panose="020B0509030504030204" pitchFamily="49" charset="0"/>
            </a:endParaRPr>
          </a:p>
        </p:txBody>
      </p:sp>
      <p:sp>
        <p:nvSpPr>
          <p:cNvPr id="4" name="Google Shape;351;p13">
            <a:extLst>
              <a:ext uri="{FF2B5EF4-FFF2-40B4-BE49-F238E27FC236}">
                <a16:creationId xmlns:a16="http://schemas.microsoft.com/office/drawing/2014/main" id="{AD4C58D3-3F50-A4BA-C285-76E607430C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4504" y="460882"/>
            <a:ext cx="10515600" cy="131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The Divide and Conquer Approach for Max Sub Array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9D9AB-2086-3765-D259-EE78C0A7F0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BFDF4-CE8D-F1CD-F117-A4F2697F12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"/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pic>
        <p:nvPicPr>
          <p:cNvPr id="432" name="Google Shape;43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1947672"/>
            <a:ext cx="6577584" cy="43342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56F38C-C9AF-2F54-62B5-0239DDDABA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FB12C1-48FE-976C-5E46-F0FA28B038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3" name="Google Shape;453;p18"/>
          <p:cNvGraphicFramePr/>
          <p:nvPr>
            <p:extLst>
              <p:ext uri="{D42A27DB-BD31-4B8C-83A1-F6EECF244321}">
                <p14:modId xmlns:p14="http://schemas.microsoft.com/office/powerpoint/2010/main" val="2494927517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5BB07CB4-2D68-0A8D-027C-3B93ADC28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55B89-38E3-53C6-53D5-494C9516C5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7B6049-98D0-C518-86CF-0D877167D6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52;p18">
            <a:extLst>
              <a:ext uri="{FF2B5EF4-FFF2-40B4-BE49-F238E27FC236}">
                <a16:creationId xmlns:a16="http://schemas.microsoft.com/office/drawing/2014/main" id="{964927A5-E3EC-5F46-D838-972A2B1484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4" name="Google Shape;464;p19"/>
          <p:cNvGraphicFramePr/>
          <p:nvPr>
            <p:extLst>
              <p:ext uri="{D42A27DB-BD31-4B8C-83A1-F6EECF244321}">
                <p14:modId xmlns:p14="http://schemas.microsoft.com/office/powerpoint/2010/main" val="1277065029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5" name="Google Shape;465;p19"/>
          <p:cNvSpPr/>
          <p:nvPr/>
        </p:nvSpPr>
        <p:spPr>
          <a:xfrm>
            <a:off x="6314241" y="1738503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=-inf</a:t>
            </a:r>
            <a:endParaRPr dirty="0"/>
          </a:p>
        </p:txBody>
      </p:sp>
      <p:sp>
        <p:nvSpPr>
          <p:cNvPr id="466" name="Google Shape;466;p19"/>
          <p:cNvSpPr/>
          <p:nvPr/>
        </p:nvSpPr>
        <p:spPr>
          <a:xfrm>
            <a:off x="3424901" y="2299882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27E9A-ECDC-0A38-428E-0A2506195C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A5B28-095A-7525-0129-53940B233C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  <p:sp>
        <p:nvSpPr>
          <p:cNvPr id="7" name="Google Shape;431;p16">
            <a:extLst>
              <a:ext uri="{FF2B5EF4-FFF2-40B4-BE49-F238E27FC236}">
                <a16:creationId xmlns:a16="http://schemas.microsoft.com/office/drawing/2014/main" id="{63ADC32E-9171-203B-CEC4-E66A2CB0C1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0BF33F48-CA12-E502-AC62-9F57B95B28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7" name="Google Shape;477;p20"/>
          <p:cNvGraphicFramePr/>
          <p:nvPr>
            <p:extLst>
              <p:ext uri="{D42A27DB-BD31-4B8C-83A1-F6EECF244321}">
                <p14:modId xmlns:p14="http://schemas.microsoft.com/office/powerpoint/2010/main" val="2218647249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8" name="Google Shape;478;p20"/>
          <p:cNvSpPr/>
          <p:nvPr/>
        </p:nvSpPr>
        <p:spPr>
          <a:xfrm>
            <a:off x="6314241" y="1738503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leftSum=-inf</a:t>
            </a:r>
            <a:endParaRPr/>
          </a:p>
        </p:txBody>
      </p:sp>
      <p:sp>
        <p:nvSpPr>
          <p:cNvPr id="479" name="Google Shape;479;p20"/>
          <p:cNvSpPr/>
          <p:nvPr/>
        </p:nvSpPr>
        <p:spPr>
          <a:xfrm>
            <a:off x="7915021" y="1733052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=0</a:t>
            </a:r>
            <a:endParaRPr/>
          </a:p>
        </p:txBody>
      </p:sp>
      <p:sp>
        <p:nvSpPr>
          <p:cNvPr id="480" name="Google Shape;480;p20"/>
          <p:cNvSpPr/>
          <p:nvPr/>
        </p:nvSpPr>
        <p:spPr>
          <a:xfrm>
            <a:off x="2767685" y="2450711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54291DED-E739-3E4F-05D8-EA2D02C5A0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D120E-4FF5-63CF-2760-D7F9CE1A95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5E2654-7DBB-86C5-0FE5-8A502D1EF2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560356B6-9306-C84A-C70B-A4CCD819C0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1" name="Google Shape;491;p21"/>
          <p:cNvGraphicFramePr/>
          <p:nvPr>
            <p:extLst>
              <p:ext uri="{D42A27DB-BD31-4B8C-83A1-F6EECF244321}">
                <p14:modId xmlns:p14="http://schemas.microsoft.com/office/powerpoint/2010/main" val="749036897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2" name="Google Shape;492;p21"/>
          <p:cNvSpPr/>
          <p:nvPr/>
        </p:nvSpPr>
        <p:spPr>
          <a:xfrm>
            <a:off x="6314241" y="1738503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leftSum=-inf</a:t>
            </a:r>
            <a:endParaRPr/>
          </a:p>
        </p:txBody>
      </p:sp>
      <p:sp>
        <p:nvSpPr>
          <p:cNvPr id="493" name="Google Shape;493;p21"/>
          <p:cNvSpPr/>
          <p:nvPr/>
        </p:nvSpPr>
        <p:spPr>
          <a:xfrm>
            <a:off x="7915021" y="1738503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=0</a:t>
            </a:r>
            <a:endParaRPr dirty="0"/>
          </a:p>
        </p:txBody>
      </p:sp>
      <p:sp>
        <p:nvSpPr>
          <p:cNvPr id="494" name="Google Shape;494;p21"/>
          <p:cNvSpPr/>
          <p:nvPr/>
        </p:nvSpPr>
        <p:spPr>
          <a:xfrm>
            <a:off x="4047744" y="2704132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0A63E2E3-62D3-3DF2-8472-B6311D4931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4FEE3-9E0A-33FF-D866-5628494AA3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47CB79-2DF3-2EB1-C9F8-2CCE2FAC7D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52;p18">
            <a:extLst>
              <a:ext uri="{FF2B5EF4-FFF2-40B4-BE49-F238E27FC236}">
                <a16:creationId xmlns:a16="http://schemas.microsoft.com/office/drawing/2014/main" id="{70EFAC01-8311-671A-0310-B7B6249EFD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5" name="Google Shape;505;p22"/>
          <p:cNvGraphicFramePr/>
          <p:nvPr>
            <p:extLst>
              <p:ext uri="{D42A27DB-BD31-4B8C-83A1-F6EECF244321}">
                <p14:modId xmlns:p14="http://schemas.microsoft.com/office/powerpoint/2010/main" val="1207860686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6" name="Google Shape;506;p22"/>
          <p:cNvSpPr/>
          <p:nvPr/>
        </p:nvSpPr>
        <p:spPr>
          <a:xfrm>
            <a:off x="6314241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=-inf</a:t>
            </a:r>
            <a:endParaRPr dirty="0"/>
          </a:p>
        </p:txBody>
      </p:sp>
      <p:sp>
        <p:nvSpPr>
          <p:cNvPr id="507" name="Google Shape;507;p22"/>
          <p:cNvSpPr/>
          <p:nvPr/>
        </p:nvSpPr>
        <p:spPr>
          <a:xfrm>
            <a:off x="7915021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=0</a:t>
            </a:r>
            <a:endParaRPr dirty="0"/>
          </a:p>
        </p:txBody>
      </p:sp>
      <p:sp>
        <p:nvSpPr>
          <p:cNvPr id="508" name="Google Shape;508;p22"/>
          <p:cNvSpPr/>
          <p:nvPr/>
        </p:nvSpPr>
        <p:spPr>
          <a:xfrm>
            <a:off x="4056888" y="2704132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8447635" y="3130033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31;p16">
            <a:extLst>
              <a:ext uri="{FF2B5EF4-FFF2-40B4-BE49-F238E27FC236}">
                <a16:creationId xmlns:a16="http://schemas.microsoft.com/office/drawing/2014/main" id="{D4C995DB-E200-017E-59CE-D7230BF1AB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91FD0-5187-0DA7-EC61-562CE57E2D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18E35C-5C4F-BD0B-ABBD-84A50288A4A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C3CA27C8-7281-A5C6-F393-4CFC263762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0" name="Google Shape;520;p23"/>
          <p:cNvGraphicFramePr/>
          <p:nvPr>
            <p:extLst>
              <p:ext uri="{D42A27DB-BD31-4B8C-83A1-F6EECF244321}">
                <p14:modId xmlns:p14="http://schemas.microsoft.com/office/powerpoint/2010/main" val="1418240680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1" name="Google Shape;521;p23"/>
          <p:cNvSpPr/>
          <p:nvPr/>
        </p:nvSpPr>
        <p:spPr>
          <a:xfrm>
            <a:off x="6314241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leftSum=-inf</a:t>
            </a:r>
            <a:endParaRPr/>
          </a:p>
        </p:txBody>
      </p:sp>
      <p:sp>
        <p:nvSpPr>
          <p:cNvPr id="522" name="Google Shape;522;p23"/>
          <p:cNvSpPr/>
          <p:nvPr/>
        </p:nvSpPr>
        <p:spPr>
          <a:xfrm>
            <a:off x="7915021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=20</a:t>
            </a:r>
            <a:endParaRPr dirty="0"/>
          </a:p>
        </p:txBody>
      </p:sp>
      <p:sp>
        <p:nvSpPr>
          <p:cNvPr id="523" name="Google Shape;523;p23"/>
          <p:cNvSpPr/>
          <p:nvPr/>
        </p:nvSpPr>
        <p:spPr>
          <a:xfrm>
            <a:off x="3992880" y="3005790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8447635" y="3130033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1DB40CA8-AB18-1A63-949A-9700EFCDFF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527D-BCCD-953E-65E1-2EA78F7475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1F9CA5-1477-0E21-E3DC-B950AE0EDC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9FA0AF34-D20F-1596-6874-911EC69A28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5" name="Google Shape;535;p24"/>
          <p:cNvGraphicFramePr/>
          <p:nvPr>
            <p:extLst>
              <p:ext uri="{D42A27DB-BD31-4B8C-83A1-F6EECF244321}">
                <p14:modId xmlns:p14="http://schemas.microsoft.com/office/powerpoint/2010/main" val="1658839495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6" name="Google Shape;536;p24"/>
          <p:cNvSpPr/>
          <p:nvPr/>
        </p:nvSpPr>
        <p:spPr>
          <a:xfrm>
            <a:off x="6323057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leftSum=-inf</a:t>
            </a:r>
            <a:endParaRPr/>
          </a:p>
        </p:txBody>
      </p:sp>
      <p:sp>
        <p:nvSpPr>
          <p:cNvPr id="537" name="Google Shape;537;p24"/>
          <p:cNvSpPr/>
          <p:nvPr/>
        </p:nvSpPr>
        <p:spPr>
          <a:xfrm>
            <a:off x="793265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=20</a:t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3887960" y="3255296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4"/>
          <p:cNvSpPr/>
          <p:nvPr/>
        </p:nvSpPr>
        <p:spPr>
          <a:xfrm>
            <a:off x="8431288" y="3138075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DB359354-0774-B277-F2A4-052F25E25C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C2274-B848-597A-DBC0-030329FABE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989289B-535A-4F7B-955D-8D8979A656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A325E617-F09C-47CA-BD61-78A94F1D56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0" name="Google Shape;550;p25"/>
          <p:cNvGraphicFramePr/>
          <p:nvPr>
            <p:extLst>
              <p:ext uri="{D42A27DB-BD31-4B8C-83A1-F6EECF244321}">
                <p14:modId xmlns:p14="http://schemas.microsoft.com/office/powerpoint/2010/main" val="3927739582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51" name="Google Shape;551;p25"/>
          <p:cNvSpPr/>
          <p:nvPr/>
        </p:nvSpPr>
        <p:spPr>
          <a:xfrm>
            <a:off x="6314241" y="174099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leftSum=20</a:t>
            </a:r>
            <a:endParaRPr/>
          </a:p>
        </p:txBody>
      </p:sp>
      <p:sp>
        <p:nvSpPr>
          <p:cNvPr id="552" name="Google Shape;552;p25"/>
          <p:cNvSpPr/>
          <p:nvPr/>
        </p:nvSpPr>
        <p:spPr>
          <a:xfrm>
            <a:off x="7915021" y="174099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=20</a:t>
            </a:r>
            <a:endParaRPr/>
          </a:p>
        </p:txBody>
      </p:sp>
      <p:sp>
        <p:nvSpPr>
          <p:cNvPr id="553" name="Google Shape;553;p25"/>
          <p:cNvSpPr/>
          <p:nvPr/>
        </p:nvSpPr>
        <p:spPr>
          <a:xfrm>
            <a:off x="4156194" y="3492979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8447635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D09A4A10-D624-E9A5-7878-F8B6C1041A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8B3F7-8BC5-CFF9-2AE9-963324CE19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1CA1A3-8110-3760-3B08-0BDC61556D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98FD5899-5FB1-C140-2FBA-7ABD6EA50A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/>
          <p:cNvGraphicFramePr/>
          <p:nvPr>
            <p:extLst>
              <p:ext uri="{D42A27DB-BD31-4B8C-83A1-F6EECF244321}">
                <p14:modId xmlns:p14="http://schemas.microsoft.com/office/powerpoint/2010/main" val="3374636098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/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leftSum=20</a:t>
            </a:r>
            <a:endParaRPr/>
          </a:p>
        </p:txBody>
      </p:sp>
      <p:sp>
        <p:nvSpPr>
          <p:cNvPr id="567" name="Google Shape;567;p26"/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=20</a:t>
            </a:r>
            <a:endParaRPr/>
          </a:p>
        </p:txBody>
      </p:sp>
      <p:sp>
        <p:nvSpPr>
          <p:cNvPr id="568" name="Google Shape;568;p26"/>
          <p:cNvSpPr/>
          <p:nvPr/>
        </p:nvSpPr>
        <p:spPr>
          <a:xfrm>
            <a:off x="3899408" y="3731652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8431287" y="3130033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maxLeft=4</a:t>
            </a:r>
            <a:endParaRPr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9CD98FEE-C747-B81D-4133-A256F84BE0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0EF8C-BA60-3AED-5C43-FC2342C5CA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259C1A-964E-8B1E-AE23-98711AE60E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26D7CF9C-B781-D096-FC09-F8279F9CB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C973328E-703A-1480-10F2-6736407572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E25F32A7-30FB-DE00-2460-315A69639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7593421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BA36DBAE-B983-396C-1EFE-CFC00E946817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leftSum=20</a:t>
            </a:r>
            <a:endParaRPr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2A4C586A-6928-EBDB-FE44-5C7286E99FA6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=20</a:t>
            </a:r>
            <a:endParaRPr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BC054D47-E98E-4D8E-2992-C194594A62E7}"/>
              </a:ext>
            </a:extLst>
          </p:cNvPr>
          <p:cNvSpPr/>
          <p:nvPr/>
        </p:nvSpPr>
        <p:spPr>
          <a:xfrm>
            <a:off x="4164584" y="2712262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20461ECB-7F64-B661-5C39-0B3B32B0EED8}"/>
              </a:ext>
            </a:extLst>
          </p:cNvPr>
          <p:cNvSpPr/>
          <p:nvPr/>
        </p:nvSpPr>
        <p:spPr>
          <a:xfrm>
            <a:off x="7691283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8E3C15B2-BC89-9DB3-8CD4-F8890F8750BB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maxLeft=4</a:t>
            </a:r>
            <a:endParaRPr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7ED95B4A-3D19-8F86-3CF2-D820C390F1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B98964-910A-0342-7865-CB9252BE40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75913F-703A-FCF3-FC17-6EC91871DB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1012975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A7A74E0C-A27C-F4C4-512E-EE9BCF9A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57E53F61-2D7D-B0F1-8911-15AF91846A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0A297477-D447-3E42-CA37-C75A9F499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532806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BA53C3A8-699E-033D-8E41-744A1DD7E96E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leftSum=20</a:t>
            </a:r>
            <a:endParaRPr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BB7070B9-38FA-05BB-00BB-ACC0E06083C8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DF157CB2-E0CA-7AAF-E4A6-7F6626F23332}"/>
              </a:ext>
            </a:extLst>
          </p:cNvPr>
          <p:cNvSpPr/>
          <p:nvPr/>
        </p:nvSpPr>
        <p:spPr>
          <a:xfrm>
            <a:off x="4091432" y="2982890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92A3496E-B43A-D61B-6921-D549E6BF5AA1}"/>
              </a:ext>
            </a:extLst>
          </p:cNvPr>
          <p:cNvSpPr/>
          <p:nvPr/>
        </p:nvSpPr>
        <p:spPr>
          <a:xfrm>
            <a:off x="7691283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D110F24B-D1B0-CB99-ED95-046FD0B1318D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maxLeft=4</a:t>
            </a:r>
            <a:endParaRPr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69108B00-9CB1-B020-0019-F73DEDDEE4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FD2F4A-3639-E204-7DA1-69B53B202B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4F624-C2AF-0B17-385E-36150602D41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1520311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AA20B1E9-B7F5-2CDD-ED22-425F9358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B633EBCA-A6C9-9F44-D6CB-BD98414515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184A2673-AA03-D1FF-DBA6-236B915EDF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8518225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A2C04714-8452-A803-6594-D8715BB60296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leftSum=20</a:t>
            </a:r>
            <a:endParaRPr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AA301989-A084-5C1E-86BF-8CCB7DE7C81D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381E8542-7C85-03EB-E588-D5D562351215}"/>
              </a:ext>
            </a:extLst>
          </p:cNvPr>
          <p:cNvSpPr/>
          <p:nvPr/>
        </p:nvSpPr>
        <p:spPr>
          <a:xfrm>
            <a:off x="3954272" y="3278170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1FEB7589-CC87-4881-A1E2-CE6318C402F5}"/>
              </a:ext>
            </a:extLst>
          </p:cNvPr>
          <p:cNvSpPr/>
          <p:nvPr/>
        </p:nvSpPr>
        <p:spPr>
          <a:xfrm>
            <a:off x="7691283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A3A61DE9-D0CF-BE60-BFE9-CF5E279A8C43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maxLeft=4</a:t>
            </a:r>
            <a:endParaRPr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1F90791A-DC50-29F3-4C15-8CCFB195A8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57D4D8-CD03-8688-F85C-E7A6F43044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95F87-F961-018B-EE3E-4C6CBD2B92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3993859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D8A297CA-4583-B22B-8DAF-E7FD61371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51836A68-CFE3-40AC-E448-762A8479E6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010834DE-CBD1-6904-F506-E1064D1F9A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2161985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6A587395-73C8-998C-3CBC-B14929B9AFFE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B358E170-A2B1-6350-1F26-AA968840C30C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5D1888B7-726B-2E10-114B-8974F17E2CCC}"/>
              </a:ext>
            </a:extLst>
          </p:cNvPr>
          <p:cNvSpPr/>
          <p:nvPr/>
        </p:nvSpPr>
        <p:spPr>
          <a:xfrm>
            <a:off x="4082288" y="3506770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0E9A0DA0-74BA-0C67-230F-5D56CF934425}"/>
              </a:ext>
            </a:extLst>
          </p:cNvPr>
          <p:cNvSpPr/>
          <p:nvPr/>
        </p:nvSpPr>
        <p:spPr>
          <a:xfrm>
            <a:off x="7691283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437419C3-3A52-61B0-6D30-9DB34CA61501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maxLeft=4</a:t>
            </a:r>
            <a:endParaRPr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1413A158-6FC7-79C3-4834-7BB435A97D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8DAA21-8C09-05F7-FF3D-B4CD152854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D2AE9-22FE-387B-4923-0A732F59C2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3753351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197CFFAE-0EF1-4DD5-1B92-958AA1B2F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DA66DC81-18F1-FE39-30D9-EAD4BE583A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7A338224-DC10-1038-3EC2-782CB8E59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0334686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F9E8F09A-E84F-C079-AB51-A533C3EE61AA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41174063-6693-D4EA-B1DF-A17FD5176079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CFFD9975-1573-FB64-112C-EFCC47E4FE6F}"/>
              </a:ext>
            </a:extLst>
          </p:cNvPr>
          <p:cNvSpPr/>
          <p:nvPr/>
        </p:nvSpPr>
        <p:spPr>
          <a:xfrm>
            <a:off x="3954272" y="3724280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F3A8D80B-BCDB-F915-44A9-825CBAC6475A}"/>
              </a:ext>
            </a:extLst>
          </p:cNvPr>
          <p:cNvSpPr/>
          <p:nvPr/>
        </p:nvSpPr>
        <p:spPr>
          <a:xfrm>
            <a:off x="7691283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8D107F96-0AEC-2BD6-BA82-14AD7D058CA5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=3</a:t>
            </a:r>
            <a:endParaRPr dirty="0"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B4530AD5-2CC1-7FDA-DD59-044A9EEAA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29B8C8-44B8-A272-24FB-CCFCACBA5C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43A07-FBB3-D4E0-0A8A-75E6DCC720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129625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60887339-8964-7E0B-5E1C-37805DA8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47149596-4629-22DD-A955-B6DA175D6C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75362C68-5FBA-A850-51BF-7465A9B35B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0873567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1A28E691-21B5-E992-46E4-742680C49441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3520A9BC-61E3-2281-C3B6-CD95236F82B6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D18A1BF3-5F91-F0AE-C391-3D1BEAA0BE2F}"/>
              </a:ext>
            </a:extLst>
          </p:cNvPr>
          <p:cNvSpPr/>
          <p:nvPr/>
        </p:nvSpPr>
        <p:spPr>
          <a:xfrm>
            <a:off x="4100576" y="2704132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43198102-B943-526F-1C9A-502A77A28A36}"/>
              </a:ext>
            </a:extLst>
          </p:cNvPr>
          <p:cNvSpPr/>
          <p:nvPr/>
        </p:nvSpPr>
        <p:spPr>
          <a:xfrm>
            <a:off x="7046071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560106AD-A381-FA63-E289-BEE962269649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=3</a:t>
            </a:r>
            <a:endParaRPr dirty="0"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803E3A32-8FA1-94BB-68C9-884A607650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E36008-70FF-B5F7-7015-38B510753F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F65DA5-9A54-9A6E-C1D8-B0D1C18533D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32180824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FED2500F-4D4A-4C32-E94F-85502EB99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F51DFFFB-F1B7-19C7-A9DB-2967B42151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376EBC31-A3B9-1EE0-36FB-0CE29D5441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589649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A3A5258D-867F-583C-1CD7-340E4D602932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612EC9A4-F938-9466-459A-F6CD2C45424C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=15</a:t>
            </a:r>
            <a:endParaRPr dirty="0"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2D266A77-29CF-DF89-A920-E9105A40542A}"/>
              </a:ext>
            </a:extLst>
          </p:cNvPr>
          <p:cNvSpPr/>
          <p:nvPr/>
        </p:nvSpPr>
        <p:spPr>
          <a:xfrm>
            <a:off x="4064000" y="2982890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3B102116-C220-2BA1-59CF-910D11642988}"/>
              </a:ext>
            </a:extLst>
          </p:cNvPr>
          <p:cNvSpPr/>
          <p:nvPr/>
        </p:nvSpPr>
        <p:spPr>
          <a:xfrm>
            <a:off x="7046071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F0C633B6-DD75-6832-D414-225386531C06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=3</a:t>
            </a:r>
            <a:endParaRPr dirty="0"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1B4B906C-C47C-D39D-828A-E9B6DFB9F2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2FB071-2F1B-D0DC-97C8-A84CFEAD2F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5FC49-77B2-2261-4A77-3748A90F89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21121276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B4E9CF45-34D6-2560-E35E-5A378837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76F44045-9CD1-4C50-4304-F64D03D898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33C900BD-B844-9460-4AC7-13FAC72116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8159788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ECE1CCE7-655D-DA20-6EB8-5F07A755BDDB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104B09F3-99C3-40D9-90D1-40FD0AA9751D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=15</a:t>
            </a:r>
            <a:endParaRPr dirty="0"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B98B8395-C5CB-D13C-2903-6579551A4F8E}"/>
              </a:ext>
            </a:extLst>
          </p:cNvPr>
          <p:cNvSpPr/>
          <p:nvPr/>
        </p:nvSpPr>
        <p:spPr>
          <a:xfrm>
            <a:off x="3990848" y="3278170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F66E1A79-8B22-25DD-918A-FE2C3983E618}"/>
              </a:ext>
            </a:extLst>
          </p:cNvPr>
          <p:cNvSpPr/>
          <p:nvPr/>
        </p:nvSpPr>
        <p:spPr>
          <a:xfrm>
            <a:off x="7046071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D4C8E75F-8A53-A9B7-C136-4B011D7327C0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=3</a:t>
            </a:r>
            <a:endParaRPr dirty="0"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C9A88334-9ABF-1D55-0F44-EF8EA0D673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71E684-71C8-BEFA-D44B-AF8B355C8A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1A6F4-E7EE-5D01-34EA-101449682B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3142004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8BACDC2B-B669-7045-25AF-667F46487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6F2578D3-907C-2084-2AEE-5A3E30D55D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B07DA560-8D67-0A56-5BE9-BB7BB7EB8F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3886803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8D1AF724-50D4-9825-39BA-A0084FC4F4C9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702E5E6F-AA74-7CD7-81F6-C95C35D99367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=15</a:t>
            </a:r>
            <a:endParaRPr dirty="0"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F81C0819-E4B8-014D-F152-2FF627852084}"/>
              </a:ext>
            </a:extLst>
          </p:cNvPr>
          <p:cNvSpPr/>
          <p:nvPr/>
        </p:nvSpPr>
        <p:spPr>
          <a:xfrm>
            <a:off x="4064000" y="2740708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C86367A3-4D3F-865F-2CA8-3E8BE97BF04C}"/>
              </a:ext>
            </a:extLst>
          </p:cNvPr>
          <p:cNvSpPr/>
          <p:nvPr/>
        </p:nvSpPr>
        <p:spPr>
          <a:xfrm>
            <a:off x="6423903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79AAB5A1-A813-7757-FAA5-B7EF168A73C1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=3</a:t>
            </a:r>
            <a:endParaRPr dirty="0"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9D3B4DD3-4673-DEB0-85E9-383DD3251E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D2B88E-6B62-4AC4-4D44-D0421E1C72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34A0D-772D-2BC0-93AB-8907C8DDAA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31934389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71470D59-004F-A41E-C8C6-C7179AD38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32EE0B57-1088-AB8E-8C3E-A858C919B2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D645C749-373D-223E-D99E-DB5A76939E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6520714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BA0F722D-34DC-C67D-448D-6CB9F84A7235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B6B0A31E-423E-2845-31E2-C4D2808B6BEC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dirty="0"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307929DE-B920-F188-2B4C-F9E8AFA36428}"/>
              </a:ext>
            </a:extLst>
          </p:cNvPr>
          <p:cNvSpPr/>
          <p:nvPr/>
        </p:nvSpPr>
        <p:spPr>
          <a:xfrm>
            <a:off x="4045712" y="3005790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97EFE7ED-027F-9F76-C755-3FCDA12FD784}"/>
              </a:ext>
            </a:extLst>
          </p:cNvPr>
          <p:cNvSpPr/>
          <p:nvPr/>
        </p:nvSpPr>
        <p:spPr>
          <a:xfrm>
            <a:off x="6423903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59536790-3654-B959-1355-4B5DB0335B6A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=3</a:t>
            </a:r>
            <a:endParaRPr dirty="0"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61BC43A7-6FD0-4429-8B94-F1E9EDBD56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4988AF-BD1B-1CE8-088C-2E58CD6F15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1BC29-85C8-0754-6718-53F7FCC46F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27862821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61D2159C-BD82-FE3E-56D8-48FAC1E4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7B31952D-5F43-5B99-7CD7-0F0AF76E3A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60C9E0EF-6A42-E8D1-6D14-589FAD8952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0632866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1FD9539A-1B86-B769-7113-8ACBA1F2EA5A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D1EE0A8D-C3A8-6B05-7284-AC61243E9212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dirty="0"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ABB17C7E-57FF-ACDC-1141-85CC7A08D24F}"/>
              </a:ext>
            </a:extLst>
          </p:cNvPr>
          <p:cNvSpPr/>
          <p:nvPr/>
        </p:nvSpPr>
        <p:spPr>
          <a:xfrm>
            <a:off x="3935984" y="3278170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9E6F2E6B-CFAB-0F3D-C3A6-CDE2A4F896EA}"/>
              </a:ext>
            </a:extLst>
          </p:cNvPr>
          <p:cNvSpPr/>
          <p:nvPr/>
        </p:nvSpPr>
        <p:spPr>
          <a:xfrm>
            <a:off x="6423903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B2C4310D-6DA2-4167-CDB4-6F94C5D51046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=3</a:t>
            </a:r>
            <a:endParaRPr dirty="0"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95646D37-A1F6-46A1-E181-3A0A6A2989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E509B6-C6CD-71F5-8E3B-F615522F5A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33087-E172-7222-B032-C41AA3ADD1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578003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95A54C80-10DA-48F6-1B43-FC8E2998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D829B643-8E21-E9F6-4B6D-9CB18C3AA7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2625EF15-C848-BFD3-D201-8595996DD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3785652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4B9FC727-904C-B491-FE00-16D6775447C4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590AFBF5-A907-CCEE-4CAC-97A5E420E82E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dirty="0"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8BC0F465-346E-C032-F634-63963388FD11}"/>
              </a:ext>
            </a:extLst>
          </p:cNvPr>
          <p:cNvSpPr/>
          <p:nvPr/>
        </p:nvSpPr>
        <p:spPr>
          <a:xfrm>
            <a:off x="4082288" y="2704132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CEECA984-6CD7-9650-7A0E-EE25A0F2D12F}"/>
              </a:ext>
            </a:extLst>
          </p:cNvPr>
          <p:cNvSpPr/>
          <p:nvPr/>
        </p:nvSpPr>
        <p:spPr>
          <a:xfrm>
            <a:off x="5891288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E3A54EF3-0914-BEF4-CB42-89835C512D56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=3</a:t>
            </a:r>
            <a:endParaRPr dirty="0"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F54C69DA-F767-862A-75C9-AE4D5DCA2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0A1587-B780-0567-BDF5-0804BC1252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C9967-8CED-F79F-80E2-6A87C04305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28802885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13A33B7D-D4FF-CD57-FA14-01FC17B86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52;p18">
            <a:extLst>
              <a:ext uri="{FF2B5EF4-FFF2-40B4-BE49-F238E27FC236}">
                <a16:creationId xmlns:a16="http://schemas.microsoft.com/office/drawing/2014/main" id="{1484D47C-0EF7-9219-5B44-900F42EAAC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744" y="1947672"/>
            <a:ext cx="4812726" cy="41712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>
            <a:extLst>
              <a:ext uri="{FF2B5EF4-FFF2-40B4-BE49-F238E27FC236}">
                <a16:creationId xmlns:a16="http://schemas.microsoft.com/office/drawing/2014/main" id="{AB4CA4B9-FE10-84C3-3CCE-69FC2E04C7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1976822"/>
              </p:ext>
            </p:extLst>
          </p:nvPr>
        </p:nvGraphicFramePr>
        <p:xfrm>
          <a:off x="6314241" y="2197290"/>
          <a:ext cx="4648875" cy="8085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6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-16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-23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18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20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-7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12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Lucida Sans Typewriter" panose="020B0509030504030204" pitchFamily="49" charset="0"/>
                        </a:rPr>
                        <a:t>-5</a:t>
                      </a:r>
                      <a:endParaRPr sz="140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0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1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2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3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4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5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Lucida Sans Typewriter" panose="020B0509030504030204" pitchFamily="49" charset="0"/>
                        </a:rPr>
                        <a:t>6</a:t>
                      </a:r>
                      <a:endParaRPr sz="1400" dirty="0">
                        <a:latin typeface="Lucida Sans Typewriter" panose="020B05090305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6" name="Google Shape;566;p26">
            <a:extLst>
              <a:ext uri="{FF2B5EF4-FFF2-40B4-BE49-F238E27FC236}">
                <a16:creationId xmlns:a16="http://schemas.microsoft.com/office/drawing/2014/main" id="{E0042708-F18F-C21A-F4FD-7F6BF20A9F6A}"/>
              </a:ext>
            </a:extLst>
          </p:cNvPr>
          <p:cNvSpPr/>
          <p:nvPr/>
        </p:nvSpPr>
        <p:spPr>
          <a:xfrm>
            <a:off x="6306067" y="1732237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dirty="0"/>
          </a:p>
        </p:txBody>
      </p:sp>
      <p:sp>
        <p:nvSpPr>
          <p:cNvPr id="567" name="Google Shape;567;p26">
            <a:extLst>
              <a:ext uri="{FF2B5EF4-FFF2-40B4-BE49-F238E27FC236}">
                <a16:creationId xmlns:a16="http://schemas.microsoft.com/office/drawing/2014/main" id="{76E9BF3A-6427-E93D-E655-A0DBCAF87D13}"/>
              </a:ext>
            </a:extLst>
          </p:cNvPr>
          <p:cNvSpPr/>
          <p:nvPr/>
        </p:nvSpPr>
        <p:spPr>
          <a:xfrm>
            <a:off x="7898673" y="1732236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dirty="0"/>
          </a:p>
        </p:txBody>
      </p:sp>
      <p:sp>
        <p:nvSpPr>
          <p:cNvPr id="568" name="Google Shape;568;p26">
            <a:extLst>
              <a:ext uri="{FF2B5EF4-FFF2-40B4-BE49-F238E27FC236}">
                <a16:creationId xmlns:a16="http://schemas.microsoft.com/office/drawing/2014/main" id="{87796766-CD36-3FA9-36AE-5A99E1F1BA2B}"/>
              </a:ext>
            </a:extLst>
          </p:cNvPr>
          <p:cNvSpPr/>
          <p:nvPr/>
        </p:nvSpPr>
        <p:spPr>
          <a:xfrm>
            <a:off x="4082288" y="2704132"/>
            <a:ext cx="593888" cy="30165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>
            <a:extLst>
              <a:ext uri="{FF2B5EF4-FFF2-40B4-BE49-F238E27FC236}">
                <a16:creationId xmlns:a16="http://schemas.microsoft.com/office/drawing/2014/main" id="{D7E2C965-AC7D-908E-CE90-45C373943C28}"/>
              </a:ext>
            </a:extLst>
          </p:cNvPr>
          <p:cNvSpPr/>
          <p:nvPr/>
        </p:nvSpPr>
        <p:spPr>
          <a:xfrm>
            <a:off x="5891288" y="3133719"/>
            <a:ext cx="414779" cy="590561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>
            <a:extLst>
              <a:ext uri="{FF2B5EF4-FFF2-40B4-BE49-F238E27FC236}">
                <a16:creationId xmlns:a16="http://schemas.microsoft.com/office/drawing/2014/main" id="{F7457225-E0D8-A851-E49C-7190FD7066A5}"/>
              </a:ext>
            </a:extLst>
          </p:cNvPr>
          <p:cNvSpPr/>
          <p:nvPr/>
        </p:nvSpPr>
        <p:spPr>
          <a:xfrm>
            <a:off x="9491279" y="1732235"/>
            <a:ext cx="1480009" cy="41833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</a:t>
            </a: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=3</a:t>
            </a:r>
            <a:endParaRPr dirty="0"/>
          </a:p>
        </p:txBody>
      </p:sp>
      <p:sp>
        <p:nvSpPr>
          <p:cNvPr id="5" name="Google Shape;431;p16">
            <a:extLst>
              <a:ext uri="{FF2B5EF4-FFF2-40B4-BE49-F238E27FC236}">
                <a16:creationId xmlns:a16="http://schemas.microsoft.com/office/drawing/2014/main" id="{1EBF3F3D-7C30-9C62-347D-9072FEBF80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3376" y="98015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Pseudocode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" name="Google Shape;763;p38">
            <a:extLst>
              <a:ext uri="{FF2B5EF4-FFF2-40B4-BE49-F238E27FC236}">
                <a16:creationId xmlns:a16="http://schemas.microsoft.com/office/drawing/2014/main" id="{FD8965C1-9BF1-0228-8957-A105365844A4}"/>
              </a:ext>
            </a:extLst>
          </p:cNvPr>
          <p:cNvSpPr/>
          <p:nvPr/>
        </p:nvSpPr>
        <p:spPr>
          <a:xfrm>
            <a:off x="5101747" y="4707425"/>
            <a:ext cx="707386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cap="none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Similarly th</a:t>
            </a:r>
            <a:r>
              <a:rPr lang="en-US" sz="2000" dirty="0">
                <a:solidFill>
                  <a:srgbClr val="FF0000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e right sum is determined</a:t>
            </a:r>
            <a:endParaRPr sz="2000" b="0" cap="none" dirty="0">
              <a:solidFill>
                <a:srgbClr val="FF0000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1C520-AEE9-E66B-4064-BD81B1DBBF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F8BDE-4BD7-4A56-5613-7EDEA5D56B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5828396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9"/>
          <p:cNvSpPr txBox="1">
            <a:spLocks noGrp="1"/>
          </p:cNvSpPr>
          <p:nvPr>
            <p:ph type="body" idx="1"/>
          </p:nvPr>
        </p:nvSpPr>
        <p:spPr>
          <a:xfrm>
            <a:off x="1103376" y="2119258"/>
            <a:ext cx="10515600" cy="390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FIND-MAX-CROSSING-SUBARRAY : Θ(</a:t>
            </a:r>
            <a:r>
              <a:rPr lang="en-US" b="0" i="1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n</a:t>
            </a: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), </a:t>
            </a:r>
            <a:endParaRPr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FIND-MAXIMUM-SUBARRAY </a:t>
            </a:r>
            <a:endParaRPr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dirty="0"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dirty="0"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	</a:t>
            </a:r>
            <a:r>
              <a:rPr lang="en-US" b="0" i="1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T</a:t>
            </a: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</a:t>
            </a:r>
            <a:r>
              <a:rPr lang="en-US" b="0" i="1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n</a:t>
            </a: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) = 2</a:t>
            </a:r>
            <a:r>
              <a:rPr lang="en-US" b="0" i="1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T</a:t>
            </a: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(</a:t>
            </a:r>
            <a:r>
              <a:rPr lang="en-US" b="0" i="1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n</a:t>
            </a: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/2) + Θ(</a:t>
            </a:r>
            <a:r>
              <a:rPr lang="en-US" b="0" i="1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n</a:t>
            </a: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)	</a:t>
            </a:r>
            <a:endParaRPr b="0" i="0" u="none" strike="noStrike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            =  Θ(</a:t>
            </a:r>
            <a:r>
              <a:rPr lang="en-US" b="0" i="1" u="none" strike="noStrike" cap="none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n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l</a:t>
            </a:r>
            <a:r>
              <a:rPr lang="en-US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o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g</a:t>
            </a:r>
            <a:r>
              <a:rPr lang="en-US" b="0" i="1" u="none" strike="noStrike" cap="none" dirty="0" err="1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n</a:t>
            </a: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) 	(</a:t>
            </a:r>
            <a:r>
              <a:rPr lang="en-US" b="0" i="0" u="none" strike="noStrike" cap="none" dirty="0">
                <a:solidFill>
                  <a:srgbClr val="0000CC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similar to merge-sort</a:t>
            </a: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  <a:ea typeface="Calibri"/>
                <a:cs typeface="Calibri"/>
                <a:sym typeface="Calibri"/>
              </a:rPr>
              <a:t>)</a:t>
            </a:r>
            <a:endParaRPr b="0" i="0" u="none" strike="noStrike" cap="none" dirty="0">
              <a:solidFill>
                <a:schemeClr val="dk1"/>
              </a:solidFill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 dirty="0">
              <a:latin typeface="Lucida Sans Typewriter" panose="020B0509030504030204" pitchFamily="49" charset="0"/>
            </a:endParaRPr>
          </a:p>
        </p:txBody>
      </p:sp>
      <p:sp>
        <p:nvSpPr>
          <p:cNvPr id="772" name="Google Shape;772;p39"/>
          <p:cNvSpPr txBox="1">
            <a:spLocks noGrp="1"/>
          </p:cNvSpPr>
          <p:nvPr>
            <p:ph type="title"/>
          </p:nvPr>
        </p:nvSpPr>
        <p:spPr>
          <a:xfrm>
            <a:off x="1021080" y="103900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Time Complexity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pic>
        <p:nvPicPr>
          <p:cNvPr id="773" name="Google Shape;773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1993" y="3302772"/>
            <a:ext cx="4437200" cy="7698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9700F-BA06-EB2A-222F-CADD1C44C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70FA3D-F12F-6A40-F49E-D1A5F90DE2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1"/>
          <p:cNvSpPr txBox="1">
            <a:spLocks noGrp="1"/>
          </p:cNvSpPr>
          <p:nvPr>
            <p:ph type="title"/>
          </p:nvPr>
        </p:nvSpPr>
        <p:spPr>
          <a:xfrm>
            <a:off x="952949" y="1039975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Time Complexity (Recursive Tree)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791" name="Google Shape;791;p41" descr="Rectangle: Click to edit Master text styles&#10;Second level&#10;Third level&#10;Fourth level&#10;Fifth level"/>
          <p:cNvSpPr/>
          <p:nvPr/>
        </p:nvSpPr>
        <p:spPr>
          <a:xfrm>
            <a:off x="899160" y="1783174"/>
            <a:ext cx="10393680" cy="900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-US" sz="1600" dirty="0">
                <a:solidFill>
                  <a:schemeClr val="dk1"/>
                </a:solidFill>
                <a:latin typeface="Lucida Sans Typewriter" panose="020B0509030504030204" pitchFamily="49" charset="0"/>
                <a:ea typeface="Tahoma"/>
                <a:cs typeface="Tahoma"/>
                <a:sym typeface="Tahoma"/>
              </a:rPr>
              <a:t>Draw the </a:t>
            </a:r>
            <a:r>
              <a:rPr lang="en-US" sz="1600" b="1" dirty="0">
                <a:solidFill>
                  <a:schemeClr val="dk1"/>
                </a:solidFill>
                <a:latin typeface="Lucida Sans Typewriter" panose="020B0509030504030204" pitchFamily="49" charset="0"/>
                <a:ea typeface="Tahoma"/>
                <a:cs typeface="Tahoma"/>
                <a:sym typeface="Tahoma"/>
              </a:rPr>
              <a:t>recursion tree </a:t>
            </a:r>
            <a:r>
              <a:rPr lang="en-US" sz="1600" dirty="0">
                <a:solidFill>
                  <a:schemeClr val="dk1"/>
                </a:solidFill>
                <a:latin typeface="Lucida Sans Typewriter" panose="020B0509030504030204" pitchFamily="49" charset="0"/>
                <a:ea typeface="Tahoma"/>
                <a:cs typeface="Tahoma"/>
                <a:sym typeface="Tahoma"/>
              </a:rPr>
              <a:t>for the recurrence relation and look for a pattern: </a:t>
            </a:r>
            <a:endParaRPr sz="1600" dirty="0">
              <a:latin typeface="Lucida Sans Typewriter" panose="020B0509030504030204" pitchFamily="49" charset="0"/>
            </a:endParaRPr>
          </a:p>
        </p:txBody>
      </p:sp>
      <p:pic>
        <p:nvPicPr>
          <p:cNvPr id="792" name="Google Shape;79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9689" y="2153972"/>
            <a:ext cx="3140075" cy="720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3" name="Google Shape;793;p41"/>
          <p:cNvGrpSpPr/>
          <p:nvPr/>
        </p:nvGrpSpPr>
        <p:grpSpPr>
          <a:xfrm>
            <a:off x="4047744" y="3749103"/>
            <a:ext cx="4191000" cy="1785938"/>
            <a:chOff x="384" y="1632"/>
            <a:chExt cx="5184" cy="2208"/>
          </a:xfrm>
        </p:grpSpPr>
        <p:cxnSp>
          <p:nvCxnSpPr>
            <p:cNvPr id="794" name="Google Shape;794;p41"/>
            <p:cNvCxnSpPr>
              <a:stCxn id="795" idx="0"/>
              <a:endCxn id="796" idx="2"/>
            </p:cNvCxnSpPr>
            <p:nvPr/>
          </p:nvCxnSpPr>
          <p:spPr>
            <a:xfrm rot="10800000" flipH="1">
              <a:off x="905" y="2625"/>
              <a:ext cx="6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7" name="Google Shape;797;p41"/>
            <p:cNvCxnSpPr>
              <a:stCxn id="798" idx="0"/>
              <a:endCxn id="796" idx="2"/>
            </p:cNvCxnSpPr>
            <p:nvPr/>
          </p:nvCxnSpPr>
          <p:spPr>
            <a:xfrm rot="10800000">
              <a:off x="1650" y="2625"/>
              <a:ext cx="6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9" name="Google Shape;799;p41"/>
            <p:cNvCxnSpPr>
              <a:stCxn id="800" idx="0"/>
              <a:endCxn id="795" idx="2"/>
            </p:cNvCxnSpPr>
            <p:nvPr/>
          </p:nvCxnSpPr>
          <p:spPr>
            <a:xfrm rot="10800000" flipH="1">
              <a:off x="611" y="3271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1" name="Google Shape;801;p41"/>
            <p:cNvCxnSpPr>
              <a:stCxn id="802" idx="0"/>
              <a:endCxn id="798" idx="2"/>
            </p:cNvCxnSpPr>
            <p:nvPr/>
          </p:nvCxnSpPr>
          <p:spPr>
            <a:xfrm rot="10800000" flipH="1">
              <a:off x="1948" y="3271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3" name="Google Shape;803;p41"/>
            <p:cNvCxnSpPr>
              <a:stCxn id="795" idx="2"/>
              <a:endCxn id="804" idx="0"/>
            </p:cNvCxnSpPr>
            <p:nvPr/>
          </p:nvCxnSpPr>
          <p:spPr>
            <a:xfrm>
              <a:off x="905" y="3194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5" name="Google Shape;805;p41"/>
            <p:cNvCxnSpPr>
              <a:stCxn id="798" idx="2"/>
              <a:endCxn id="806" idx="0"/>
            </p:cNvCxnSpPr>
            <p:nvPr/>
          </p:nvCxnSpPr>
          <p:spPr>
            <a:xfrm>
              <a:off x="2250" y="3194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96" name="Google Shape;796;p41"/>
            <p:cNvSpPr/>
            <p:nvPr/>
          </p:nvSpPr>
          <p:spPr>
            <a:xfrm>
              <a:off x="771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accent1"/>
                </a:solidFill>
                <a:latin typeface="Lucida Sans Typewriter" panose="020B0509030504030204" pitchFamily="49" charset="0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07" name="Google Shape;807;p41"/>
            <p:cNvSpPr/>
            <p:nvPr/>
          </p:nvSpPr>
          <p:spPr>
            <a:xfrm>
              <a:off x="3555" y="2279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accent1"/>
                </a:solidFill>
                <a:latin typeface="Lucida Sans Typewriter" panose="020B0509030504030204" pitchFamily="49" charset="0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08" name="Google Shape;808;p41"/>
            <p:cNvGrpSpPr/>
            <p:nvPr/>
          </p:nvGrpSpPr>
          <p:grpSpPr>
            <a:xfrm>
              <a:off x="468" y="2925"/>
              <a:ext cx="5037" cy="269"/>
              <a:chOff x="468" y="3168"/>
              <a:chExt cx="5037" cy="269"/>
            </a:xfrm>
          </p:grpSpPr>
          <p:sp>
            <p:nvSpPr>
              <p:cNvPr id="795" name="Google Shape;795;p41"/>
              <p:cNvSpPr/>
              <p:nvPr/>
            </p:nvSpPr>
            <p:spPr>
              <a:xfrm>
                <a:off x="468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accent1"/>
                  </a:solidFill>
                  <a:latin typeface="Lucida Sans Typewriter" panose="020B0509030504030204" pitchFamily="49" charset="0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798" name="Google Shape;798;p41"/>
              <p:cNvSpPr/>
              <p:nvPr/>
            </p:nvSpPr>
            <p:spPr>
              <a:xfrm>
                <a:off x="1779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accent1"/>
                  </a:solidFill>
                  <a:latin typeface="Lucida Sans Typewriter" panose="020B0509030504030204" pitchFamily="49" charset="0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09" name="Google Shape;809;p41"/>
              <p:cNvSpPr/>
              <p:nvPr/>
            </p:nvSpPr>
            <p:spPr>
              <a:xfrm>
                <a:off x="3252" y="3168"/>
                <a:ext cx="874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accent1"/>
                  </a:solidFill>
                  <a:latin typeface="Lucida Sans Typewriter" panose="020B0509030504030204" pitchFamily="49" charset="0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10" name="Google Shape;810;p41"/>
              <p:cNvSpPr/>
              <p:nvPr/>
            </p:nvSpPr>
            <p:spPr>
              <a:xfrm>
                <a:off x="4563" y="3168"/>
                <a:ext cx="942" cy="269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accent1"/>
                  </a:solidFill>
                  <a:latin typeface="Lucida Sans Typewriter" panose="020B0509030504030204" pitchFamily="49" charset="0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811" name="Google Shape;811;p41"/>
            <p:cNvGrpSpPr/>
            <p:nvPr/>
          </p:nvGrpSpPr>
          <p:grpSpPr>
            <a:xfrm>
              <a:off x="384" y="3571"/>
              <a:ext cx="5184" cy="269"/>
              <a:chOff x="384" y="3571"/>
              <a:chExt cx="5184" cy="269"/>
            </a:xfrm>
          </p:grpSpPr>
          <p:sp>
            <p:nvSpPr>
              <p:cNvPr id="800" name="Google Shape;800;p41"/>
              <p:cNvSpPr/>
              <p:nvPr/>
            </p:nvSpPr>
            <p:spPr>
              <a:xfrm>
                <a:off x="384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folHlink"/>
                  </a:solidFill>
                  <a:latin typeface="Lucida Sans Typewriter" panose="020B0509030504030204" pitchFamily="49" charset="0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04" name="Google Shape;804;p41"/>
              <p:cNvSpPr/>
              <p:nvPr/>
            </p:nvSpPr>
            <p:spPr>
              <a:xfrm>
                <a:off x="1006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folHlink"/>
                  </a:solidFill>
                  <a:latin typeface="Lucida Sans Typewriter" panose="020B0509030504030204" pitchFamily="49" charset="0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02" name="Google Shape;802;p41"/>
              <p:cNvSpPr/>
              <p:nvPr/>
            </p:nvSpPr>
            <p:spPr>
              <a:xfrm>
                <a:off x="1725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folHlink"/>
                  </a:solidFill>
                  <a:latin typeface="Lucida Sans Typewriter" panose="020B0509030504030204" pitchFamily="49" charset="0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06" name="Google Shape;806;p41"/>
              <p:cNvSpPr/>
              <p:nvPr/>
            </p:nvSpPr>
            <p:spPr>
              <a:xfrm>
                <a:off x="2351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folHlink"/>
                  </a:solidFill>
                  <a:latin typeface="Lucida Sans Typewriter" panose="020B0509030504030204" pitchFamily="49" charset="0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12" name="Google Shape;812;p41"/>
              <p:cNvSpPr/>
              <p:nvPr/>
            </p:nvSpPr>
            <p:spPr>
              <a:xfrm>
                <a:off x="3168" y="3571"/>
                <a:ext cx="454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folHlink"/>
                  </a:solidFill>
                  <a:latin typeface="Lucida Sans Typewriter" panose="020B0509030504030204" pitchFamily="49" charset="0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13" name="Google Shape;813;p41"/>
              <p:cNvSpPr/>
              <p:nvPr/>
            </p:nvSpPr>
            <p:spPr>
              <a:xfrm>
                <a:off x="3790" y="3571"/>
                <a:ext cx="437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folHlink"/>
                  </a:solidFill>
                  <a:latin typeface="Lucida Sans Typewriter" panose="020B0509030504030204" pitchFamily="49" charset="0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14" name="Google Shape;814;p41"/>
              <p:cNvSpPr/>
              <p:nvPr/>
            </p:nvSpPr>
            <p:spPr>
              <a:xfrm>
                <a:off x="4509" y="3571"/>
                <a:ext cx="445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folHlink"/>
                  </a:solidFill>
                  <a:latin typeface="Lucida Sans Typewriter" panose="020B0509030504030204" pitchFamily="49" charset="0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15" name="Google Shape;815;p41"/>
              <p:cNvSpPr/>
              <p:nvPr/>
            </p:nvSpPr>
            <p:spPr>
              <a:xfrm>
                <a:off x="5135" y="3571"/>
                <a:ext cx="433" cy="269"/>
              </a:xfrm>
              <a:prstGeom prst="roundRect">
                <a:avLst>
                  <a:gd name="adj" fmla="val 16667"/>
                </a:avLst>
              </a:prstGeom>
              <a:solidFill>
                <a:schemeClr val="folHlink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folHlink"/>
                  </a:solidFill>
                  <a:latin typeface="Lucida Sans Typewriter" panose="020B0509030504030204" pitchFamily="49" charset="0"/>
                  <a:ea typeface="Tahoma"/>
                  <a:cs typeface="Tahoma"/>
                  <a:sym typeface="Tahoma"/>
                </a:endParaRPr>
              </a:p>
            </p:txBody>
          </p:sp>
        </p:grpSp>
        <p:cxnSp>
          <p:nvCxnSpPr>
            <p:cNvPr id="816" name="Google Shape;816;p41"/>
            <p:cNvCxnSpPr>
              <a:stCxn id="809" idx="0"/>
              <a:endCxn id="807" idx="2"/>
            </p:cNvCxnSpPr>
            <p:nvPr/>
          </p:nvCxnSpPr>
          <p:spPr>
            <a:xfrm rot="10800000" flipH="1">
              <a:off x="3689" y="2625"/>
              <a:ext cx="6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7" name="Google Shape;817;p41"/>
            <p:cNvCxnSpPr>
              <a:stCxn id="810" idx="0"/>
              <a:endCxn id="807" idx="2"/>
            </p:cNvCxnSpPr>
            <p:nvPr/>
          </p:nvCxnSpPr>
          <p:spPr>
            <a:xfrm rot="10800000">
              <a:off x="4434" y="2625"/>
              <a:ext cx="6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8" name="Google Shape;818;p41"/>
            <p:cNvCxnSpPr>
              <a:stCxn id="812" idx="0"/>
              <a:endCxn id="809" idx="2"/>
            </p:cNvCxnSpPr>
            <p:nvPr/>
          </p:nvCxnSpPr>
          <p:spPr>
            <a:xfrm rot="10800000" flipH="1">
              <a:off x="3395" y="3271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9" name="Google Shape;819;p41"/>
            <p:cNvCxnSpPr>
              <a:stCxn id="814" idx="0"/>
              <a:endCxn id="810" idx="2"/>
            </p:cNvCxnSpPr>
            <p:nvPr/>
          </p:nvCxnSpPr>
          <p:spPr>
            <a:xfrm rot="10800000" flipH="1">
              <a:off x="4732" y="3271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" name="Google Shape;820;p41"/>
            <p:cNvCxnSpPr>
              <a:stCxn id="809" idx="2"/>
              <a:endCxn id="813" idx="0"/>
            </p:cNvCxnSpPr>
            <p:nvPr/>
          </p:nvCxnSpPr>
          <p:spPr>
            <a:xfrm>
              <a:off x="3689" y="3194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1" name="Google Shape;821;p41"/>
            <p:cNvCxnSpPr>
              <a:stCxn id="810" idx="2"/>
              <a:endCxn id="815" idx="0"/>
            </p:cNvCxnSpPr>
            <p:nvPr/>
          </p:nvCxnSpPr>
          <p:spPr>
            <a:xfrm>
              <a:off x="5034" y="3194"/>
              <a:ext cx="3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22" name="Google Shape;822;p41"/>
            <p:cNvSpPr/>
            <p:nvPr/>
          </p:nvSpPr>
          <p:spPr>
            <a:xfrm>
              <a:off x="1440" y="1632"/>
              <a:ext cx="3072" cy="27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accent1"/>
                </a:solidFill>
                <a:latin typeface="Lucida Sans Typewriter" panose="020B0509030504030204" pitchFamily="49" charset="0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823" name="Google Shape;823;p41"/>
            <p:cNvCxnSpPr>
              <a:stCxn id="796" idx="0"/>
              <a:endCxn id="822" idx="2"/>
            </p:cNvCxnSpPr>
            <p:nvPr/>
          </p:nvCxnSpPr>
          <p:spPr>
            <a:xfrm rot="10800000" flipH="1">
              <a:off x="1578" y="1979"/>
              <a:ext cx="15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4" name="Google Shape;824;p41"/>
            <p:cNvCxnSpPr>
              <a:stCxn id="807" idx="0"/>
              <a:endCxn id="822" idx="2"/>
            </p:cNvCxnSpPr>
            <p:nvPr/>
          </p:nvCxnSpPr>
          <p:spPr>
            <a:xfrm rot="10800000">
              <a:off x="2862" y="1979"/>
              <a:ext cx="1500" cy="3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825" name="Google Shape;825;p41"/>
          <p:cNvGraphicFramePr/>
          <p:nvPr>
            <p:extLst>
              <p:ext uri="{D42A27DB-BD31-4B8C-83A1-F6EECF244321}">
                <p14:modId xmlns:p14="http://schemas.microsoft.com/office/powerpoint/2010/main" val="1097631194"/>
              </p:ext>
            </p:extLst>
          </p:nvPr>
        </p:nvGraphicFramePr>
        <p:xfrm>
          <a:off x="8045018" y="3266595"/>
          <a:ext cx="3827950" cy="2438425"/>
        </p:xfrm>
        <a:graphic>
          <a:graphicData uri="http://schemas.openxmlformats.org/drawingml/2006/table">
            <a:tbl>
              <a:tblPr>
                <a:noFill/>
                <a:tableStyleId>{868FC11F-FE77-4ACE-B6F6-A7261129B311}</a:tableStyleId>
              </a:tblPr>
              <a:tblGrid>
                <a:gridCol w="382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Time for max crossing sub array</a:t>
                      </a:r>
                      <a:endParaRPr sz="160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bn</a:t>
                      </a:r>
                      <a:endParaRPr sz="160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1" i="1" u="none" strike="noStrike" cap="none" dirty="0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bn:(bn/2+bn/2)</a:t>
                      </a:r>
                      <a:endParaRPr sz="1600" dirty="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1" i="1" u="none" strike="noStrike" cap="none" dirty="0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bn:(bn/4+bn/4+bn/4+bn/4)</a:t>
                      </a:r>
                      <a:endParaRPr sz="1600" dirty="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800" b="1" i="1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…</a:t>
                      </a:r>
                      <a:endParaRPr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26" name="Google Shape;826;p41"/>
          <p:cNvGraphicFramePr/>
          <p:nvPr>
            <p:extLst>
              <p:ext uri="{D42A27DB-BD31-4B8C-83A1-F6EECF244321}">
                <p14:modId xmlns:p14="http://schemas.microsoft.com/office/powerpoint/2010/main" val="3950562220"/>
              </p:ext>
            </p:extLst>
          </p:nvPr>
        </p:nvGraphicFramePr>
        <p:xfrm>
          <a:off x="1732909" y="3214034"/>
          <a:ext cx="2144760" cy="2502317"/>
        </p:xfrm>
        <a:graphic>
          <a:graphicData uri="http://schemas.openxmlformats.org/drawingml/2006/table">
            <a:tbl>
              <a:tblPr>
                <a:noFill/>
                <a:tableStyleId>{868FC11F-FE77-4ACE-B6F6-A7261129B311}</a:tableStyleId>
              </a:tblPr>
              <a:tblGrid>
                <a:gridCol w="71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depth</a:t>
                      </a:r>
                      <a:endParaRPr sz="1600" dirty="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T’s</a:t>
                      </a:r>
                      <a:endParaRPr sz="160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size</a:t>
                      </a:r>
                      <a:endParaRPr sz="160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46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160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600" dirty="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1" i="1" u="none" strike="noStrike" cap="none" dirty="0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endParaRPr sz="1600" dirty="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4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60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1600" dirty="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/</a:t>
                      </a: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1600" b="1" i="1" u="none" strike="noStrike" cap="none" baseline="30000">
                        <a:solidFill>
                          <a:schemeClr val="dk1"/>
                        </a:solidFill>
                        <a:latin typeface="Lucida Sans Typewriter" panose="020B0509030504030204" pitchFamily="49" charset="0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1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…</a:t>
                      </a:r>
                      <a:endParaRPr sz="160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…</a:t>
                      </a:r>
                      <a:endParaRPr sz="160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…</a:t>
                      </a:r>
                      <a:endParaRPr sz="160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14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1" i="1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sz="1600" b="0" i="0" u="none" strike="noStrike" cap="none">
                        <a:solidFill>
                          <a:schemeClr val="dk1"/>
                        </a:solidFill>
                        <a:latin typeface="Lucida Sans Typewriter" panose="020B0509030504030204" pitchFamily="49" charset="0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1600" b="1" i="1" u="none" strike="noStrike" cap="none" baseline="30000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sz="1600" b="0" i="0" u="none" strike="noStrike" cap="none" baseline="30000">
                        <a:solidFill>
                          <a:schemeClr val="dk1"/>
                        </a:solidFill>
                        <a:latin typeface="Lucida Sans Typewriter" panose="020B0509030504030204" pitchFamily="49" charset="0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600" b="1" i="1" u="none" strike="noStrike" cap="none" dirty="0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r>
                        <a:rPr lang="en-US" sz="1600" b="1" i="0" u="none" strike="noStrike" cap="none" dirty="0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/</a:t>
                      </a: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1600" b="1" i="1" u="none" strike="noStrike" cap="none" baseline="30000" dirty="0">
                          <a:solidFill>
                            <a:schemeClr val="dk1"/>
                          </a:solidFill>
                          <a:latin typeface="Lucida Sans Typewriter" panose="020B0509030504030204" pitchFamily="49" charset="0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sz="1600" dirty="0">
                        <a:latin typeface="Lucida Sans Typewriter" panose="020B0509030504030204" pitchFamily="49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27" name="Google Shape;827;p41"/>
          <p:cNvSpPr txBox="1"/>
          <p:nvPr/>
        </p:nvSpPr>
        <p:spPr>
          <a:xfrm>
            <a:off x="1534048" y="5948846"/>
            <a:ext cx="269721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Lucida Sans Typewriter" panose="020B0509030504030204" pitchFamily="49" charset="0"/>
                <a:ea typeface="Tahoma"/>
                <a:cs typeface="Tahoma"/>
                <a:sym typeface="Tahoma"/>
              </a:rPr>
              <a:t>Total time = </a:t>
            </a:r>
            <a:r>
              <a:rPr lang="en-US" sz="1600" i="1" dirty="0" err="1">
                <a:solidFill>
                  <a:schemeClr val="dk1"/>
                </a:solidFill>
                <a:latin typeface="Lucida Sans Typewriter" panose="020B0509030504030204" pitchFamily="49" charset="0"/>
                <a:ea typeface="Tahoma"/>
                <a:cs typeface="Tahoma"/>
                <a:sym typeface="Tahoma"/>
              </a:rPr>
              <a:t>i</a:t>
            </a:r>
            <a:r>
              <a:rPr lang="en-US" sz="1600" i="1" dirty="0">
                <a:solidFill>
                  <a:schemeClr val="dk1"/>
                </a:solidFill>
                <a:latin typeface="Lucida Sans Typewriter" panose="020B0509030504030204" pitchFamily="49" charset="0"/>
                <a:ea typeface="Tahoma"/>
                <a:cs typeface="Tahoma"/>
                <a:sym typeface="Tahoma"/>
              </a:rPr>
              <a:t> * </a:t>
            </a:r>
            <a:r>
              <a:rPr lang="en-US" sz="1600" b="1" i="1" dirty="0">
                <a:solidFill>
                  <a:schemeClr val="dk1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bn</a:t>
            </a:r>
            <a:endParaRPr sz="1600" dirty="0">
              <a:latin typeface="Lucida Sans Typewriter" panose="020B0509030504030204" pitchFamily="49" charset="0"/>
            </a:endParaRPr>
          </a:p>
        </p:txBody>
      </p:sp>
      <p:sp>
        <p:nvSpPr>
          <p:cNvPr id="828" name="Google Shape;828;p41"/>
          <p:cNvSpPr txBox="1"/>
          <p:nvPr/>
        </p:nvSpPr>
        <p:spPr>
          <a:xfrm>
            <a:off x="8357616" y="5969438"/>
            <a:ext cx="269721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>
                <a:solidFill>
                  <a:schemeClr val="dk1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T(n) = </a:t>
            </a:r>
            <a:r>
              <a:rPr lang="en-US" sz="1600" b="1" i="1" dirty="0" err="1">
                <a:solidFill>
                  <a:schemeClr val="dk1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bnlog</a:t>
            </a:r>
            <a:r>
              <a:rPr lang="en-US" sz="1600" b="1" i="1" dirty="0">
                <a:solidFill>
                  <a:schemeClr val="dk1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 n +bn </a:t>
            </a:r>
            <a:endParaRPr sz="1600" dirty="0">
              <a:latin typeface="Lucida Sans Typewriter" panose="020B0509030504030204" pitchFamily="49" charset="0"/>
            </a:endParaRPr>
          </a:p>
        </p:txBody>
      </p:sp>
      <p:sp>
        <p:nvSpPr>
          <p:cNvPr id="829" name="Google Shape;829;p41"/>
          <p:cNvSpPr txBox="1"/>
          <p:nvPr/>
        </p:nvSpPr>
        <p:spPr>
          <a:xfrm>
            <a:off x="5349879" y="5969438"/>
            <a:ext cx="172174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>
                <a:solidFill>
                  <a:schemeClr val="dk1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i = log n. </a:t>
            </a:r>
            <a:endParaRPr sz="1600">
              <a:latin typeface="Lucida Sans Typewriter" panose="020B0509030504030204" pitchFamily="49" charset="0"/>
            </a:endParaRPr>
          </a:p>
        </p:txBody>
      </p:sp>
      <p:sp>
        <p:nvSpPr>
          <p:cNvPr id="784" name="Slide Number Placeholder 783">
            <a:extLst>
              <a:ext uri="{FF2B5EF4-FFF2-40B4-BE49-F238E27FC236}">
                <a16:creationId xmlns:a16="http://schemas.microsoft.com/office/drawing/2014/main" id="{CC191904-CEF3-59D0-7FCF-C97EE97EAE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sp>
        <p:nvSpPr>
          <p:cNvPr id="785" name="Footer Placeholder 784">
            <a:extLst>
              <a:ext uri="{FF2B5EF4-FFF2-40B4-BE49-F238E27FC236}">
                <a16:creationId xmlns:a16="http://schemas.microsoft.com/office/drawing/2014/main" id="{D8560422-B03D-8A3C-7451-DEB870BBC8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2"/>
          <p:cNvSpPr txBox="1">
            <a:spLocks noGrp="1"/>
          </p:cNvSpPr>
          <p:nvPr>
            <p:ph type="title"/>
          </p:nvPr>
        </p:nvSpPr>
        <p:spPr>
          <a:xfrm>
            <a:off x="923544" y="707113"/>
            <a:ext cx="11268456" cy="115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Time Complexity (Iterative Approach)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pic>
        <p:nvPicPr>
          <p:cNvPr id="838" name="Google Shape;83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0574" y="1994247"/>
            <a:ext cx="3438144" cy="2468025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42"/>
          <p:cNvSpPr/>
          <p:nvPr/>
        </p:nvSpPr>
        <p:spPr>
          <a:xfrm>
            <a:off x="1170574" y="4717449"/>
            <a:ext cx="9198722" cy="1595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676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</a:pP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Note that base, </a:t>
            </a:r>
            <a:r>
              <a:rPr lang="en-US" i="1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T</a:t>
            </a: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(</a:t>
            </a:r>
            <a:r>
              <a:rPr lang="en-US" i="1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i="1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=b</a:t>
            </a: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, case occurs when 2</a:t>
            </a:r>
            <a:r>
              <a:rPr lang="en-US" i="1" baseline="30000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i="1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. </a:t>
            </a:r>
            <a:endParaRPr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		That is, </a:t>
            </a:r>
            <a:r>
              <a:rPr lang="en-US" i="1" dirty="0" err="1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i</a:t>
            </a: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 = log </a:t>
            </a:r>
            <a:r>
              <a:rPr lang="en-US" i="1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. </a:t>
            </a:r>
            <a:endParaRPr dirty="0">
              <a:latin typeface="Lucida Sans Typewriter" panose="020B0509030504030204" pitchFamily="49" charset="0"/>
            </a:endParaRPr>
          </a:p>
          <a:p>
            <a:pPr marL="0" marR="0" lvl="0" indent="-16764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</a:pP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So, </a:t>
            </a:r>
            <a:endParaRPr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endParaRPr dirty="0">
              <a:solidFill>
                <a:srgbClr val="40458C"/>
              </a:solidFill>
              <a:latin typeface="Lucida Sans Typewriter" panose="020B0509030504030204" pitchFamily="49" charset="0"/>
              <a:ea typeface="Times New Roman"/>
              <a:cs typeface="Times New Roman"/>
              <a:sym typeface="Times New Roman"/>
            </a:endParaRPr>
          </a:p>
          <a:p>
            <a:pPr marL="0" marR="0" lvl="0" indent="-16764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</a:pP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Thus, </a:t>
            </a:r>
            <a:r>
              <a:rPr lang="en-US" i="1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T</a:t>
            </a: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(</a:t>
            </a:r>
            <a:r>
              <a:rPr lang="en-US" i="1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) is </a:t>
            </a:r>
            <a:r>
              <a:rPr lang="en-US" i="1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O</a:t>
            </a: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(</a:t>
            </a:r>
            <a:r>
              <a:rPr lang="en-US" i="1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 log </a:t>
            </a:r>
            <a:r>
              <a:rPr lang="en-US" i="1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n</a:t>
            </a:r>
            <a:r>
              <a:rPr lang="en-US" dirty="0">
                <a:solidFill>
                  <a:srgbClr val="40458C"/>
                </a:solidFill>
                <a:latin typeface="Lucida Sans Typewriter" panose="020B0509030504030204" pitchFamily="49" charset="0"/>
                <a:ea typeface="Times New Roman"/>
                <a:cs typeface="Times New Roman"/>
                <a:sym typeface="Times New Roman"/>
              </a:rPr>
              <a:t>).</a:t>
            </a:r>
            <a:endParaRPr dirty="0">
              <a:latin typeface="Lucida Sans Typewriter" panose="020B0509030504030204" pitchFamily="49" charset="0"/>
            </a:endParaRPr>
          </a:p>
        </p:txBody>
      </p:sp>
      <p:pic>
        <p:nvPicPr>
          <p:cNvPr id="840" name="Google Shape;840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8823" y="5303946"/>
            <a:ext cx="2611438" cy="42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EB8917-90A3-15D7-F712-5C0817ECF6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7F3DE-A14C-86A0-D316-8036C4BEE3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9"/>
          <p:cNvSpPr txBox="1">
            <a:spLocks noGrp="1"/>
          </p:cNvSpPr>
          <p:nvPr>
            <p:ph type="body" idx="1"/>
          </p:nvPr>
        </p:nvSpPr>
        <p:spPr>
          <a:xfrm>
            <a:off x="1197864" y="2066543"/>
            <a:ext cx="9796272" cy="385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00"/>
            </a:pPr>
            <a:r>
              <a:rPr lang="en-US" dirty="0">
                <a:latin typeface="Lucida Sans Typewriter" panose="020B0509030504030204" pitchFamily="49" charset="0"/>
              </a:rPr>
              <a:t>You are given an array P [1..100], where an index is marked as 1 if it is a prime number or 0 if it is not a prime number (see the array below for reference).  Determine the total number of prime numbers in a given array using a divide and conquer algorithm. Draw the recursive tree and write the pseudocode.</a:t>
            </a:r>
            <a:endParaRPr dirty="0">
              <a:latin typeface="Lucida Sans Typewriter" panose="020B0509030504030204" pitchFamily="49" charset="0"/>
            </a:endParaRPr>
          </a:p>
          <a:p>
            <a:pPr marL="514350" lvl="0" indent="-37338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None/>
            </a:pPr>
            <a:endParaRPr dirty="0"/>
          </a:p>
        </p:txBody>
      </p:sp>
      <p:sp>
        <p:nvSpPr>
          <p:cNvPr id="867" name="Google Shape;867;p49"/>
          <p:cNvSpPr txBox="1">
            <a:spLocks noGrp="1"/>
          </p:cNvSpPr>
          <p:nvPr>
            <p:ph type="title"/>
          </p:nvPr>
        </p:nvSpPr>
        <p:spPr>
          <a:xfrm>
            <a:off x="1057656" y="1020401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Similar Problems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graphicFrame>
        <p:nvGraphicFramePr>
          <p:cNvPr id="868" name="Google Shape;868;p49"/>
          <p:cNvGraphicFramePr/>
          <p:nvPr>
            <p:extLst>
              <p:ext uri="{D42A27DB-BD31-4B8C-83A1-F6EECF244321}">
                <p14:modId xmlns:p14="http://schemas.microsoft.com/office/powerpoint/2010/main" val="306812985"/>
              </p:ext>
            </p:extLst>
          </p:nvPr>
        </p:nvGraphicFramePr>
        <p:xfrm>
          <a:off x="2032000" y="4133088"/>
          <a:ext cx="8128000" cy="741700"/>
        </p:xfrm>
        <a:graphic>
          <a:graphicData uri="http://schemas.openxmlformats.org/drawingml/2006/table">
            <a:tbl>
              <a:tblPr firstRow="1" bandRow="1">
                <a:noFill/>
                <a:tableStyleId>{8DEE7AC1-399C-4376-8548-5C3429A4A108}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2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.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1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0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016DCC-BA0E-9FFE-6733-40EBBEA416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03BF5E-0A0A-01A7-BF0B-C3A4595BC9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0"/>
          <p:cNvSpPr txBox="1">
            <a:spLocks noGrp="1"/>
          </p:cNvSpPr>
          <p:nvPr>
            <p:ph type="body" idx="1"/>
          </p:nvPr>
        </p:nvSpPr>
        <p:spPr>
          <a:xfrm>
            <a:off x="1024128" y="2018674"/>
            <a:ext cx="10143744" cy="358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dirty="0">
                <a:latin typeface="Lucida Sans Typewriter" panose="020B0509030504030204" pitchFamily="49" charset="0"/>
              </a:rPr>
              <a:t>This </a:t>
            </a:r>
            <a:r>
              <a:rPr lang="en-US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Divide and conquer </a:t>
            </a:r>
            <a:r>
              <a:rPr lang="en-US" dirty="0">
                <a:latin typeface="Lucida Sans Typewriter" panose="020B0509030504030204" pitchFamily="49" charset="0"/>
              </a:rPr>
              <a:t>algorithm is clearly substantially </a:t>
            </a:r>
            <a:r>
              <a:rPr lang="en-US" b="1" dirty="0">
                <a:latin typeface="Lucida Sans Typewriter" panose="020B0509030504030204" pitchFamily="49" charset="0"/>
              </a:rPr>
              <a:t>faster</a:t>
            </a:r>
            <a:r>
              <a:rPr lang="en-US" dirty="0">
                <a:latin typeface="Lucida Sans Typewriter" panose="020B0509030504030204" pitchFamily="49" charset="0"/>
              </a:rPr>
              <a:t> than any of </a:t>
            </a:r>
            <a:r>
              <a:rPr lang="en-US" b="1" dirty="0">
                <a:latin typeface="Lucida Sans Typewriter" panose="020B0509030504030204" pitchFamily="49" charset="0"/>
              </a:rPr>
              <a:t>the brute-force methods</a:t>
            </a:r>
            <a:r>
              <a:rPr lang="en-US" dirty="0">
                <a:latin typeface="Lucida Sans Typewriter" panose="020B0509030504030204" pitchFamily="49" charset="0"/>
              </a:rPr>
              <a:t>.  It required some cleverness, and the programming is a little more complicated – but the payoff is large.</a:t>
            </a:r>
            <a:endParaRPr dirty="0">
              <a:latin typeface="Lucida Sans Typewriter" panose="020B0509030504030204" pitchFamily="49" charset="0"/>
            </a:endParaRPr>
          </a:p>
          <a:p>
            <a:pPr marL="5461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Wingdings" panose="05000000000000000000" pitchFamily="2" charset="2"/>
              <a:buChar char="§"/>
            </a:pPr>
            <a:endParaRPr b="0" i="0" u="none" strike="noStrike" cap="none" dirty="0">
              <a:solidFill>
                <a:schemeClr val="dk1"/>
              </a:solidFill>
              <a:latin typeface="Lucida Sans Typewriter" panose="020B0509030504030204" pitchFamily="49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</a:rPr>
              <a:t>Divide and conquer is just </a:t>
            </a:r>
            <a:r>
              <a:rPr lang="en-US" b="1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</a:rPr>
              <a:t>one of several powerful </a:t>
            </a: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</a:rPr>
              <a:t>techniques for algorithm design</a:t>
            </a:r>
            <a:endParaRPr dirty="0">
              <a:latin typeface="Lucida Sans Typewriter" panose="020B0509030504030204" pitchFamily="49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</a:rPr>
              <a:t>Divide-and-conquer algorithms can be </a:t>
            </a:r>
            <a:r>
              <a:rPr lang="en-US" b="1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</a:rPr>
              <a:t>analyzed</a:t>
            </a: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</a:rPr>
              <a:t> </a:t>
            </a:r>
            <a:r>
              <a:rPr lang="en-US" b="1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</a:rPr>
              <a:t>using</a:t>
            </a: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</a:rPr>
              <a:t> recurrences</a:t>
            </a:r>
            <a:endParaRPr dirty="0">
              <a:latin typeface="Lucida Sans Typewriter" panose="020B0509030504030204" pitchFamily="49" charset="0"/>
            </a:endParaRPr>
          </a:p>
          <a:p>
            <a:pPr marL="1397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  </a:t>
            </a:r>
            <a:r>
              <a:rPr lang="en-US" b="0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</a:rPr>
              <a:t>Can lead to </a:t>
            </a:r>
            <a:r>
              <a:rPr lang="en-US" b="1" i="0" u="none" strike="noStrike" cap="none" dirty="0">
                <a:solidFill>
                  <a:schemeClr val="dk1"/>
                </a:solidFill>
                <a:latin typeface="Lucida Sans Typewriter" panose="020B0509030504030204" pitchFamily="49" charset="0"/>
              </a:rPr>
              <a:t>more efficient algorithms</a:t>
            </a:r>
            <a:endParaRPr dirty="0">
              <a:latin typeface="Lucida Sans Typewriter" panose="020B05090305040302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 dirty="0">
              <a:latin typeface="Lucida Sans Typewriter" panose="020B0509030504030204" pitchFamily="49" charset="0"/>
            </a:endParaRPr>
          </a:p>
        </p:txBody>
      </p:sp>
      <p:sp>
        <p:nvSpPr>
          <p:cNvPr id="877" name="Google Shape;877;p50"/>
          <p:cNvSpPr txBox="1">
            <a:spLocks noGrp="1"/>
          </p:cNvSpPr>
          <p:nvPr>
            <p:ph type="title"/>
          </p:nvPr>
        </p:nvSpPr>
        <p:spPr>
          <a:xfrm>
            <a:off x="1024128" y="1025870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Sans Typewriter" panose="020B0509030504030204" pitchFamily="49" charset="0"/>
              </a:rPr>
              <a:t>Conclusion: Divide-and-Conquer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EF6244-B2B0-2150-7B13-A76ADC6D34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DDE9E0-A8EC-5AD0-4283-9A14BF2CA1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 cat&#10;&#10;Description automatically generated">
            <a:extLst>
              <a:ext uri="{FF2B5EF4-FFF2-40B4-BE49-F238E27FC236}">
                <a16:creationId xmlns:a16="http://schemas.microsoft.com/office/drawing/2014/main" id="{7504AF05-2BBA-ECED-49C0-8EEF76B83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119" y="1905001"/>
            <a:ext cx="2671763" cy="26717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C58E4-9009-2D51-10AE-EC7BD36A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535"/>
              </a:lnSpc>
            </a:pPr>
            <a:fld id="{81D60167-4931-47E6-BA6A-407CBD079E47}" type="slidenum">
              <a:rPr lang="en-US" smtClean="0"/>
              <a:pPr marL="38100">
                <a:lnSpc>
                  <a:spcPts val="1535"/>
                </a:lnSpc>
              </a:pPr>
              <a:t>46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98FA1A-CC6F-F7FA-04EE-9F925217B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Charles Aunkan Gomes (Lecturer, Dept of CSE, UIU)</a:t>
            </a:r>
          </a:p>
        </p:txBody>
      </p:sp>
    </p:spTree>
    <p:extLst>
      <p:ext uri="{BB962C8B-B14F-4D97-AF65-F5344CB8AC3E}">
        <p14:creationId xmlns:p14="http://schemas.microsoft.com/office/powerpoint/2010/main" val="202250596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2021</TotalTime>
  <Words>2594</Words>
  <Application>Microsoft Office PowerPoint</Application>
  <PresentationFormat>Widescreen</PresentationFormat>
  <Paragraphs>774</Paragraphs>
  <Slides>46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Arial</vt:lpstr>
      <vt:lpstr>Candara</vt:lpstr>
      <vt:lpstr>Comic Sans MS</vt:lpstr>
      <vt:lpstr>Calibri Light</vt:lpstr>
      <vt:lpstr>Tahoma</vt:lpstr>
      <vt:lpstr>Times New Roman</vt:lpstr>
      <vt:lpstr>Noto Sans Symbols</vt:lpstr>
      <vt:lpstr>Lucida Sans Typewriter</vt:lpstr>
      <vt:lpstr>Calibri</vt:lpstr>
      <vt:lpstr>Wingdings</vt:lpstr>
      <vt:lpstr>Retrospect</vt:lpstr>
      <vt:lpstr>PowerPoint Presentation</vt:lpstr>
      <vt:lpstr>Divide and Conquer</vt:lpstr>
      <vt:lpstr>Divide and Conquer</vt:lpstr>
      <vt:lpstr>Divide and Conquer</vt:lpstr>
      <vt:lpstr>Divide and Conquer (Basic structure for array based problems)</vt:lpstr>
      <vt:lpstr>MIN MAX PROBLEM</vt:lpstr>
      <vt:lpstr>Finding Maximum and Minimum</vt:lpstr>
      <vt:lpstr>Pseudocode</vt:lpstr>
      <vt:lpstr>Time Complexity</vt:lpstr>
      <vt:lpstr>MAXIMUM SUB ARRAY PROBLEM</vt:lpstr>
      <vt:lpstr>MAXIMUM SUB ARRAY PROBLEM</vt:lpstr>
      <vt:lpstr>Brute Force Approach</vt:lpstr>
      <vt:lpstr>Brute Force Approach</vt:lpstr>
      <vt:lpstr>The Maximum Sub Array Problem-practical example</vt:lpstr>
      <vt:lpstr>The Maximum Sub Array Problem-practical example</vt:lpstr>
      <vt:lpstr>The Divide and Conquer Approach for Max Sub Array</vt:lpstr>
      <vt:lpstr>The Divide and Conquer Approach for Max Sub Array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Time Complexity</vt:lpstr>
      <vt:lpstr>Time Complexity (Recursive Tree)</vt:lpstr>
      <vt:lpstr>Time Complexity (Iterative Approach)</vt:lpstr>
      <vt:lpstr>Similar Problems</vt:lpstr>
      <vt:lpstr>Conclusion: Divide-and-Conquer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2217: Data Structures and Algorithms-II</dc:title>
  <dc:creator>lenovo</dc:creator>
  <cp:lastModifiedBy>Administrator</cp:lastModifiedBy>
  <cp:revision>21</cp:revision>
  <dcterms:created xsi:type="dcterms:W3CDTF">2023-03-19T03:25:32Z</dcterms:created>
  <dcterms:modified xsi:type="dcterms:W3CDTF">2025-12-07T03:50:09Z</dcterms:modified>
</cp:coreProperties>
</file>