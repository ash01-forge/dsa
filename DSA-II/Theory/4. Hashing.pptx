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6" r:id="rId2"/>
  </p:sldMasterIdLst>
  <p:notesMasterIdLst>
    <p:notesMasterId r:id="rId50"/>
  </p:notesMasterIdLst>
  <p:handoutMasterIdLst>
    <p:handoutMasterId r:id="rId51"/>
  </p:handoutMasterIdLst>
  <p:sldIdLst>
    <p:sldId id="506" r:id="rId3"/>
    <p:sldId id="680" r:id="rId4"/>
    <p:sldId id="641" r:id="rId5"/>
    <p:sldId id="642" r:id="rId6"/>
    <p:sldId id="643" r:id="rId7"/>
    <p:sldId id="611" r:id="rId8"/>
    <p:sldId id="646" r:id="rId9"/>
    <p:sldId id="647" r:id="rId10"/>
    <p:sldId id="648" r:id="rId11"/>
    <p:sldId id="649" r:id="rId12"/>
    <p:sldId id="650" r:id="rId13"/>
    <p:sldId id="651" r:id="rId14"/>
    <p:sldId id="652" r:id="rId15"/>
    <p:sldId id="620" r:id="rId16"/>
    <p:sldId id="621" r:id="rId17"/>
    <p:sldId id="622" r:id="rId18"/>
    <p:sldId id="675" r:id="rId19"/>
    <p:sldId id="682" r:id="rId20"/>
    <p:sldId id="677" r:id="rId21"/>
    <p:sldId id="623" r:id="rId22"/>
    <p:sldId id="624" r:id="rId23"/>
    <p:sldId id="625" r:id="rId24"/>
    <p:sldId id="692" r:id="rId25"/>
    <p:sldId id="654" r:id="rId26"/>
    <p:sldId id="655" r:id="rId27"/>
    <p:sldId id="657" r:id="rId28"/>
    <p:sldId id="662" r:id="rId29"/>
    <p:sldId id="663" r:id="rId30"/>
    <p:sldId id="667" r:id="rId31"/>
    <p:sldId id="668" r:id="rId32"/>
    <p:sldId id="669" r:id="rId33"/>
    <p:sldId id="679" r:id="rId34"/>
    <p:sldId id="670" r:id="rId35"/>
    <p:sldId id="665" r:id="rId36"/>
    <p:sldId id="681" r:id="rId37"/>
    <p:sldId id="672" r:id="rId38"/>
    <p:sldId id="666" r:id="rId39"/>
    <p:sldId id="686" r:id="rId40"/>
    <p:sldId id="687" r:id="rId41"/>
    <p:sldId id="688" r:id="rId42"/>
    <p:sldId id="684" r:id="rId43"/>
    <p:sldId id="685" r:id="rId44"/>
    <p:sldId id="673" r:id="rId45"/>
    <p:sldId id="704" r:id="rId46"/>
    <p:sldId id="683" r:id="rId47"/>
    <p:sldId id="689" r:id="rId48"/>
    <p:sldId id="671" r:id="rId49"/>
  </p:sldIdLst>
  <p:sldSz cx="9144000" cy="6858000" type="screen4x3"/>
  <p:notesSz cx="7302500" cy="95885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97F8"/>
    <a:srgbClr val="5674F6"/>
    <a:srgbClr val="6289F8"/>
    <a:srgbClr val="2C61F6"/>
    <a:srgbClr val="F8F0D0"/>
    <a:srgbClr val="F2E4AA"/>
    <a:srgbClr val="008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0929"/>
  </p:normalViewPr>
  <p:slideViewPr>
    <p:cSldViewPr snapToObjects="1">
      <p:cViewPr varScale="1">
        <p:scale>
          <a:sx n="78" d="100"/>
          <a:sy n="78" d="100"/>
        </p:scale>
        <p:origin x="160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58AD9FDA-DD41-41F2-B398-F4A05F7F2D59}" type="datetime8">
              <a:rPr lang="en-US"/>
              <a:pPr>
                <a:defRPr/>
              </a:pPr>
              <a:t>6/20/2025 10:21 PM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7FDC4119-6906-436A-B59F-9A6E597FA0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1-23T04:38:25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2529 2311 215 0,'0'0'2'16,"5"-25"8"-16,2 10 40 0,-5-1-20 16,0 3 17-16,-2-3-4 15,2 0 5 1,-2 5 25-16,0-3-53 15,0 3-17-15,0-3 8 16,0 0-1-16,0 3-9 0,2-3-2 16,0 3 2-16,2 2-2 15,-4 0 3-15,3 6-1 16,-3-1 0-16,0 2 1 16,0 2-4-16,0 0 0 15,0 0-4-15,0 0-15 16,0 0-6-16,2 6 3 15,2 7 19-15,3 1 1 16,0 3 18-16,5-4-11 16,-4 1 10-16,1-3-16 15,2 0 3-15,-3-8 1 16,4 0 0-16,-2-3-10 16,-3 0 14-16,6 0-9 15,-1-3 17-15,0-5-9 16,0 1-7-16,-1 1 3 15,0 5 3-15,0-2-5 16,3 3-1-16,-2 0 1 16,2 0-3-16,-2 0 6 15,0 4-2-15,-4 2 0 16,-1-2 0-16,-2-2 1 16,-1-2 1-16,-2 1-1 15,-2-1 1-15,2 0-2 16,2 3 1-16,0 0-5 15,-2 2-26-15,-2-4-31 16,0-1-172-16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1-23T05:23:41.623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6632 6886 301 0,'-109'0'-42'15,"-12"-6"-51"-15,-3 6 74 16,-3 0 1-16,2 0-7 15,11 8 30-15,15-2 31 16,17-4 6-16,16-2-14 16,3 0-37-16,3-18-197 15</inkml:trace>
  <inkml:trace contextRef="#ctx0" brushRef="#br0" timeOffset="1100.31">6961 9900 99 0,'0'0'-15'16</inkml:trace>
  <inkml:trace contextRef="#ctx0" brushRef="#br0" timeOffset="1249.13">6961 9900 314 0,'96'6'-48'0,"-60"6"-7"15,14-5 39-15,5-4 7 16,10-3 1-16,2 0-17 16,4 0 24-16,9-6-2 15,6-4 4-15,0 2-36 16</inkml:trace>
  <inkml:trace contextRef="#ctx0" brushRef="#br0" timeOffset="1367.91">7511 9995 178 0,'0'0'4'16,"-149"45"-1"-16,78-20-6 16,-1 3-14-16,-1 5-38 15</inkml:trace>
  <inkml:trace contextRef="#ctx0" brushRef="#br0" timeOffset="1616.12">6823 10393 41 0,'0'0'32'0,"0"0"16"0,0 0 4 15,0 0 8 1,0 0 6-16,0 0-15 0,-6 88 2 16,6-81-18-16,0 4-14 15,11-6-14-15,12-3-8 16,6-2-14-16,12 0 28 16,2 0-13-16,1-2 14 15,-2-8-11-15,-7 3-5 16,-12-4 8-16,-6 10-11 15,-12-3 8-15,-5 4-10 16,0 0-11-16,-28 0 30 16,-11 0-71-1,-4 0-168-15</inkml:trace>
  <inkml:trace contextRef="#ctx0" brushRef="#br0" timeOffset="2068.11">8567 10896 27 0</inkml:trace>
  <inkml:trace contextRef="#ctx0" brushRef="#br0" timeOffset="2566.87">9828 10607 355 0,'0'0'-14'0,"0"0"-3"16,0 0 15-16,0 0 1 16,0 0-3-16,-15 0 4 15,15 0-45-15,0 0-40 16,0 0-83-16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92B2E385-9B97-45D0-8486-367B4B7DB321}" type="datetime8">
              <a:rPr lang="en-US"/>
              <a:pPr>
                <a:defRPr/>
              </a:pPr>
              <a:t>6/20/2025 10:21 PM</a:t>
            </a:fld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EE9AE794-3F38-46CC-AE82-6AD71C3920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28401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2B2E385-9B97-45D0-8486-367B4B7DB321}" type="datetime8">
              <a:rPr lang="en-US" smtClean="0"/>
              <a:pPr>
                <a:defRPr/>
              </a:pPr>
              <a:t>6/20/2025 10:21 PM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9AE794-3F38-46CC-AE82-6AD71C3920A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81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2B2E385-9B97-45D0-8486-367B4B7DB321}" type="datetime8">
              <a:rPr lang="en-US" smtClean="0"/>
              <a:pPr>
                <a:defRPr/>
              </a:pPr>
              <a:t>6/20/2025 10:21 PM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9AE794-3F38-46CC-AE82-6AD71C3920A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81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35A60"/>
                </a:solidFill>
                <a:effectLst/>
                <a:latin typeface="Arial" panose="020B0604020202020204" pitchFamily="34" charset="0"/>
              </a:rPr>
              <a:t>Deletion from an open-address hash table is difficult. When we delete a key from slot </a:t>
            </a:r>
            <a:r>
              <a:rPr lang="en-US" dirty="0" err="1"/>
              <a:t>i</a:t>
            </a:r>
            <a:r>
              <a:rPr lang="en-US" b="0" i="0" dirty="0">
                <a:solidFill>
                  <a:srgbClr val="535A60"/>
                </a:solidFill>
                <a:effectLst/>
                <a:latin typeface="Arial" panose="020B0604020202020204" pitchFamily="34" charset="0"/>
              </a:rPr>
              <a:t>, we cannot simply mark that slot as empty by storing </a:t>
            </a:r>
            <a:r>
              <a:rPr lang="en-US" dirty="0"/>
              <a:t>NIL</a:t>
            </a:r>
            <a:r>
              <a:rPr lang="en-US" b="0" i="0" dirty="0">
                <a:solidFill>
                  <a:srgbClr val="535A60"/>
                </a:solidFill>
                <a:effectLst/>
                <a:latin typeface="Arial" panose="020B0604020202020204" pitchFamily="34" charset="0"/>
              </a:rPr>
              <a:t> in it. Doing so might make it impossible to retrieve any key </a:t>
            </a:r>
            <a:r>
              <a:rPr lang="en-US" dirty="0"/>
              <a:t>k</a:t>
            </a:r>
            <a:r>
              <a:rPr lang="en-US" b="0" i="0" dirty="0">
                <a:solidFill>
                  <a:srgbClr val="535A60"/>
                </a:solidFill>
                <a:effectLst/>
                <a:latin typeface="Arial" panose="020B0604020202020204" pitchFamily="34" charset="0"/>
              </a:rPr>
              <a:t> during whose insertion we had probed slot </a:t>
            </a:r>
            <a:r>
              <a:rPr lang="en-US" dirty="0" err="1"/>
              <a:t>i</a:t>
            </a:r>
            <a:r>
              <a:rPr lang="en-US" b="0" i="0" dirty="0">
                <a:solidFill>
                  <a:srgbClr val="535A60"/>
                </a:solidFill>
                <a:effectLst/>
                <a:latin typeface="Arial" panose="020B0604020202020204" pitchFamily="34" charset="0"/>
              </a:rPr>
              <a:t> and found it occupied.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2B2E385-9B97-45D0-8486-367B4B7DB321}" type="datetime8">
              <a:rPr lang="en-US" smtClean="0"/>
              <a:pPr>
                <a:defRPr/>
              </a:pPr>
              <a:t>6/20/2025 10:21 PM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9AE794-3F38-46CC-AE82-6AD71C3920A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72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>
                <a:solidFill>
                  <a:srgbClr val="FF6600"/>
                </a:solidFill>
                <a:latin typeface="Arial" charset="0"/>
                <a:cs typeface="+mn-cs"/>
              </a:rPr>
              <a:t>Dr. Md. Abul Kashem Mia, Professor, CSE Dept, BUET</a:t>
            </a:r>
            <a:endParaRPr lang="en-US" sz="900" b="1">
              <a:latin typeface="Arial" charset="0"/>
              <a:cs typeface="+mn-cs"/>
            </a:endParaRPr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000" b="1"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67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67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DB2A8-D6B2-4DF2-B294-912B9ADFD4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B07EBE-6490-4D2D-9288-068C5DF173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1AB33-FC02-46B7-879E-A36ECE534E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7BEC2-2847-4653-B7B8-381C02C54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0F0FE-E340-420E-890D-5F3049635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6FE11-2245-45BE-AFAE-B1662A3B7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04E18-753D-48E4-9A4E-9B980E545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1F257-A8A9-41CA-9916-D9E68215A1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BA85C-47DB-4D53-B2C9-A733F62DF1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0E610-357F-4E84-AA5E-87E2691C82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90355-7668-4F7F-BD26-3AA51612CE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9510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Dr. Md.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+mn-cs"/>
              </a:rPr>
              <a:t>Abul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+mn-cs"/>
              </a:rPr>
              <a:t>Kashem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 Mia, Professor, CSE Dept, BUET</a:t>
            </a:r>
            <a:r>
              <a:rPr lang="en-US" sz="900" b="1" dirty="0">
                <a:latin typeface="Arial" charset="0"/>
                <a:cs typeface="+mn-cs"/>
              </a:rPr>
              <a:t>  	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32EADE8-24B8-43DD-B639-58A3F1ACD2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89447" name="Line 7"/>
          <p:cNvSpPr>
            <a:spLocks noChangeShapeType="1"/>
          </p:cNvSpPr>
          <p:nvPr userDrawn="1"/>
        </p:nvSpPr>
        <p:spPr bwMode="auto">
          <a:xfrm>
            <a:off x="468313" y="1484313"/>
            <a:ext cx="820737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89448" name="Line 8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89449" name="Line 9"/>
          <p:cNvSpPr>
            <a:spLocks noChangeShapeType="1"/>
          </p:cNvSpPr>
          <p:nvPr userDrawn="1"/>
        </p:nvSpPr>
        <p:spPr bwMode="auto">
          <a:xfrm>
            <a:off x="468313" y="1412875"/>
            <a:ext cx="8207375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196975"/>
            <a:ext cx="4392613" cy="866775"/>
          </a:xfrm>
        </p:spPr>
        <p:txBody>
          <a:bodyPr/>
          <a:lstStyle/>
          <a:p>
            <a:pPr eaLnBrk="1" hangingPunct="1"/>
            <a:r>
              <a:rPr lang="en-US" sz="4400"/>
              <a:t>Hash Tables</a:t>
            </a:r>
            <a:endParaRPr lang="en-US" sz="3600">
              <a:solidFill>
                <a:schemeClr val="accent1"/>
              </a:solidFill>
            </a:endParaRPr>
          </a:p>
        </p:txBody>
      </p:sp>
      <p:grpSp>
        <p:nvGrpSpPr>
          <p:cNvPr id="4099" name="Group 45"/>
          <p:cNvGrpSpPr>
            <a:grpSpLocks/>
          </p:cNvGrpSpPr>
          <p:nvPr/>
        </p:nvGrpSpPr>
        <p:grpSpPr bwMode="auto">
          <a:xfrm>
            <a:off x="1701800" y="2627313"/>
            <a:ext cx="6326188" cy="3389312"/>
            <a:chOff x="1072" y="1655"/>
            <a:chExt cx="3985" cy="2135"/>
          </a:xfrm>
        </p:grpSpPr>
        <p:sp>
          <p:nvSpPr>
            <p:cNvPr id="4100" name="Rectangle 4"/>
            <p:cNvSpPr>
              <a:spLocks noChangeArrowheads="1"/>
            </p:cNvSpPr>
            <p:nvPr/>
          </p:nvSpPr>
          <p:spPr bwMode="auto">
            <a:xfrm>
              <a:off x="3593" y="1689"/>
              <a:ext cx="602" cy="2056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01" name="Line 5"/>
            <p:cNvSpPr>
              <a:spLocks noChangeShapeType="1"/>
            </p:cNvSpPr>
            <p:nvPr/>
          </p:nvSpPr>
          <p:spPr bwMode="auto">
            <a:xfrm>
              <a:off x="3593" y="1895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" name="Line 6"/>
            <p:cNvSpPr>
              <a:spLocks noChangeShapeType="1"/>
            </p:cNvSpPr>
            <p:nvPr/>
          </p:nvSpPr>
          <p:spPr bwMode="auto">
            <a:xfrm>
              <a:off x="3593" y="2100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" name="Line 7"/>
            <p:cNvSpPr>
              <a:spLocks noChangeShapeType="1"/>
            </p:cNvSpPr>
            <p:nvPr/>
          </p:nvSpPr>
          <p:spPr bwMode="auto">
            <a:xfrm>
              <a:off x="3593" y="2306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4" name="Line 8"/>
            <p:cNvSpPr>
              <a:spLocks noChangeShapeType="1"/>
            </p:cNvSpPr>
            <p:nvPr/>
          </p:nvSpPr>
          <p:spPr bwMode="auto">
            <a:xfrm>
              <a:off x="3593" y="2512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>
              <a:off x="3593" y="2717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>
              <a:off x="3593" y="2923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Line 11"/>
            <p:cNvSpPr>
              <a:spLocks noChangeShapeType="1"/>
            </p:cNvSpPr>
            <p:nvPr/>
          </p:nvSpPr>
          <p:spPr bwMode="auto">
            <a:xfrm>
              <a:off x="3593" y="3128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8" name="Line 12"/>
            <p:cNvSpPr>
              <a:spLocks noChangeShapeType="1"/>
            </p:cNvSpPr>
            <p:nvPr/>
          </p:nvSpPr>
          <p:spPr bwMode="auto">
            <a:xfrm>
              <a:off x="3593" y="3334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>
              <a:off x="3593" y="3539"/>
              <a:ext cx="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0" name="Text Box 14"/>
            <p:cNvSpPr txBox="1">
              <a:spLocks noChangeArrowheads="1"/>
            </p:cNvSpPr>
            <p:nvPr/>
          </p:nvSpPr>
          <p:spPr bwMode="auto">
            <a:xfrm>
              <a:off x="4195" y="1724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0</a:t>
              </a:r>
            </a:p>
          </p:txBody>
        </p:sp>
        <p:sp>
          <p:nvSpPr>
            <p:cNvPr id="4111" name="Text Box 15"/>
            <p:cNvSpPr txBox="1">
              <a:spLocks noChangeArrowheads="1"/>
            </p:cNvSpPr>
            <p:nvPr/>
          </p:nvSpPr>
          <p:spPr bwMode="auto">
            <a:xfrm>
              <a:off x="4195" y="3540"/>
              <a:ext cx="392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m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–1</a:t>
              </a:r>
              <a:endParaRPr lang="en-US" altLang="zh-CN" sz="2000" i="1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12" name="Text Box 16"/>
            <p:cNvSpPr txBox="1">
              <a:spLocks noChangeArrowheads="1"/>
            </p:cNvSpPr>
            <p:nvPr/>
          </p:nvSpPr>
          <p:spPr bwMode="auto">
            <a:xfrm>
              <a:off x="4232" y="2100"/>
              <a:ext cx="425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h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(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2000" baseline="-25000">
                  <a:latin typeface="Times New Roman" pitchFamily="18" charset="0"/>
                  <a:ea typeface="SimSun" pitchFamily="2" charset="-122"/>
                </a:rPr>
                <a:t>1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)</a:t>
              </a:r>
              <a:endParaRPr lang="en-US" altLang="zh-CN" sz="2000" i="1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13" name="Text Box 17"/>
            <p:cNvSpPr txBox="1">
              <a:spLocks noChangeArrowheads="1"/>
            </p:cNvSpPr>
            <p:nvPr/>
          </p:nvSpPr>
          <p:spPr bwMode="auto">
            <a:xfrm>
              <a:off x="4232" y="2340"/>
              <a:ext cx="425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h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(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2000" baseline="-25000">
                  <a:latin typeface="Times New Roman" pitchFamily="18" charset="0"/>
                  <a:ea typeface="SimSun" pitchFamily="2" charset="-122"/>
                </a:rPr>
                <a:t>4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)</a:t>
              </a:r>
              <a:endParaRPr lang="en-US" altLang="zh-CN" sz="2000" i="1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14" name="Text Box 18"/>
            <p:cNvSpPr txBox="1">
              <a:spLocks noChangeArrowheads="1"/>
            </p:cNvSpPr>
            <p:nvPr/>
          </p:nvSpPr>
          <p:spPr bwMode="auto">
            <a:xfrm>
              <a:off x="4233" y="2717"/>
              <a:ext cx="8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h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(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2000" baseline="-25000">
                  <a:latin typeface="Times New Roman" pitchFamily="18" charset="0"/>
                  <a:ea typeface="SimSun" pitchFamily="2" charset="-122"/>
                </a:rPr>
                <a:t>2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)=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h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(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2000" baseline="-25000">
                  <a:latin typeface="Times New Roman" pitchFamily="18" charset="0"/>
                  <a:ea typeface="SimSun" pitchFamily="2" charset="-122"/>
                </a:rPr>
                <a:t>5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)</a:t>
              </a:r>
            </a:p>
          </p:txBody>
        </p:sp>
        <p:sp>
          <p:nvSpPr>
            <p:cNvPr id="4115" name="Text Box 19"/>
            <p:cNvSpPr txBox="1">
              <a:spLocks noChangeArrowheads="1"/>
            </p:cNvSpPr>
            <p:nvPr/>
          </p:nvSpPr>
          <p:spPr bwMode="auto">
            <a:xfrm>
              <a:off x="4233" y="3129"/>
              <a:ext cx="425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h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(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2000" baseline="-25000">
                  <a:latin typeface="Times New Roman" pitchFamily="18" charset="0"/>
                  <a:ea typeface="SimSun" pitchFamily="2" charset="-122"/>
                </a:rPr>
                <a:t>3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)</a:t>
              </a:r>
              <a:endParaRPr lang="en-US" altLang="zh-CN" sz="2000" i="1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16" name="Rectangle 20"/>
            <p:cNvSpPr>
              <a:spLocks noChangeArrowheads="1"/>
            </p:cNvSpPr>
            <p:nvPr/>
          </p:nvSpPr>
          <p:spPr bwMode="auto">
            <a:xfrm>
              <a:off x="3593" y="2100"/>
              <a:ext cx="602" cy="20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17" name="Rectangle 21"/>
            <p:cNvSpPr>
              <a:spLocks noChangeArrowheads="1"/>
            </p:cNvSpPr>
            <p:nvPr/>
          </p:nvSpPr>
          <p:spPr bwMode="auto">
            <a:xfrm>
              <a:off x="3593" y="2306"/>
              <a:ext cx="602" cy="20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18" name="Rectangle 22"/>
            <p:cNvSpPr>
              <a:spLocks noChangeArrowheads="1"/>
            </p:cNvSpPr>
            <p:nvPr/>
          </p:nvSpPr>
          <p:spPr bwMode="auto">
            <a:xfrm>
              <a:off x="3593" y="2717"/>
              <a:ext cx="602" cy="20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19" name="Rectangle 23"/>
            <p:cNvSpPr>
              <a:spLocks noChangeArrowheads="1"/>
            </p:cNvSpPr>
            <p:nvPr/>
          </p:nvSpPr>
          <p:spPr bwMode="auto">
            <a:xfrm>
              <a:off x="3593" y="3128"/>
              <a:ext cx="602" cy="20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1072" y="1655"/>
              <a:ext cx="1844" cy="1679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1298" y="2375"/>
              <a:ext cx="1317" cy="82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hangingPunct="0"/>
              <a:endParaRPr lang="zh-CN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2" name="Text Box 27"/>
            <p:cNvSpPr txBox="1">
              <a:spLocks noChangeArrowheads="1"/>
            </p:cNvSpPr>
            <p:nvPr/>
          </p:nvSpPr>
          <p:spPr bwMode="auto">
            <a:xfrm>
              <a:off x="1331" y="1895"/>
              <a:ext cx="1269" cy="48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latin typeface="Times New Roman" pitchFamily="18" charset="0"/>
                  <a:ea typeface="SimSun" pitchFamily="2" charset="-122"/>
                </a:rPr>
                <a:t>U</a:t>
              </a:r>
            </a:p>
            <a:p>
              <a:pPr eaLnBrk="0" hangingPunct="0"/>
              <a:r>
                <a:rPr lang="en-US" altLang="zh-CN" sz="2000" b="1">
                  <a:latin typeface="Times New Roman" pitchFamily="18" charset="0"/>
                  <a:ea typeface="SimSun" pitchFamily="2" charset="-122"/>
                </a:rPr>
                <a:t>(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universe of keys)</a:t>
              </a:r>
              <a:endParaRPr lang="en-US" altLang="zh-CN" sz="2000" b="1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3" name="Text Box 29"/>
            <p:cNvSpPr txBox="1">
              <a:spLocks noChangeArrowheads="1"/>
            </p:cNvSpPr>
            <p:nvPr/>
          </p:nvSpPr>
          <p:spPr bwMode="auto">
            <a:xfrm>
              <a:off x="1292" y="2432"/>
              <a:ext cx="508" cy="57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 i="1">
                  <a:latin typeface="Times New Roman" pitchFamily="18" charset="0"/>
                  <a:ea typeface="SimSun" pitchFamily="2" charset="-122"/>
                </a:rPr>
                <a:t>K</a:t>
              </a:r>
            </a:p>
            <a:p>
              <a:pPr eaLnBrk="0" hangingPunct="0"/>
              <a:r>
                <a:rPr lang="en-US" altLang="zh-CN" sz="1800">
                  <a:latin typeface="Times New Roman" pitchFamily="18" charset="0"/>
                  <a:ea typeface="SimSun" pitchFamily="2" charset="-122"/>
                </a:rPr>
                <a:t>(actual</a:t>
              </a:r>
            </a:p>
            <a:p>
              <a:pPr eaLnBrk="0" hangingPunct="0"/>
              <a:r>
                <a:rPr lang="en-US" altLang="zh-CN" sz="1800">
                  <a:latin typeface="Times New Roman" pitchFamily="18" charset="0"/>
                  <a:ea typeface="SimSun" pitchFamily="2" charset="-122"/>
                </a:rPr>
                <a:t>keys)</a:t>
              </a:r>
            </a:p>
          </p:txBody>
        </p:sp>
        <p:sp>
          <p:nvSpPr>
            <p:cNvPr id="4124" name="Oval 33"/>
            <p:cNvSpPr>
              <a:spLocks noChangeArrowheads="1"/>
            </p:cNvSpPr>
            <p:nvPr/>
          </p:nvSpPr>
          <p:spPr bwMode="auto">
            <a:xfrm>
              <a:off x="1825" y="2546"/>
              <a:ext cx="37" cy="3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5" name="Oval 34"/>
            <p:cNvSpPr>
              <a:spLocks noChangeArrowheads="1"/>
            </p:cNvSpPr>
            <p:nvPr/>
          </p:nvSpPr>
          <p:spPr bwMode="auto">
            <a:xfrm>
              <a:off x="2201" y="2614"/>
              <a:ext cx="38" cy="35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6" name="Oval 35"/>
            <p:cNvSpPr>
              <a:spLocks noChangeArrowheads="1"/>
            </p:cNvSpPr>
            <p:nvPr/>
          </p:nvSpPr>
          <p:spPr bwMode="auto">
            <a:xfrm>
              <a:off x="1900" y="2717"/>
              <a:ext cx="38" cy="3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7" name="Oval 36"/>
            <p:cNvSpPr>
              <a:spLocks noChangeArrowheads="1"/>
            </p:cNvSpPr>
            <p:nvPr/>
          </p:nvSpPr>
          <p:spPr bwMode="auto">
            <a:xfrm>
              <a:off x="2201" y="2820"/>
              <a:ext cx="38" cy="3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8" name="Oval 37"/>
            <p:cNvSpPr>
              <a:spLocks noChangeArrowheads="1"/>
            </p:cNvSpPr>
            <p:nvPr/>
          </p:nvSpPr>
          <p:spPr bwMode="auto">
            <a:xfrm>
              <a:off x="1900" y="2923"/>
              <a:ext cx="38" cy="3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4129" name="Text Box 38"/>
            <p:cNvSpPr txBox="1">
              <a:spLocks noChangeArrowheads="1"/>
            </p:cNvSpPr>
            <p:nvPr/>
          </p:nvSpPr>
          <p:spPr bwMode="auto">
            <a:xfrm>
              <a:off x="1712" y="2512"/>
              <a:ext cx="217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16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1600" baseline="-25000">
                  <a:latin typeface="Times New Roman" pitchFamily="18" charset="0"/>
                  <a:ea typeface="SimSun" pitchFamily="2" charset="-122"/>
                </a:rPr>
                <a:t>1</a:t>
              </a:r>
            </a:p>
          </p:txBody>
        </p:sp>
        <p:sp>
          <p:nvSpPr>
            <p:cNvPr id="4130" name="Text Box 40"/>
            <p:cNvSpPr txBox="1">
              <a:spLocks noChangeArrowheads="1"/>
            </p:cNvSpPr>
            <p:nvPr/>
          </p:nvSpPr>
          <p:spPr bwMode="auto">
            <a:xfrm>
              <a:off x="1749" y="2683"/>
              <a:ext cx="217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16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1600" baseline="-25000">
                  <a:latin typeface="Times New Roman" pitchFamily="18" charset="0"/>
                  <a:ea typeface="SimSun" pitchFamily="2" charset="-122"/>
                </a:rPr>
                <a:t>2</a:t>
              </a:r>
            </a:p>
          </p:txBody>
        </p:sp>
        <p:sp>
          <p:nvSpPr>
            <p:cNvPr id="4131" name="Text Box 41"/>
            <p:cNvSpPr txBox="1">
              <a:spLocks noChangeArrowheads="1"/>
            </p:cNvSpPr>
            <p:nvPr/>
          </p:nvSpPr>
          <p:spPr bwMode="auto">
            <a:xfrm>
              <a:off x="1862" y="2923"/>
              <a:ext cx="217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16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1600" baseline="-25000">
                  <a:latin typeface="Times New Roman" pitchFamily="18" charset="0"/>
                  <a:ea typeface="SimSun" pitchFamily="2" charset="-122"/>
                </a:rPr>
                <a:t>3</a:t>
              </a:r>
            </a:p>
          </p:txBody>
        </p:sp>
        <p:sp>
          <p:nvSpPr>
            <p:cNvPr id="4132" name="Text Box 42"/>
            <p:cNvSpPr txBox="1">
              <a:spLocks noChangeArrowheads="1"/>
            </p:cNvSpPr>
            <p:nvPr/>
          </p:nvSpPr>
          <p:spPr bwMode="auto">
            <a:xfrm>
              <a:off x="2163" y="2820"/>
              <a:ext cx="217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16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1600" baseline="-25000">
                  <a:latin typeface="Times New Roman" pitchFamily="18" charset="0"/>
                  <a:ea typeface="SimSun" pitchFamily="2" charset="-122"/>
                </a:rPr>
                <a:t>5</a:t>
              </a:r>
            </a:p>
          </p:txBody>
        </p:sp>
        <p:sp>
          <p:nvSpPr>
            <p:cNvPr id="4133" name="Text Box 43"/>
            <p:cNvSpPr txBox="1">
              <a:spLocks noChangeArrowheads="1"/>
            </p:cNvSpPr>
            <p:nvPr/>
          </p:nvSpPr>
          <p:spPr bwMode="auto">
            <a:xfrm>
              <a:off x="2050" y="2546"/>
              <a:ext cx="217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1600" i="1">
                  <a:latin typeface="Times New Roman" pitchFamily="18" charset="0"/>
                  <a:ea typeface="SimSun" pitchFamily="2" charset="-122"/>
                </a:rPr>
                <a:t>k</a:t>
              </a:r>
              <a:r>
                <a:rPr lang="en-US" altLang="zh-CN" sz="1600" baseline="-25000">
                  <a:latin typeface="Times New Roman" pitchFamily="18" charset="0"/>
                  <a:ea typeface="SimSun" pitchFamily="2" charset="-122"/>
                </a:rPr>
                <a:t>4</a:t>
              </a:r>
            </a:p>
          </p:txBody>
        </p:sp>
        <p:sp>
          <p:nvSpPr>
            <p:cNvPr id="4134" name="Line 44"/>
            <p:cNvSpPr>
              <a:spLocks noChangeShapeType="1"/>
            </p:cNvSpPr>
            <p:nvPr/>
          </p:nvSpPr>
          <p:spPr bwMode="auto">
            <a:xfrm flipV="1">
              <a:off x="1862" y="2203"/>
              <a:ext cx="1731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45"/>
            <p:cNvSpPr>
              <a:spLocks noChangeShapeType="1"/>
            </p:cNvSpPr>
            <p:nvPr/>
          </p:nvSpPr>
          <p:spPr bwMode="auto">
            <a:xfrm flipV="1">
              <a:off x="2239" y="2409"/>
              <a:ext cx="1354" cy="2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50"/>
            <p:cNvSpPr>
              <a:spLocks noChangeShapeType="1"/>
            </p:cNvSpPr>
            <p:nvPr/>
          </p:nvSpPr>
          <p:spPr bwMode="auto">
            <a:xfrm>
              <a:off x="1938" y="2957"/>
              <a:ext cx="1655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51"/>
            <p:cNvSpPr>
              <a:spLocks noChangeShapeType="1"/>
            </p:cNvSpPr>
            <p:nvPr/>
          </p:nvSpPr>
          <p:spPr bwMode="auto">
            <a:xfrm>
              <a:off x="1900" y="2751"/>
              <a:ext cx="1693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52"/>
            <p:cNvSpPr>
              <a:spLocks noChangeShapeType="1"/>
            </p:cNvSpPr>
            <p:nvPr/>
          </p:nvSpPr>
          <p:spPr bwMode="auto">
            <a:xfrm>
              <a:off x="2201" y="2820"/>
              <a:ext cx="1392" cy="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Text Box 53"/>
            <p:cNvSpPr txBox="1">
              <a:spLocks noChangeArrowheads="1"/>
            </p:cNvSpPr>
            <p:nvPr/>
          </p:nvSpPr>
          <p:spPr bwMode="auto">
            <a:xfrm>
              <a:off x="2871" y="2659"/>
              <a:ext cx="689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zh-CN" sz="2000" b="1">
                  <a:solidFill>
                    <a:srgbClr val="CC3300"/>
                  </a:solidFill>
                  <a:latin typeface="Arial Narrow" pitchFamily="34" charset="0"/>
                  <a:ea typeface="SimSun" pitchFamily="2" charset="-122"/>
                </a:rPr>
                <a:t>collision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Hash table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513"/>
            <a:ext cx="8640960" cy="4343400"/>
          </a:xfrm>
        </p:spPr>
        <p:txBody>
          <a:bodyPr/>
          <a:lstStyle/>
          <a:p>
            <a:r>
              <a:rPr lang="en-US" sz="2400" b="1" dirty="0"/>
              <a:t>Linked List/ Array: </a:t>
            </a:r>
            <a:r>
              <a:rPr lang="en-US" sz="2400" dirty="0"/>
              <a:t>O(n) times for searching an element in the list</a:t>
            </a:r>
          </a:p>
          <a:p>
            <a:r>
              <a:rPr lang="en-US" sz="2400" b="1" dirty="0"/>
              <a:t>Hash table: </a:t>
            </a:r>
            <a:r>
              <a:rPr lang="en-US" sz="2400" dirty="0"/>
              <a:t>expected time for searching an  element is O(1)</a:t>
            </a:r>
          </a:p>
        </p:txBody>
      </p:sp>
    </p:spTree>
    <p:extLst>
      <p:ext uri="{BB962C8B-B14F-4D97-AF65-F5344CB8AC3E}">
        <p14:creationId xmlns:p14="http://schemas.microsoft.com/office/powerpoint/2010/main" val="57609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Direct-Address Tables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08050"/>
            <a:ext cx="8686800" cy="3297238"/>
          </a:xfrm>
        </p:spPr>
        <p:txBody>
          <a:bodyPr/>
          <a:lstStyle/>
          <a:p>
            <a:r>
              <a:rPr lang="en-US" altLang="zh-CN" sz="2400">
                <a:ea typeface="SimSun" pitchFamily="2" charset="-122"/>
              </a:rPr>
              <a:t>Direct-address Tables are </a:t>
            </a:r>
            <a:r>
              <a:rPr lang="en-US" altLang="zh-CN" sz="2400">
                <a:solidFill>
                  <a:srgbClr val="CC3300"/>
                </a:solidFill>
                <a:ea typeface="SimSun" pitchFamily="2" charset="-122"/>
              </a:rPr>
              <a:t>ordinary arrays</a:t>
            </a:r>
            <a:endParaRPr lang="en-US" altLang="zh-CN" sz="2400">
              <a:ea typeface="SimSun" pitchFamily="2" charset="-122"/>
            </a:endParaRPr>
          </a:p>
          <a:p>
            <a:r>
              <a:rPr lang="en-US" altLang="zh-CN" sz="2400">
                <a:solidFill>
                  <a:srgbClr val="CC3300"/>
                </a:solidFill>
                <a:ea typeface="SimSun" pitchFamily="2" charset="-122"/>
              </a:rPr>
              <a:t>Facilitate direct addressing</a:t>
            </a:r>
            <a:endParaRPr lang="en-US" altLang="zh-CN" sz="2400">
              <a:ea typeface="SimSun" pitchFamily="2" charset="-122"/>
            </a:endParaRPr>
          </a:p>
          <a:p>
            <a:pPr lvl="1"/>
            <a:r>
              <a:rPr lang="en-US" altLang="zh-CN" sz="2200">
                <a:ea typeface="SimSun" pitchFamily="2" charset="-122"/>
              </a:rPr>
              <a:t>Element whose key is </a:t>
            </a:r>
            <a:r>
              <a:rPr lang="en-US" altLang="zh-CN" sz="2200" i="1">
                <a:ea typeface="SimSun" pitchFamily="2" charset="-122"/>
              </a:rPr>
              <a:t>k</a:t>
            </a:r>
            <a:r>
              <a:rPr lang="en-US" altLang="zh-CN" sz="2200">
                <a:ea typeface="SimSun" pitchFamily="2" charset="-122"/>
              </a:rPr>
              <a:t> is obtained by indexing into the </a:t>
            </a:r>
            <a:r>
              <a:rPr lang="en-US" altLang="zh-CN" sz="2200" i="1">
                <a:ea typeface="SimSun" pitchFamily="2" charset="-122"/>
              </a:rPr>
              <a:t>k</a:t>
            </a:r>
            <a:r>
              <a:rPr lang="en-US" altLang="zh-CN" sz="2200" baseline="30000">
                <a:ea typeface="SimSun" pitchFamily="2" charset="-122"/>
              </a:rPr>
              <a:t>th</a:t>
            </a:r>
            <a:r>
              <a:rPr lang="en-US" altLang="zh-CN" sz="2200">
                <a:ea typeface="SimSun" pitchFamily="2" charset="-122"/>
              </a:rPr>
              <a:t> position of the array</a:t>
            </a:r>
          </a:p>
          <a:p>
            <a:r>
              <a:rPr lang="en-US" altLang="zh-CN" sz="2400">
                <a:solidFill>
                  <a:schemeClr val="hlink"/>
                </a:solidFill>
                <a:ea typeface="SimSun" pitchFamily="2" charset="-122"/>
              </a:rPr>
              <a:t>Applicable</a:t>
            </a:r>
            <a:r>
              <a:rPr lang="en-US" altLang="zh-CN" sz="2400">
                <a:ea typeface="SimSun" pitchFamily="2" charset="-122"/>
              </a:rPr>
              <a:t> when we can afford to allocate an array with one position for every possible key</a:t>
            </a:r>
          </a:p>
          <a:p>
            <a:pPr lvl="1"/>
            <a:r>
              <a:rPr lang="en-US" altLang="zh-CN" sz="2200">
                <a:ea typeface="SimSun" pitchFamily="2" charset="-122"/>
              </a:rPr>
              <a:t>i.e. </a:t>
            </a:r>
            <a:r>
              <a:rPr lang="en-US" altLang="zh-CN" sz="2200">
                <a:solidFill>
                  <a:schemeClr val="hlink"/>
                </a:solidFill>
                <a:ea typeface="SimSun" pitchFamily="2" charset="-122"/>
              </a:rPr>
              <a:t>when the universe of keys </a:t>
            </a:r>
            <a:r>
              <a:rPr lang="en-US" altLang="zh-CN" sz="2200" i="1">
                <a:solidFill>
                  <a:schemeClr val="hlink"/>
                </a:solidFill>
                <a:ea typeface="SimSun" pitchFamily="2" charset="-122"/>
              </a:rPr>
              <a:t>U </a:t>
            </a:r>
            <a:r>
              <a:rPr lang="en-US" altLang="zh-CN" sz="2200">
                <a:solidFill>
                  <a:schemeClr val="hlink"/>
                </a:solidFill>
                <a:ea typeface="SimSun" pitchFamily="2" charset="-122"/>
              </a:rPr>
              <a:t>is small</a:t>
            </a:r>
            <a:endParaRPr lang="en-US" altLang="zh-CN" sz="2200">
              <a:ea typeface="SimSun" pitchFamily="2" charset="-122"/>
            </a:endParaRPr>
          </a:p>
          <a:p>
            <a:r>
              <a:rPr lang="en-US" altLang="zh-CN" sz="2400">
                <a:solidFill>
                  <a:srgbClr val="CC3300"/>
                </a:solidFill>
                <a:ea typeface="SimSun" pitchFamily="2" charset="-122"/>
              </a:rPr>
              <a:t>Dictionary operations</a:t>
            </a:r>
            <a:r>
              <a:rPr lang="en-US" altLang="zh-CN" sz="2400">
                <a:ea typeface="SimSun" pitchFamily="2" charset="-122"/>
              </a:rPr>
              <a:t> can be implemented to take </a:t>
            </a:r>
            <a:r>
              <a:rPr lang="en-US" altLang="zh-CN" sz="2400" i="1">
                <a:solidFill>
                  <a:srgbClr val="CC3300"/>
                </a:solidFill>
                <a:ea typeface="SimSun" pitchFamily="2" charset="-122"/>
              </a:rPr>
              <a:t>O</a:t>
            </a:r>
            <a:r>
              <a:rPr lang="en-US" altLang="zh-CN" sz="2400">
                <a:solidFill>
                  <a:srgbClr val="CC3300"/>
                </a:solidFill>
                <a:ea typeface="SimSun" pitchFamily="2" charset="-122"/>
              </a:rPr>
              <a:t>(1) time</a:t>
            </a:r>
            <a:endParaRPr lang="en-US" altLang="zh-CN" sz="2400">
              <a:ea typeface="SimSun" pitchFamily="2" charset="-122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713" y="4205288"/>
            <a:ext cx="5586412" cy="2652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Suppose:</a:t>
            </a:r>
          </a:p>
          <a:p>
            <a:pPr lvl="1"/>
            <a:r>
              <a:rPr lang="en-US"/>
              <a:t>The range of keys is 0..</a:t>
            </a:r>
            <a:r>
              <a:rPr lang="en-US" i="1"/>
              <a:t>m</a:t>
            </a:r>
            <a:r>
              <a:rPr lang="en-US"/>
              <a:t>-1 </a:t>
            </a:r>
          </a:p>
          <a:p>
            <a:pPr lvl="1"/>
            <a:r>
              <a:rPr lang="en-US"/>
              <a:t>Keys are distinct</a:t>
            </a:r>
          </a:p>
          <a:p>
            <a:r>
              <a:rPr lang="en-US"/>
              <a:t>The idea:</a:t>
            </a:r>
          </a:p>
          <a:p>
            <a:pPr lvl="1"/>
            <a:r>
              <a:rPr lang="en-US"/>
              <a:t>Set up an array T[0..m-1] in which </a:t>
            </a:r>
          </a:p>
          <a:p>
            <a:pPr lvl="2"/>
            <a:r>
              <a:rPr lang="en-US"/>
              <a:t>T[</a:t>
            </a:r>
            <a:r>
              <a:rPr lang="en-US" i="1"/>
              <a:t>i</a:t>
            </a:r>
            <a:r>
              <a:rPr lang="en-US"/>
              <a:t>] = </a:t>
            </a:r>
            <a:r>
              <a:rPr lang="en-US" i="1"/>
              <a:t>x		</a:t>
            </a:r>
            <a:r>
              <a:rPr lang="en-US"/>
              <a:t>if </a:t>
            </a:r>
            <a:r>
              <a:rPr lang="en-US" i="1"/>
              <a:t>x</a:t>
            </a:r>
            <a:r>
              <a:rPr lang="en-US">
                <a:sym typeface="Symbol" pitchFamily="18" charset="2"/>
              </a:rPr>
              <a:t> </a:t>
            </a:r>
            <a:r>
              <a:rPr lang="en-US" i="1">
                <a:sym typeface="Symbol" pitchFamily="18" charset="2"/>
              </a:rPr>
              <a:t>T </a:t>
            </a:r>
            <a:r>
              <a:rPr lang="en-US">
                <a:sym typeface="Symbol" pitchFamily="18" charset="2"/>
              </a:rPr>
              <a:t> and key[</a:t>
            </a:r>
            <a:r>
              <a:rPr lang="en-US" i="1">
                <a:sym typeface="Symbol" pitchFamily="18" charset="2"/>
              </a:rPr>
              <a:t>x</a:t>
            </a:r>
            <a:r>
              <a:rPr lang="en-US">
                <a:sym typeface="Symbol" pitchFamily="18" charset="2"/>
              </a:rPr>
              <a:t>] = </a:t>
            </a:r>
            <a:r>
              <a:rPr lang="en-US" i="1">
                <a:sym typeface="Symbol" pitchFamily="18" charset="2"/>
              </a:rPr>
              <a:t>i</a:t>
            </a:r>
          </a:p>
          <a:p>
            <a:pPr lvl="2"/>
            <a:r>
              <a:rPr lang="en-US"/>
              <a:t>T[</a:t>
            </a:r>
            <a:r>
              <a:rPr lang="en-US" i="1"/>
              <a:t>i</a:t>
            </a:r>
            <a:r>
              <a:rPr lang="en-US"/>
              <a:t>] = NULL		otherwise</a:t>
            </a:r>
          </a:p>
          <a:p>
            <a:pPr lvl="1"/>
            <a:r>
              <a:rPr lang="en-US"/>
              <a:t>This is called a </a:t>
            </a:r>
            <a:r>
              <a:rPr lang="en-US" i="1">
                <a:solidFill>
                  <a:schemeClr val="tx2"/>
                </a:solidFill>
              </a:rPr>
              <a:t>direct-address table</a:t>
            </a:r>
            <a:endParaRPr lang="en-US"/>
          </a:p>
          <a:p>
            <a:pPr lvl="2"/>
            <a:r>
              <a:rPr lang="en-US"/>
              <a:t>Operations take O(1) time !</a:t>
            </a:r>
          </a:p>
          <a:p>
            <a:pPr lvl="2"/>
            <a:r>
              <a:rPr lang="en-US" i="1">
                <a:solidFill>
                  <a:schemeClr val="accent1"/>
                </a:solidFill>
              </a:rPr>
              <a:t>So what’s the problem?</a:t>
            </a: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0" hangingPunct="0"/>
            <a:r>
              <a:rPr lang="en-US" altLang="zh-CN" sz="3600">
                <a:solidFill>
                  <a:schemeClr val="tx2"/>
                </a:solidFill>
                <a:latin typeface="Arial" charset="0"/>
                <a:ea typeface="SimSun" pitchFamily="2" charset="-122"/>
              </a:rPr>
              <a:t>Direct-Address Tables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/>
              <a:t>Direct addressing works well when the range </a:t>
            </a:r>
            <a:r>
              <a:rPr lang="en-US" i="1" dirty="0"/>
              <a:t>m</a:t>
            </a:r>
            <a:r>
              <a:rPr lang="en-US" dirty="0"/>
              <a:t> of keys is relatively small</a:t>
            </a:r>
          </a:p>
          <a:p>
            <a:r>
              <a:rPr lang="en-US" dirty="0"/>
              <a:t>But what if the keys are 32-bit integers?</a:t>
            </a:r>
          </a:p>
          <a:p>
            <a:pPr lvl="1"/>
            <a:r>
              <a:rPr lang="en-US" dirty="0"/>
              <a:t>Problem 1: direct-address table will have </a:t>
            </a:r>
            <a:br>
              <a:rPr lang="en-US" dirty="0"/>
            </a:br>
            <a:r>
              <a:rPr lang="en-US" dirty="0"/>
              <a:t>2</a:t>
            </a:r>
            <a:r>
              <a:rPr lang="en-US" baseline="30000" dirty="0"/>
              <a:t>32</a:t>
            </a:r>
            <a:r>
              <a:rPr lang="en-US" dirty="0"/>
              <a:t> entries,  more than 4 billion</a:t>
            </a:r>
          </a:p>
          <a:p>
            <a:pPr lvl="1"/>
            <a:r>
              <a:rPr lang="en-US" dirty="0"/>
              <a:t>Problem 2: even if memory is not an issue, the time to initialize the elements to NULL may take a lot of time</a:t>
            </a:r>
          </a:p>
          <a:p>
            <a:r>
              <a:rPr lang="en-US" dirty="0"/>
              <a:t>Solution: map keys to smaller range 0..</a:t>
            </a:r>
            <a:r>
              <a:rPr lang="en-US" i="1" dirty="0"/>
              <a:t>m</a:t>
            </a:r>
            <a:r>
              <a:rPr lang="en-US" dirty="0"/>
              <a:t>-1</a:t>
            </a:r>
          </a:p>
          <a:p>
            <a:r>
              <a:rPr lang="en-US" dirty="0"/>
              <a:t>This mapping is called a </a:t>
            </a:r>
            <a:r>
              <a:rPr lang="en-US" i="1" dirty="0">
                <a:solidFill>
                  <a:schemeClr val="tx2"/>
                </a:solidFill>
              </a:rPr>
              <a:t>hash function</a:t>
            </a:r>
            <a:r>
              <a:rPr lang="en-US" dirty="0"/>
              <a:t> </a:t>
            </a: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0" hangingPunct="0"/>
            <a:r>
              <a:rPr lang="en-US" altLang="zh-CN" sz="3600">
                <a:solidFill>
                  <a:schemeClr val="tx2"/>
                </a:solidFill>
                <a:latin typeface="Arial" charset="0"/>
                <a:ea typeface="SimSun" pitchFamily="2" charset="-122"/>
              </a:rPr>
              <a:t>Direct-Address Tables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Hash Tables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3"/>
            <a:ext cx="8229600" cy="4968875"/>
          </a:xfrm>
        </p:spPr>
        <p:txBody>
          <a:bodyPr/>
          <a:lstStyle/>
          <a:p>
            <a:r>
              <a:rPr lang="en-US" dirty="0"/>
              <a:t>Motivation: symbol tables</a:t>
            </a:r>
          </a:p>
          <a:p>
            <a:pPr lvl="1"/>
            <a:r>
              <a:rPr lang="en-US" dirty="0"/>
              <a:t>A compiler uses a </a:t>
            </a:r>
            <a:r>
              <a:rPr lang="en-US" i="1" dirty="0">
                <a:solidFill>
                  <a:schemeClr val="tx2"/>
                </a:solidFill>
              </a:rPr>
              <a:t>symbol table</a:t>
            </a:r>
            <a:r>
              <a:rPr lang="en-US" dirty="0"/>
              <a:t> to relate symbols to associated data</a:t>
            </a:r>
          </a:p>
          <a:p>
            <a:pPr lvl="2"/>
            <a:r>
              <a:rPr lang="en-US" dirty="0"/>
              <a:t>Symbols: variable names, procedure names, etc.</a:t>
            </a:r>
          </a:p>
          <a:p>
            <a:pPr lvl="2"/>
            <a:r>
              <a:rPr lang="en-US" dirty="0"/>
              <a:t>Associated data: memory location, call graph, etc.</a:t>
            </a:r>
          </a:p>
          <a:p>
            <a:pPr lvl="1"/>
            <a:r>
              <a:rPr lang="en-US" dirty="0"/>
              <a:t>For a symbol table (also called a </a:t>
            </a:r>
            <a:r>
              <a:rPr lang="en-US" i="1" dirty="0"/>
              <a:t>dictionary</a:t>
            </a:r>
            <a:r>
              <a:rPr lang="en-US" dirty="0"/>
              <a:t>), we care about search, insertion, and deletion</a:t>
            </a:r>
          </a:p>
          <a:p>
            <a:pPr lvl="1"/>
            <a:r>
              <a:rPr lang="en-US" dirty="0"/>
              <a:t>We want these to be fast, but don’t care about sorted order</a:t>
            </a:r>
          </a:p>
          <a:p>
            <a:endParaRPr lang="en-US" dirty="0"/>
          </a:p>
          <a:p>
            <a:r>
              <a:rPr lang="en-US" dirty="0"/>
              <a:t>The structure we will use is a </a:t>
            </a:r>
            <a:r>
              <a:rPr lang="en-US" i="1" dirty="0">
                <a:solidFill>
                  <a:schemeClr val="tx2"/>
                </a:solidFill>
              </a:rPr>
              <a:t>hash table</a:t>
            </a:r>
            <a:endParaRPr lang="en-US" dirty="0"/>
          </a:p>
          <a:p>
            <a:pPr lvl="1"/>
            <a:r>
              <a:rPr lang="en-US" dirty="0"/>
              <a:t>Supports all the above in O(1) </a:t>
            </a:r>
            <a:r>
              <a:rPr lang="en-US" dirty="0">
                <a:solidFill>
                  <a:srgbClr val="008000"/>
                </a:solidFill>
              </a:rPr>
              <a:t>expected time</a:t>
            </a:r>
            <a:r>
              <a:rPr lang="en-US" dirty="0"/>
              <a:t>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Hash Tables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990600"/>
            <a:ext cx="8235950" cy="4743450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CC3300"/>
                </a:solidFill>
                <a:ea typeface="SimSun" pitchFamily="2" charset="-122"/>
              </a:rPr>
              <a:t>Notation:</a:t>
            </a:r>
          </a:p>
          <a:p>
            <a:pPr lvl="1"/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U</a:t>
            </a:r>
            <a:r>
              <a:rPr lang="en-US" altLang="zh-CN" dirty="0">
                <a:ea typeface="SimSun" pitchFamily="2" charset="-122"/>
              </a:rPr>
              <a:t> : Universe of all possible keys.</a:t>
            </a:r>
          </a:p>
          <a:p>
            <a:pPr lvl="1"/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 : Set of keys actually stored in the dictionary.</a:t>
            </a:r>
          </a:p>
          <a:p>
            <a:pPr lvl="1"/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|</a:t>
            </a:r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K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| = </a:t>
            </a:r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.</a:t>
            </a:r>
          </a:p>
          <a:p>
            <a:r>
              <a:rPr lang="en-US" altLang="zh-CN" sz="2400" dirty="0">
                <a:solidFill>
                  <a:srgbClr val="CC3300"/>
                </a:solidFill>
                <a:ea typeface="SimSun" pitchFamily="2" charset="-122"/>
              </a:rPr>
              <a:t>When U is very large</a:t>
            </a:r>
            <a:r>
              <a:rPr lang="en-US" altLang="zh-CN" sz="2400" dirty="0">
                <a:ea typeface="SimSun" pitchFamily="2" charset="-122"/>
              </a:rPr>
              <a:t>,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Arrays are not practical.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|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| &lt;&lt; |</a:t>
            </a:r>
            <a:r>
              <a:rPr lang="en-US" altLang="zh-CN" i="1" dirty="0">
                <a:ea typeface="SimSun" pitchFamily="2" charset="-122"/>
              </a:rPr>
              <a:t>U</a:t>
            </a:r>
            <a:r>
              <a:rPr lang="en-US" altLang="zh-CN" dirty="0">
                <a:ea typeface="SimSun" pitchFamily="2" charset="-122"/>
              </a:rPr>
              <a:t>|.</a:t>
            </a:r>
          </a:p>
          <a:p>
            <a:r>
              <a:rPr lang="en-US" altLang="zh-CN" sz="2400" dirty="0">
                <a:ea typeface="SimSun" pitchFamily="2" charset="-122"/>
              </a:rPr>
              <a:t>Use a table of size proportional to |</a:t>
            </a:r>
            <a:r>
              <a:rPr lang="en-US" altLang="zh-CN" sz="2400" i="1" dirty="0">
                <a:ea typeface="SimSun" pitchFamily="2" charset="-122"/>
              </a:rPr>
              <a:t>K</a:t>
            </a:r>
            <a:r>
              <a:rPr lang="en-US" altLang="zh-CN" sz="2400" dirty="0">
                <a:ea typeface="SimSun" pitchFamily="2" charset="-122"/>
              </a:rPr>
              <a:t>| – </a:t>
            </a:r>
            <a:r>
              <a:rPr lang="en-US" altLang="zh-CN" sz="2400" dirty="0">
                <a:solidFill>
                  <a:srgbClr val="CC3300"/>
                </a:solidFill>
                <a:ea typeface="SimSun" pitchFamily="2" charset="-122"/>
              </a:rPr>
              <a:t>The hash tables</a:t>
            </a:r>
            <a:r>
              <a:rPr lang="en-US" altLang="zh-CN" sz="2400" dirty="0">
                <a:ea typeface="SimSun" pitchFamily="2" charset="-122"/>
              </a:rPr>
              <a:t>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However, we lose the direct-addressing ability.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Define functions that map keys to slots of the hash table.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Hashing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206500"/>
            <a:ext cx="8164512" cy="3230563"/>
          </a:xfrm>
        </p:spPr>
        <p:txBody>
          <a:bodyPr/>
          <a:lstStyle/>
          <a:p>
            <a:r>
              <a:rPr lang="en-US" altLang="zh-CN" dirty="0">
                <a:solidFill>
                  <a:srgbClr val="CC3300"/>
                </a:solidFill>
                <a:ea typeface="SimSun" pitchFamily="2" charset="-122"/>
              </a:rPr>
              <a:t>Hash function </a:t>
            </a:r>
            <a:r>
              <a:rPr lang="en-US" altLang="zh-CN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dirty="0">
                <a:solidFill>
                  <a:srgbClr val="CC3300"/>
                </a:solidFill>
                <a:ea typeface="SimSun" pitchFamily="2" charset="-122"/>
              </a:rPr>
              <a:t>:</a:t>
            </a:r>
            <a:r>
              <a:rPr lang="en-US" altLang="zh-CN" dirty="0">
                <a:ea typeface="SimSun" pitchFamily="2" charset="-122"/>
              </a:rPr>
              <a:t> Mapping from </a:t>
            </a:r>
            <a:r>
              <a:rPr lang="en-US" altLang="zh-CN" i="1" dirty="0">
                <a:ea typeface="SimSun" pitchFamily="2" charset="-122"/>
              </a:rPr>
              <a:t>U</a:t>
            </a:r>
            <a:r>
              <a:rPr lang="en-US" altLang="zh-CN" dirty="0">
                <a:ea typeface="SimSun" pitchFamily="2" charset="-122"/>
              </a:rPr>
              <a:t> to the slots of a hash table </a:t>
            </a:r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[0</a:t>
            </a:r>
            <a:r>
              <a:rPr lang="en-US" altLang="zh-CN" i="1" dirty="0">
                <a:ea typeface="SimSun" pitchFamily="2" charset="-122"/>
              </a:rPr>
              <a:t>..m</a:t>
            </a:r>
            <a:r>
              <a:rPr lang="en-US" altLang="zh-CN" dirty="0">
                <a:ea typeface="SimSun" pitchFamily="2" charset="-122"/>
              </a:rPr>
              <a:t>–1]</a:t>
            </a:r>
            <a:r>
              <a:rPr lang="en-US" altLang="zh-CN" i="1" dirty="0">
                <a:ea typeface="SimSun" pitchFamily="2" charset="-122"/>
              </a:rPr>
              <a:t>.</a:t>
            </a:r>
          </a:p>
          <a:p>
            <a:pPr lvl="1">
              <a:buFont typeface="Monotype Sorts" pitchFamily="2" charset="2"/>
              <a:buNone/>
            </a:pPr>
            <a:r>
              <a:rPr lang="en-US" altLang="zh-CN" i="1" dirty="0">
                <a:ea typeface="SimSun" pitchFamily="2" charset="-122"/>
              </a:rPr>
              <a:t>            </a:t>
            </a:r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h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 : </a:t>
            </a:r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U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 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  <a:sym typeface="Symbol" pitchFamily="18" charset="2"/>
              </a:rPr>
              <a:t>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 {0</a:t>
            </a:r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,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1</a:t>
            </a:r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,…, m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–1}</a:t>
            </a:r>
          </a:p>
          <a:p>
            <a:r>
              <a:rPr lang="en-US" altLang="zh-CN" dirty="0">
                <a:ea typeface="SimSun" pitchFamily="2" charset="-122"/>
              </a:rPr>
              <a:t>With arrays, key 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 maps to slot </a:t>
            </a:r>
            <a:r>
              <a:rPr lang="en-US" altLang="zh-CN" i="1" dirty="0">
                <a:ea typeface="SimSun" pitchFamily="2" charset="-122"/>
              </a:rPr>
              <a:t>A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].</a:t>
            </a:r>
          </a:p>
          <a:p>
            <a:r>
              <a:rPr lang="en-US" altLang="zh-CN" dirty="0">
                <a:ea typeface="SimSun" pitchFamily="2" charset="-122"/>
              </a:rPr>
              <a:t>With hash tables, key 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 maps or </a:t>
            </a:r>
            <a:r>
              <a:rPr lang="en-US" altLang="zh-CN" dirty="0">
                <a:solidFill>
                  <a:srgbClr val="CC3300"/>
                </a:solidFill>
                <a:ea typeface="SimSun" pitchFamily="2" charset="-122"/>
              </a:rPr>
              <a:t>“hashes”</a:t>
            </a:r>
            <a:r>
              <a:rPr lang="en-US" altLang="zh-CN" dirty="0">
                <a:ea typeface="SimSun" pitchFamily="2" charset="-122"/>
              </a:rPr>
              <a:t> to slot </a:t>
            </a:r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]].</a:t>
            </a:r>
          </a:p>
          <a:p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] is the </a:t>
            </a:r>
            <a:r>
              <a:rPr lang="en-US" altLang="zh-CN" i="1" dirty="0">
                <a:solidFill>
                  <a:srgbClr val="CC3300"/>
                </a:solidFill>
                <a:ea typeface="SimSun" pitchFamily="2" charset="-122"/>
              </a:rPr>
              <a:t>hash value</a:t>
            </a:r>
            <a:r>
              <a:rPr lang="en-US" altLang="zh-CN" dirty="0">
                <a:ea typeface="SimSun" pitchFamily="2" charset="-122"/>
              </a:rPr>
              <a:t> of key 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0100" y="228600"/>
            <a:ext cx="7681913" cy="463550"/>
          </a:xfrm>
        </p:spPr>
        <p:txBody>
          <a:bodyPr/>
          <a:lstStyle/>
          <a:p>
            <a:r>
              <a:rPr lang="en-US" altLang="zh-CN">
                <a:ea typeface="SimSun" pitchFamily="2" charset="-122"/>
              </a:rPr>
              <a:t>Hashing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6096000" y="1371600"/>
            <a:ext cx="1219200" cy="4572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292" name="Line 5"/>
          <p:cNvSpPr>
            <a:spLocks noChangeShapeType="1"/>
          </p:cNvSpPr>
          <p:nvPr/>
        </p:nvSpPr>
        <p:spPr bwMode="auto">
          <a:xfrm>
            <a:off x="6096000" y="18288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>
            <a:off x="6096000" y="2286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Line 7"/>
          <p:cNvSpPr>
            <a:spLocks noChangeShapeType="1"/>
          </p:cNvSpPr>
          <p:nvPr/>
        </p:nvSpPr>
        <p:spPr bwMode="auto">
          <a:xfrm>
            <a:off x="6096000" y="27432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>
            <a:off x="6096000" y="32004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9"/>
          <p:cNvSpPr>
            <a:spLocks noChangeShapeType="1"/>
          </p:cNvSpPr>
          <p:nvPr/>
        </p:nvSpPr>
        <p:spPr bwMode="auto">
          <a:xfrm>
            <a:off x="6096000" y="36576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10"/>
          <p:cNvSpPr>
            <a:spLocks noChangeShapeType="1"/>
          </p:cNvSpPr>
          <p:nvPr/>
        </p:nvSpPr>
        <p:spPr bwMode="auto">
          <a:xfrm>
            <a:off x="6096000" y="41148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11"/>
          <p:cNvSpPr>
            <a:spLocks noChangeShapeType="1"/>
          </p:cNvSpPr>
          <p:nvPr/>
        </p:nvSpPr>
        <p:spPr bwMode="auto">
          <a:xfrm>
            <a:off x="6096000" y="4572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2"/>
          <p:cNvSpPr>
            <a:spLocks noChangeShapeType="1"/>
          </p:cNvSpPr>
          <p:nvPr/>
        </p:nvSpPr>
        <p:spPr bwMode="auto">
          <a:xfrm>
            <a:off x="6096000" y="50292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Line 13"/>
          <p:cNvSpPr>
            <a:spLocks noChangeShapeType="1"/>
          </p:cNvSpPr>
          <p:nvPr/>
        </p:nvSpPr>
        <p:spPr bwMode="auto">
          <a:xfrm>
            <a:off x="6096000" y="54864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Text Box 14"/>
          <p:cNvSpPr txBox="1">
            <a:spLocks noChangeArrowheads="1"/>
          </p:cNvSpPr>
          <p:nvPr/>
        </p:nvSpPr>
        <p:spPr bwMode="auto">
          <a:xfrm>
            <a:off x="7315200" y="144780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>
                <a:latin typeface="Times New Roman" pitchFamily="18" charset="0"/>
                <a:ea typeface="SimSun" pitchFamily="2" charset="-122"/>
              </a:rPr>
              <a:t>0</a:t>
            </a:r>
          </a:p>
        </p:txBody>
      </p:sp>
      <p:sp>
        <p:nvSpPr>
          <p:cNvPr id="12302" name="Text Box 15"/>
          <p:cNvSpPr txBox="1">
            <a:spLocks noChangeArrowheads="1"/>
          </p:cNvSpPr>
          <p:nvPr/>
        </p:nvSpPr>
        <p:spPr bwMode="auto">
          <a:xfrm>
            <a:off x="7315200" y="5486400"/>
            <a:ext cx="6223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m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–1</a:t>
            </a:r>
            <a:endParaRPr lang="en-US" altLang="zh-CN" sz="2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03" name="Text Box 16"/>
          <p:cNvSpPr txBox="1">
            <a:spLocks noChangeArrowheads="1"/>
          </p:cNvSpPr>
          <p:nvPr/>
        </p:nvSpPr>
        <p:spPr bwMode="auto">
          <a:xfrm>
            <a:off x="7391400" y="2286000"/>
            <a:ext cx="6746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1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  <a:endParaRPr lang="en-US" altLang="zh-CN" sz="2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04" name="Text Box 17"/>
          <p:cNvSpPr txBox="1">
            <a:spLocks noChangeArrowheads="1"/>
          </p:cNvSpPr>
          <p:nvPr/>
        </p:nvSpPr>
        <p:spPr bwMode="auto">
          <a:xfrm>
            <a:off x="7391400" y="2819400"/>
            <a:ext cx="6746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4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  <a:endParaRPr lang="en-US" altLang="zh-CN" sz="2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05" name="Text Box 18"/>
          <p:cNvSpPr txBox="1">
            <a:spLocks noChangeArrowheads="1"/>
          </p:cNvSpPr>
          <p:nvPr/>
        </p:nvSpPr>
        <p:spPr bwMode="auto">
          <a:xfrm>
            <a:off x="7391400" y="3657600"/>
            <a:ext cx="13081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2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)=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5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</a:p>
        </p:txBody>
      </p:sp>
      <p:sp>
        <p:nvSpPr>
          <p:cNvPr id="12306" name="Text Box 19"/>
          <p:cNvSpPr txBox="1">
            <a:spLocks noChangeArrowheads="1"/>
          </p:cNvSpPr>
          <p:nvPr/>
        </p:nvSpPr>
        <p:spPr bwMode="auto">
          <a:xfrm>
            <a:off x="7391400" y="4572000"/>
            <a:ext cx="6746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3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  <a:endParaRPr lang="en-US" altLang="zh-CN" sz="2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07" name="Rectangle 20"/>
          <p:cNvSpPr>
            <a:spLocks noChangeArrowheads="1"/>
          </p:cNvSpPr>
          <p:nvPr/>
        </p:nvSpPr>
        <p:spPr bwMode="auto">
          <a:xfrm>
            <a:off x="6096000" y="22860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08" name="Rectangle 21"/>
          <p:cNvSpPr>
            <a:spLocks noChangeArrowheads="1"/>
          </p:cNvSpPr>
          <p:nvPr/>
        </p:nvSpPr>
        <p:spPr bwMode="auto">
          <a:xfrm>
            <a:off x="6096000" y="27432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09" name="Rectangle 22"/>
          <p:cNvSpPr>
            <a:spLocks noChangeArrowheads="1"/>
          </p:cNvSpPr>
          <p:nvPr/>
        </p:nvSpPr>
        <p:spPr bwMode="auto">
          <a:xfrm>
            <a:off x="6096000" y="36576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0" name="Rectangle 23"/>
          <p:cNvSpPr>
            <a:spLocks noChangeArrowheads="1"/>
          </p:cNvSpPr>
          <p:nvPr/>
        </p:nvSpPr>
        <p:spPr bwMode="auto">
          <a:xfrm>
            <a:off x="6096000" y="4572000"/>
            <a:ext cx="1219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1" name="Oval 24"/>
          <p:cNvSpPr>
            <a:spLocks noChangeArrowheads="1"/>
          </p:cNvSpPr>
          <p:nvPr/>
        </p:nvSpPr>
        <p:spPr bwMode="auto">
          <a:xfrm>
            <a:off x="990600" y="1295400"/>
            <a:ext cx="3733800" cy="37338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2" name="Oval 25"/>
          <p:cNvSpPr>
            <a:spLocks noChangeArrowheads="1"/>
          </p:cNvSpPr>
          <p:nvPr/>
        </p:nvSpPr>
        <p:spPr bwMode="auto">
          <a:xfrm>
            <a:off x="1447800" y="2895600"/>
            <a:ext cx="2667000" cy="1828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zh-CN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3" name="Text Box 27"/>
          <p:cNvSpPr txBox="1">
            <a:spLocks noChangeArrowheads="1"/>
          </p:cNvSpPr>
          <p:nvPr/>
        </p:nvSpPr>
        <p:spPr bwMode="auto">
          <a:xfrm>
            <a:off x="1790700" y="1828800"/>
            <a:ext cx="2014538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 i="1">
                <a:latin typeface="Times New Roman" pitchFamily="18" charset="0"/>
                <a:ea typeface="SimSun" pitchFamily="2" charset="-122"/>
              </a:rPr>
              <a:t>U</a:t>
            </a:r>
          </a:p>
          <a:p>
            <a:pPr eaLnBrk="0" hangingPunct="0"/>
            <a:r>
              <a:rPr lang="en-US" altLang="zh-CN" sz="2000" b="1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universe of keys)</a:t>
            </a:r>
            <a:endParaRPr lang="en-US" altLang="zh-CN" sz="2000" b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4" name="Text Box 29"/>
          <p:cNvSpPr txBox="1">
            <a:spLocks noChangeArrowheads="1"/>
          </p:cNvSpPr>
          <p:nvPr/>
        </p:nvSpPr>
        <p:spPr bwMode="auto">
          <a:xfrm>
            <a:off x="1447800" y="3276600"/>
            <a:ext cx="80645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800" b="1" i="1">
                <a:latin typeface="Times New Roman" pitchFamily="18" charset="0"/>
                <a:ea typeface="SimSun" pitchFamily="2" charset="-122"/>
              </a:rPr>
              <a:t>K</a:t>
            </a:r>
          </a:p>
          <a:p>
            <a:pPr eaLnBrk="0" hangingPunc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(actual</a:t>
            </a:r>
          </a:p>
          <a:p>
            <a:pPr eaLnBrk="0" hangingPunc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keys)</a:t>
            </a:r>
          </a:p>
        </p:txBody>
      </p:sp>
      <p:sp>
        <p:nvSpPr>
          <p:cNvPr id="12315" name="Oval 33"/>
          <p:cNvSpPr>
            <a:spLocks noChangeArrowheads="1"/>
          </p:cNvSpPr>
          <p:nvPr/>
        </p:nvSpPr>
        <p:spPr bwMode="auto">
          <a:xfrm>
            <a:off x="2514600" y="3276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6" name="Oval 34"/>
          <p:cNvSpPr>
            <a:spLocks noChangeArrowheads="1"/>
          </p:cNvSpPr>
          <p:nvPr/>
        </p:nvSpPr>
        <p:spPr bwMode="auto">
          <a:xfrm>
            <a:off x="3276600" y="34290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7" name="Oval 35"/>
          <p:cNvSpPr>
            <a:spLocks noChangeArrowheads="1"/>
          </p:cNvSpPr>
          <p:nvPr/>
        </p:nvSpPr>
        <p:spPr bwMode="auto">
          <a:xfrm>
            <a:off x="2667000" y="36576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8" name="Oval 36"/>
          <p:cNvSpPr>
            <a:spLocks noChangeArrowheads="1"/>
          </p:cNvSpPr>
          <p:nvPr/>
        </p:nvSpPr>
        <p:spPr bwMode="auto">
          <a:xfrm>
            <a:off x="3276600" y="38862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19" name="Oval 37"/>
          <p:cNvSpPr>
            <a:spLocks noChangeArrowheads="1"/>
          </p:cNvSpPr>
          <p:nvPr/>
        </p:nvSpPr>
        <p:spPr bwMode="auto">
          <a:xfrm>
            <a:off x="2667000" y="4114800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320" name="Text Box 38"/>
          <p:cNvSpPr txBox="1">
            <a:spLocks noChangeArrowheads="1"/>
          </p:cNvSpPr>
          <p:nvPr/>
        </p:nvSpPr>
        <p:spPr bwMode="auto">
          <a:xfrm>
            <a:off x="2286000" y="3200400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1</a:t>
            </a:r>
          </a:p>
        </p:txBody>
      </p:sp>
      <p:sp>
        <p:nvSpPr>
          <p:cNvPr id="12321" name="Text Box 40"/>
          <p:cNvSpPr txBox="1">
            <a:spLocks noChangeArrowheads="1"/>
          </p:cNvSpPr>
          <p:nvPr/>
        </p:nvSpPr>
        <p:spPr bwMode="auto">
          <a:xfrm>
            <a:off x="2362200" y="3581400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2</a:t>
            </a:r>
          </a:p>
        </p:txBody>
      </p:sp>
      <p:sp>
        <p:nvSpPr>
          <p:cNvPr id="12322" name="Text Box 41"/>
          <p:cNvSpPr txBox="1">
            <a:spLocks noChangeArrowheads="1"/>
          </p:cNvSpPr>
          <p:nvPr/>
        </p:nvSpPr>
        <p:spPr bwMode="auto">
          <a:xfrm>
            <a:off x="2590800" y="4114800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3</a:t>
            </a:r>
          </a:p>
        </p:txBody>
      </p:sp>
      <p:sp>
        <p:nvSpPr>
          <p:cNvPr id="12323" name="Text Box 42"/>
          <p:cNvSpPr txBox="1">
            <a:spLocks noChangeArrowheads="1"/>
          </p:cNvSpPr>
          <p:nvPr/>
        </p:nvSpPr>
        <p:spPr bwMode="auto">
          <a:xfrm>
            <a:off x="3200400" y="3886200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5</a:t>
            </a:r>
          </a:p>
        </p:txBody>
      </p:sp>
      <p:sp>
        <p:nvSpPr>
          <p:cNvPr id="12324" name="Text Box 43"/>
          <p:cNvSpPr txBox="1">
            <a:spLocks noChangeArrowheads="1"/>
          </p:cNvSpPr>
          <p:nvPr/>
        </p:nvSpPr>
        <p:spPr bwMode="auto">
          <a:xfrm>
            <a:off x="2971800" y="3276600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4</a:t>
            </a:r>
          </a:p>
        </p:txBody>
      </p:sp>
      <p:sp>
        <p:nvSpPr>
          <p:cNvPr id="12325" name="Line 44"/>
          <p:cNvSpPr>
            <a:spLocks noChangeShapeType="1"/>
          </p:cNvSpPr>
          <p:nvPr/>
        </p:nvSpPr>
        <p:spPr bwMode="auto">
          <a:xfrm flipV="1">
            <a:off x="2590800" y="2514600"/>
            <a:ext cx="3505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6" name="Line 45"/>
          <p:cNvSpPr>
            <a:spLocks noChangeShapeType="1"/>
          </p:cNvSpPr>
          <p:nvPr/>
        </p:nvSpPr>
        <p:spPr bwMode="auto">
          <a:xfrm flipV="1">
            <a:off x="3352800" y="2971800"/>
            <a:ext cx="2743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7" name="Line 50"/>
          <p:cNvSpPr>
            <a:spLocks noChangeShapeType="1"/>
          </p:cNvSpPr>
          <p:nvPr/>
        </p:nvSpPr>
        <p:spPr bwMode="auto">
          <a:xfrm>
            <a:off x="2743200" y="4191000"/>
            <a:ext cx="3352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8" name="Line 51"/>
          <p:cNvSpPr>
            <a:spLocks noChangeShapeType="1"/>
          </p:cNvSpPr>
          <p:nvPr/>
        </p:nvSpPr>
        <p:spPr bwMode="auto">
          <a:xfrm>
            <a:off x="2667000" y="3733800"/>
            <a:ext cx="34290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9" name="Line 52"/>
          <p:cNvSpPr>
            <a:spLocks noChangeShapeType="1"/>
          </p:cNvSpPr>
          <p:nvPr/>
        </p:nvSpPr>
        <p:spPr bwMode="auto">
          <a:xfrm>
            <a:off x="3276600" y="3886200"/>
            <a:ext cx="2819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0" name="Text Box 53"/>
          <p:cNvSpPr txBox="1">
            <a:spLocks noChangeArrowheads="1"/>
          </p:cNvSpPr>
          <p:nvPr/>
        </p:nvSpPr>
        <p:spPr bwMode="auto">
          <a:xfrm>
            <a:off x="4724400" y="3581400"/>
            <a:ext cx="12319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</a:rPr>
              <a:t>collision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12E920-3F4B-3638-B241-171853F199AA}"/>
                  </a:ext>
                </a:extLst>
              </p14:cNvPr>
              <p14:cNvContentPartPr/>
              <p14:nvPr/>
            </p14:nvContentPartPr>
            <p14:xfrm>
              <a:off x="910440" y="749880"/>
              <a:ext cx="111960" cy="82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12E920-3F4B-3638-B241-171853F199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080" y="740520"/>
                <a:ext cx="130680" cy="10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Issues with Hashing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277938"/>
            <a:ext cx="8020050" cy="4167187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Multiple keys can hash to the same slot – </a:t>
            </a:r>
            <a:r>
              <a:rPr lang="en-US" altLang="zh-CN" dirty="0">
                <a:solidFill>
                  <a:srgbClr val="CC3300"/>
                </a:solidFill>
                <a:ea typeface="SimSun" pitchFamily="2" charset="-122"/>
              </a:rPr>
              <a:t>collisions are possible</a:t>
            </a:r>
            <a:r>
              <a:rPr lang="en-US" altLang="zh-CN" dirty="0">
                <a:ea typeface="SimSun" pitchFamily="2" charset="-122"/>
              </a:rPr>
              <a:t>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Design hash functions such that collisions are minimized.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But avoiding collisions is impossible.</a:t>
            </a:r>
          </a:p>
          <a:p>
            <a:pPr marL="1085850" lvl="2"/>
            <a:r>
              <a:rPr lang="en-US" altLang="zh-CN" dirty="0">
                <a:ea typeface="SimSun" pitchFamily="2" charset="-122"/>
              </a:rPr>
              <a:t>Design collision-resolution techniques.</a:t>
            </a:r>
          </a:p>
          <a:p>
            <a:endParaRPr lang="en-US" altLang="zh-CN" dirty="0">
              <a:solidFill>
                <a:srgbClr val="CC3300"/>
              </a:solidFill>
              <a:ea typeface="SimSun" pitchFamily="2" charset="-122"/>
            </a:endParaRPr>
          </a:p>
          <a:p>
            <a:r>
              <a:rPr lang="en-US" altLang="zh-CN" dirty="0">
                <a:solidFill>
                  <a:srgbClr val="CC3300"/>
                </a:solidFill>
                <a:ea typeface="SimSun" pitchFamily="2" charset="-122"/>
              </a:rPr>
              <a:t>Search will cost </a:t>
            </a:r>
            <a:r>
              <a:rPr lang="ru-RU" altLang="zh-CN" dirty="0">
                <a:solidFill>
                  <a:srgbClr val="CC3300"/>
                </a:solidFill>
                <a:cs typeface="Times New Roman" pitchFamily="18" charset="0"/>
              </a:rPr>
              <a:t>Ө</a:t>
            </a:r>
            <a:r>
              <a:rPr lang="en-US" altLang="zh-CN" dirty="0">
                <a:solidFill>
                  <a:srgbClr val="CC3300"/>
                </a:solidFill>
                <a:ea typeface="SimSun" pitchFamily="2" charset="-122"/>
                <a:cs typeface="Times New Roman" pitchFamily="18" charset="0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itchFamily="2" charset="-122"/>
                <a:cs typeface="Times New Roman" pitchFamily="18" charset="0"/>
              </a:rPr>
              <a:t>n</a:t>
            </a:r>
            <a:r>
              <a:rPr lang="en-US" altLang="zh-CN" dirty="0">
                <a:solidFill>
                  <a:srgbClr val="CC3300"/>
                </a:solidFill>
                <a:ea typeface="SimSun" pitchFamily="2" charset="-122"/>
                <a:cs typeface="Times New Roman" pitchFamily="18" charset="0"/>
              </a:rPr>
              <a:t>) time in the worst case</a:t>
            </a:r>
            <a:r>
              <a:rPr lang="en-US" altLang="zh-CN" dirty="0">
                <a:ea typeface="SimSun" pitchFamily="2" charset="-122"/>
                <a:cs typeface="Times New Roman" pitchFamily="18" charset="0"/>
              </a:rPr>
              <a:t>.</a:t>
            </a:r>
          </a:p>
          <a:p>
            <a:pPr lvl="1"/>
            <a:r>
              <a:rPr lang="en-US" altLang="zh-CN" dirty="0">
                <a:ea typeface="SimSun" pitchFamily="2" charset="-122"/>
                <a:cs typeface="Times New Roman" pitchFamily="18" charset="0"/>
              </a:rPr>
              <a:t>However, all operations can be made to have an expected complexity of </a:t>
            </a:r>
            <a:r>
              <a:rPr lang="ru-RU" altLang="zh-CN" dirty="0">
                <a:cs typeface="Times New Roman" pitchFamily="18" charset="0"/>
              </a:rPr>
              <a:t>Ө</a:t>
            </a:r>
            <a:r>
              <a:rPr lang="en-US" altLang="zh-CN" dirty="0">
                <a:ea typeface="SimSun" pitchFamily="2" charset="-122"/>
              </a:rPr>
              <a:t>(1).</a:t>
            </a:r>
            <a:endParaRPr lang="ru-RU" altLang="zh-CN" dirty="0"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Methods of Resolution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90600"/>
            <a:ext cx="6629400" cy="5410200"/>
          </a:xfrm>
        </p:spPr>
        <p:txBody>
          <a:bodyPr/>
          <a:lstStyle/>
          <a:p>
            <a:r>
              <a:rPr lang="en-US" altLang="zh-CN">
                <a:solidFill>
                  <a:srgbClr val="CC3300"/>
                </a:solidFill>
                <a:ea typeface="SimSun" pitchFamily="2" charset="-122"/>
              </a:rPr>
              <a:t>Chaining:</a:t>
            </a:r>
            <a:r>
              <a:rPr lang="en-US" altLang="zh-CN">
                <a:ea typeface="SimSun" pitchFamily="2" charset="-122"/>
              </a:rPr>
              <a:t>  </a:t>
            </a:r>
          </a:p>
          <a:p>
            <a:pPr lvl="1"/>
            <a:r>
              <a:rPr lang="en-US" altLang="zh-CN">
                <a:ea typeface="SimSun" pitchFamily="2" charset="-122"/>
              </a:rPr>
              <a:t>Store all elements that hash to the same slot in a linked list.</a:t>
            </a:r>
          </a:p>
          <a:p>
            <a:pPr lvl="1"/>
            <a:r>
              <a:rPr lang="en-US" altLang="zh-CN">
                <a:ea typeface="SimSun" pitchFamily="2" charset="-122"/>
              </a:rPr>
              <a:t>Store a pointer to the head of the linked list in the hash table slot.</a:t>
            </a:r>
          </a:p>
          <a:p>
            <a:r>
              <a:rPr lang="en-US" altLang="zh-CN">
                <a:solidFill>
                  <a:srgbClr val="CC3300"/>
                </a:solidFill>
                <a:ea typeface="SimSun" pitchFamily="2" charset="-122"/>
              </a:rPr>
              <a:t>Open Addressing:</a:t>
            </a:r>
          </a:p>
          <a:p>
            <a:pPr lvl="1"/>
            <a:r>
              <a:rPr lang="en-US" altLang="zh-CN">
                <a:ea typeface="SimSun" pitchFamily="2" charset="-122"/>
              </a:rPr>
              <a:t>All elements are stored in hash table itself.</a:t>
            </a:r>
          </a:p>
          <a:p>
            <a:pPr lvl="1"/>
            <a:r>
              <a:rPr lang="en-US" altLang="zh-CN">
                <a:ea typeface="SimSun" pitchFamily="2" charset="-122"/>
              </a:rPr>
              <a:t>When collisions occur, use a systematic (consistent) procedure to store elements in free slots of the table.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7796213" y="2362200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2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6934200" y="1447800"/>
            <a:ext cx="338138" cy="18288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6934200" y="16303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934200" y="18129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6934200" y="19970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6934200" y="21796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6934200" y="2362200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>
            <a:off x="6934200" y="25447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6934200" y="27273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6934200" y="29114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6934200" y="30940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7264400" y="1600200"/>
            <a:ext cx="247650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000">
                <a:latin typeface="Times New Roman" pitchFamily="18" charset="0"/>
                <a:ea typeface="SimSun" pitchFamily="2" charset="-122"/>
              </a:rPr>
              <a:t>0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7272338" y="3216275"/>
            <a:ext cx="403225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m</a:t>
            </a:r>
            <a:r>
              <a:rPr lang="en-US" altLang="zh-CN" sz="1000">
                <a:latin typeface="Times New Roman" pitchFamily="18" charset="0"/>
                <a:ea typeface="SimSun" pitchFamily="2" charset="-122"/>
              </a:rPr>
              <a:t>–1</a:t>
            </a:r>
            <a:endParaRPr lang="en-US" altLang="zh-CN" sz="1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6934200" y="18129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6934200" y="2362200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6934200" y="27273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6934200" y="2911475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7364413" y="18129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1</a:t>
            </a:r>
            <a:endParaRPr lang="en-US" altLang="zh-CN" sz="1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>
            <a:off x="7518400" y="18129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7796213" y="18129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4</a:t>
            </a:r>
          </a:p>
        </p:txBody>
      </p:sp>
      <p:sp>
        <p:nvSpPr>
          <p:cNvPr id="14360" name="Line 24"/>
          <p:cNvSpPr>
            <a:spLocks noChangeShapeType="1"/>
          </p:cNvSpPr>
          <p:nvPr/>
        </p:nvSpPr>
        <p:spPr bwMode="auto">
          <a:xfrm>
            <a:off x="7950200" y="18129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7364413" y="2362200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5</a:t>
            </a:r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>
            <a:off x="7518400" y="2362200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>
            <a:off x="7950200" y="2362200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Rectangle 28"/>
          <p:cNvSpPr>
            <a:spLocks noChangeArrowheads="1"/>
          </p:cNvSpPr>
          <p:nvPr/>
        </p:nvSpPr>
        <p:spPr bwMode="auto">
          <a:xfrm>
            <a:off x="8226425" y="2362200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65" name="Line 29"/>
          <p:cNvSpPr>
            <a:spLocks noChangeShapeType="1"/>
          </p:cNvSpPr>
          <p:nvPr/>
        </p:nvSpPr>
        <p:spPr bwMode="auto">
          <a:xfrm>
            <a:off x="8380413" y="2362200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6" name="Rectangle 30"/>
          <p:cNvSpPr>
            <a:spLocks noChangeArrowheads="1"/>
          </p:cNvSpPr>
          <p:nvPr/>
        </p:nvSpPr>
        <p:spPr bwMode="auto">
          <a:xfrm>
            <a:off x="7364413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67" name="Line 31"/>
          <p:cNvSpPr>
            <a:spLocks noChangeShapeType="1"/>
          </p:cNvSpPr>
          <p:nvPr/>
        </p:nvSpPr>
        <p:spPr bwMode="auto">
          <a:xfrm>
            <a:off x="7518400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8" name="Rectangle 32"/>
          <p:cNvSpPr>
            <a:spLocks noChangeArrowheads="1"/>
          </p:cNvSpPr>
          <p:nvPr/>
        </p:nvSpPr>
        <p:spPr bwMode="auto">
          <a:xfrm>
            <a:off x="7796213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69" name="Line 33"/>
          <p:cNvSpPr>
            <a:spLocks noChangeShapeType="1"/>
          </p:cNvSpPr>
          <p:nvPr/>
        </p:nvSpPr>
        <p:spPr bwMode="auto">
          <a:xfrm>
            <a:off x="7950200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0" name="Rectangle 34"/>
          <p:cNvSpPr>
            <a:spLocks noChangeArrowheads="1"/>
          </p:cNvSpPr>
          <p:nvPr/>
        </p:nvSpPr>
        <p:spPr bwMode="auto">
          <a:xfrm>
            <a:off x="7364413" y="2941638"/>
            <a:ext cx="307975" cy="1524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71" name="Line 35"/>
          <p:cNvSpPr>
            <a:spLocks noChangeShapeType="1"/>
          </p:cNvSpPr>
          <p:nvPr/>
        </p:nvSpPr>
        <p:spPr bwMode="auto">
          <a:xfrm>
            <a:off x="7518400" y="2941638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2" name="Line 36"/>
          <p:cNvSpPr>
            <a:spLocks noChangeShapeType="1"/>
          </p:cNvSpPr>
          <p:nvPr/>
        </p:nvSpPr>
        <p:spPr bwMode="auto">
          <a:xfrm>
            <a:off x="7180263" y="19050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3" name="Line 37"/>
          <p:cNvSpPr>
            <a:spLocks noChangeShapeType="1"/>
          </p:cNvSpPr>
          <p:nvPr/>
        </p:nvSpPr>
        <p:spPr bwMode="auto">
          <a:xfrm>
            <a:off x="7610475" y="1905000"/>
            <a:ext cx="185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4" name="Line 38"/>
          <p:cNvSpPr>
            <a:spLocks noChangeShapeType="1"/>
          </p:cNvSpPr>
          <p:nvPr/>
        </p:nvSpPr>
        <p:spPr bwMode="auto">
          <a:xfrm>
            <a:off x="7180263" y="24542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5" name="Line 39"/>
          <p:cNvSpPr>
            <a:spLocks noChangeShapeType="1"/>
          </p:cNvSpPr>
          <p:nvPr/>
        </p:nvSpPr>
        <p:spPr bwMode="auto">
          <a:xfrm>
            <a:off x="7610475" y="2454275"/>
            <a:ext cx="185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6" name="Line 40"/>
          <p:cNvSpPr>
            <a:spLocks noChangeShapeType="1"/>
          </p:cNvSpPr>
          <p:nvPr/>
        </p:nvSpPr>
        <p:spPr bwMode="auto">
          <a:xfrm>
            <a:off x="8042275" y="24542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7" name="Line 41"/>
          <p:cNvSpPr>
            <a:spLocks noChangeShapeType="1"/>
          </p:cNvSpPr>
          <p:nvPr/>
        </p:nvSpPr>
        <p:spPr bwMode="auto">
          <a:xfrm>
            <a:off x="7180263" y="28194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8" name="Line 42"/>
          <p:cNvSpPr>
            <a:spLocks noChangeShapeType="1"/>
          </p:cNvSpPr>
          <p:nvPr/>
        </p:nvSpPr>
        <p:spPr bwMode="auto">
          <a:xfrm>
            <a:off x="7642225" y="2819400"/>
            <a:ext cx="15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9" name="Line 43"/>
          <p:cNvSpPr>
            <a:spLocks noChangeShapeType="1"/>
          </p:cNvSpPr>
          <p:nvPr/>
        </p:nvSpPr>
        <p:spPr bwMode="auto">
          <a:xfrm>
            <a:off x="7180263" y="30019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Rectangle 44"/>
          <p:cNvSpPr>
            <a:spLocks noChangeArrowheads="1"/>
          </p:cNvSpPr>
          <p:nvPr/>
        </p:nvSpPr>
        <p:spPr bwMode="auto">
          <a:xfrm>
            <a:off x="8226425" y="2362200"/>
            <a:ext cx="307975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6</a:t>
            </a:r>
          </a:p>
        </p:txBody>
      </p:sp>
      <p:sp>
        <p:nvSpPr>
          <p:cNvPr id="14381" name="Line 45"/>
          <p:cNvSpPr>
            <a:spLocks noChangeShapeType="1"/>
          </p:cNvSpPr>
          <p:nvPr/>
        </p:nvSpPr>
        <p:spPr bwMode="auto">
          <a:xfrm>
            <a:off x="8380413" y="2362200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Rectangle 46"/>
          <p:cNvSpPr>
            <a:spLocks noChangeArrowheads="1"/>
          </p:cNvSpPr>
          <p:nvPr/>
        </p:nvSpPr>
        <p:spPr bwMode="auto">
          <a:xfrm>
            <a:off x="7364413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7</a:t>
            </a:r>
          </a:p>
        </p:txBody>
      </p:sp>
      <p:sp>
        <p:nvSpPr>
          <p:cNvPr id="14383" name="Line 47"/>
          <p:cNvSpPr>
            <a:spLocks noChangeShapeType="1"/>
          </p:cNvSpPr>
          <p:nvPr/>
        </p:nvSpPr>
        <p:spPr bwMode="auto">
          <a:xfrm>
            <a:off x="7518400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7796213" y="2727325"/>
            <a:ext cx="307975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3</a:t>
            </a:r>
          </a:p>
        </p:txBody>
      </p:sp>
      <p:sp>
        <p:nvSpPr>
          <p:cNvPr id="14385" name="Line 49"/>
          <p:cNvSpPr>
            <a:spLocks noChangeShapeType="1"/>
          </p:cNvSpPr>
          <p:nvPr/>
        </p:nvSpPr>
        <p:spPr bwMode="auto">
          <a:xfrm>
            <a:off x="7950200" y="2727325"/>
            <a:ext cx="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7364413" y="2941638"/>
            <a:ext cx="307975" cy="1825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1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000" baseline="-25000">
                <a:latin typeface="Times New Roman" pitchFamily="18" charset="0"/>
                <a:ea typeface="SimSun" pitchFamily="2" charset="-122"/>
              </a:rPr>
              <a:t>8</a:t>
            </a:r>
          </a:p>
        </p:txBody>
      </p:sp>
      <p:sp>
        <p:nvSpPr>
          <p:cNvPr id="14387" name="Line 51"/>
          <p:cNvSpPr>
            <a:spLocks noChangeShapeType="1"/>
          </p:cNvSpPr>
          <p:nvPr/>
        </p:nvSpPr>
        <p:spPr bwMode="auto">
          <a:xfrm>
            <a:off x="7518400" y="2941638"/>
            <a:ext cx="0" cy="182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8" name="Line 52"/>
          <p:cNvSpPr>
            <a:spLocks noChangeShapeType="1"/>
          </p:cNvSpPr>
          <p:nvPr/>
        </p:nvSpPr>
        <p:spPr bwMode="auto">
          <a:xfrm flipH="1">
            <a:off x="7026275" y="1477963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9" name="Line 53"/>
          <p:cNvSpPr>
            <a:spLocks noChangeShapeType="1"/>
          </p:cNvSpPr>
          <p:nvPr/>
        </p:nvSpPr>
        <p:spPr bwMode="auto">
          <a:xfrm flipH="1">
            <a:off x="7026275" y="16605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 flipH="1">
            <a:off x="7026275" y="2027238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1" name="Line 55"/>
          <p:cNvSpPr>
            <a:spLocks noChangeShapeType="1"/>
          </p:cNvSpPr>
          <p:nvPr/>
        </p:nvSpPr>
        <p:spPr bwMode="auto">
          <a:xfrm flipH="1">
            <a:off x="7026275" y="22098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H="1">
            <a:off x="7026275" y="25749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3" name="Line 57"/>
          <p:cNvSpPr>
            <a:spLocks noChangeShapeType="1"/>
          </p:cNvSpPr>
          <p:nvPr/>
        </p:nvSpPr>
        <p:spPr bwMode="auto">
          <a:xfrm flipH="1">
            <a:off x="7026275" y="31242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4" name="Line 58"/>
          <p:cNvSpPr>
            <a:spLocks noChangeShapeType="1"/>
          </p:cNvSpPr>
          <p:nvPr/>
        </p:nvSpPr>
        <p:spPr bwMode="auto">
          <a:xfrm flipH="1">
            <a:off x="7980363" y="1844675"/>
            <a:ext cx="92075" cy="120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5" name="Line 59"/>
          <p:cNvSpPr>
            <a:spLocks noChangeShapeType="1"/>
          </p:cNvSpPr>
          <p:nvPr/>
        </p:nvSpPr>
        <p:spPr bwMode="auto">
          <a:xfrm flipH="1">
            <a:off x="8410575" y="2392363"/>
            <a:ext cx="93663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6" name="Line 60"/>
          <p:cNvSpPr>
            <a:spLocks noChangeShapeType="1"/>
          </p:cNvSpPr>
          <p:nvPr/>
        </p:nvSpPr>
        <p:spPr bwMode="auto">
          <a:xfrm flipH="1">
            <a:off x="7980363" y="2759075"/>
            <a:ext cx="92075" cy="120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7" name="Line 61"/>
          <p:cNvSpPr>
            <a:spLocks noChangeShapeType="1"/>
          </p:cNvSpPr>
          <p:nvPr/>
        </p:nvSpPr>
        <p:spPr bwMode="auto">
          <a:xfrm flipH="1">
            <a:off x="7550150" y="2971800"/>
            <a:ext cx="92075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98" name="Rectangle 63"/>
          <p:cNvSpPr>
            <a:spLocks noChangeArrowheads="1"/>
          </p:cNvSpPr>
          <p:nvPr/>
        </p:nvSpPr>
        <p:spPr bwMode="auto">
          <a:xfrm>
            <a:off x="7315200" y="3962400"/>
            <a:ext cx="338138" cy="18288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399" name="Line 64"/>
          <p:cNvSpPr>
            <a:spLocks noChangeShapeType="1"/>
          </p:cNvSpPr>
          <p:nvPr/>
        </p:nvSpPr>
        <p:spPr bwMode="auto">
          <a:xfrm>
            <a:off x="7315200" y="41449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0" name="Line 65"/>
          <p:cNvSpPr>
            <a:spLocks noChangeShapeType="1"/>
          </p:cNvSpPr>
          <p:nvPr/>
        </p:nvSpPr>
        <p:spPr bwMode="auto">
          <a:xfrm>
            <a:off x="7315200" y="43275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1" name="Line 66"/>
          <p:cNvSpPr>
            <a:spLocks noChangeShapeType="1"/>
          </p:cNvSpPr>
          <p:nvPr/>
        </p:nvSpPr>
        <p:spPr bwMode="auto">
          <a:xfrm>
            <a:off x="7315200" y="45116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2" name="Line 67"/>
          <p:cNvSpPr>
            <a:spLocks noChangeShapeType="1"/>
          </p:cNvSpPr>
          <p:nvPr/>
        </p:nvSpPr>
        <p:spPr bwMode="auto">
          <a:xfrm>
            <a:off x="7315200" y="46942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3" name="Line 68"/>
          <p:cNvSpPr>
            <a:spLocks noChangeShapeType="1"/>
          </p:cNvSpPr>
          <p:nvPr/>
        </p:nvSpPr>
        <p:spPr bwMode="auto">
          <a:xfrm>
            <a:off x="7315200" y="4876800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4" name="Line 69"/>
          <p:cNvSpPr>
            <a:spLocks noChangeShapeType="1"/>
          </p:cNvSpPr>
          <p:nvPr/>
        </p:nvSpPr>
        <p:spPr bwMode="auto">
          <a:xfrm>
            <a:off x="7315200" y="5059363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5" name="Line 70"/>
          <p:cNvSpPr>
            <a:spLocks noChangeShapeType="1"/>
          </p:cNvSpPr>
          <p:nvPr/>
        </p:nvSpPr>
        <p:spPr bwMode="auto">
          <a:xfrm>
            <a:off x="7315200" y="524192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6" name="Line 71"/>
          <p:cNvSpPr>
            <a:spLocks noChangeShapeType="1"/>
          </p:cNvSpPr>
          <p:nvPr/>
        </p:nvSpPr>
        <p:spPr bwMode="auto">
          <a:xfrm>
            <a:off x="7315200" y="5426075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7" name="Line 72"/>
          <p:cNvSpPr>
            <a:spLocks noChangeShapeType="1"/>
          </p:cNvSpPr>
          <p:nvPr/>
        </p:nvSpPr>
        <p:spPr bwMode="auto">
          <a:xfrm>
            <a:off x="7315200" y="5608638"/>
            <a:ext cx="338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08" name="Rectangle 74"/>
          <p:cNvSpPr>
            <a:spLocks noChangeArrowheads="1"/>
          </p:cNvSpPr>
          <p:nvPr/>
        </p:nvSpPr>
        <p:spPr bwMode="auto">
          <a:xfrm>
            <a:off x="7315200" y="43275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409" name="Rectangle 75"/>
          <p:cNvSpPr>
            <a:spLocks noChangeArrowheads="1"/>
          </p:cNvSpPr>
          <p:nvPr/>
        </p:nvSpPr>
        <p:spPr bwMode="auto">
          <a:xfrm>
            <a:off x="7315200" y="4876800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410" name="Rectangle 76"/>
          <p:cNvSpPr>
            <a:spLocks noChangeArrowheads="1"/>
          </p:cNvSpPr>
          <p:nvPr/>
        </p:nvSpPr>
        <p:spPr bwMode="auto">
          <a:xfrm>
            <a:off x="7315200" y="5241925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411" name="Rectangle 77"/>
          <p:cNvSpPr>
            <a:spLocks noChangeArrowheads="1"/>
          </p:cNvSpPr>
          <p:nvPr/>
        </p:nvSpPr>
        <p:spPr bwMode="auto">
          <a:xfrm>
            <a:off x="7315200" y="5426075"/>
            <a:ext cx="338138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412" name="Line 82"/>
          <p:cNvSpPr>
            <a:spLocks noChangeShapeType="1"/>
          </p:cNvSpPr>
          <p:nvPr/>
        </p:nvSpPr>
        <p:spPr bwMode="auto">
          <a:xfrm>
            <a:off x="6858000" y="29718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13" name="Line 83"/>
          <p:cNvSpPr>
            <a:spLocks noChangeShapeType="1"/>
          </p:cNvSpPr>
          <p:nvPr/>
        </p:nvSpPr>
        <p:spPr bwMode="auto">
          <a:xfrm>
            <a:off x="7561263" y="49688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14" name="Line 84"/>
          <p:cNvSpPr>
            <a:spLocks noChangeShapeType="1"/>
          </p:cNvSpPr>
          <p:nvPr/>
        </p:nvSpPr>
        <p:spPr bwMode="auto">
          <a:xfrm>
            <a:off x="7561263" y="53340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15" name="Line 88"/>
          <p:cNvSpPr>
            <a:spLocks noChangeShapeType="1"/>
          </p:cNvSpPr>
          <p:nvPr/>
        </p:nvSpPr>
        <p:spPr bwMode="auto">
          <a:xfrm flipH="1">
            <a:off x="7407275" y="3992563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16" name="Line 89"/>
          <p:cNvSpPr>
            <a:spLocks noChangeShapeType="1"/>
          </p:cNvSpPr>
          <p:nvPr/>
        </p:nvSpPr>
        <p:spPr bwMode="auto">
          <a:xfrm flipH="1">
            <a:off x="7407275" y="41751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17" name="Line 90"/>
          <p:cNvSpPr>
            <a:spLocks noChangeShapeType="1"/>
          </p:cNvSpPr>
          <p:nvPr/>
        </p:nvSpPr>
        <p:spPr bwMode="auto">
          <a:xfrm flipH="1">
            <a:off x="7407275" y="4541838"/>
            <a:ext cx="18415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18" name="Line 91"/>
          <p:cNvSpPr>
            <a:spLocks noChangeShapeType="1"/>
          </p:cNvSpPr>
          <p:nvPr/>
        </p:nvSpPr>
        <p:spPr bwMode="auto">
          <a:xfrm flipH="1">
            <a:off x="7407275" y="47244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19" name="Line 92"/>
          <p:cNvSpPr>
            <a:spLocks noChangeShapeType="1"/>
          </p:cNvSpPr>
          <p:nvPr/>
        </p:nvSpPr>
        <p:spPr bwMode="auto">
          <a:xfrm flipH="1">
            <a:off x="7407275" y="5089525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0" name="Line 93"/>
          <p:cNvSpPr>
            <a:spLocks noChangeShapeType="1"/>
          </p:cNvSpPr>
          <p:nvPr/>
        </p:nvSpPr>
        <p:spPr bwMode="auto">
          <a:xfrm flipH="1">
            <a:off x="7407275" y="5638800"/>
            <a:ext cx="184150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1" name="Line 95"/>
          <p:cNvSpPr>
            <a:spLocks noChangeShapeType="1"/>
          </p:cNvSpPr>
          <p:nvPr/>
        </p:nvSpPr>
        <p:spPr bwMode="auto">
          <a:xfrm>
            <a:off x="6858000" y="281940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2" name="Line 96"/>
          <p:cNvSpPr>
            <a:spLocks noChangeShapeType="1"/>
          </p:cNvSpPr>
          <p:nvPr/>
        </p:nvSpPr>
        <p:spPr bwMode="auto">
          <a:xfrm>
            <a:off x="6853238" y="276701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3" name="Line 97"/>
          <p:cNvSpPr>
            <a:spLocks noChangeShapeType="1"/>
          </p:cNvSpPr>
          <p:nvPr/>
        </p:nvSpPr>
        <p:spPr bwMode="auto">
          <a:xfrm>
            <a:off x="6853238" y="25193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4" name="Line 98"/>
          <p:cNvSpPr>
            <a:spLocks noChangeShapeType="1"/>
          </p:cNvSpPr>
          <p:nvPr/>
        </p:nvSpPr>
        <p:spPr bwMode="auto">
          <a:xfrm>
            <a:off x="6848475" y="24669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5" name="Line 100"/>
          <p:cNvSpPr>
            <a:spLocks noChangeShapeType="1"/>
          </p:cNvSpPr>
          <p:nvPr/>
        </p:nvSpPr>
        <p:spPr bwMode="auto">
          <a:xfrm>
            <a:off x="6853238" y="24050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6" name="Line 101"/>
          <p:cNvSpPr>
            <a:spLocks noChangeShapeType="1"/>
          </p:cNvSpPr>
          <p:nvPr/>
        </p:nvSpPr>
        <p:spPr bwMode="auto">
          <a:xfrm>
            <a:off x="6853238" y="192405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7" name="Line 102"/>
          <p:cNvSpPr>
            <a:spLocks noChangeShapeType="1"/>
          </p:cNvSpPr>
          <p:nvPr/>
        </p:nvSpPr>
        <p:spPr bwMode="auto">
          <a:xfrm>
            <a:off x="6848475" y="1871663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8" name="Line 105"/>
          <p:cNvSpPr>
            <a:spLocks noChangeShapeType="1"/>
          </p:cNvSpPr>
          <p:nvPr/>
        </p:nvSpPr>
        <p:spPr bwMode="auto">
          <a:xfrm>
            <a:off x="7234238" y="54768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29" name="Line 106"/>
          <p:cNvSpPr>
            <a:spLocks noChangeShapeType="1"/>
          </p:cNvSpPr>
          <p:nvPr/>
        </p:nvSpPr>
        <p:spPr bwMode="auto">
          <a:xfrm>
            <a:off x="7234238" y="532447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0" name="Line 107"/>
          <p:cNvSpPr>
            <a:spLocks noChangeShapeType="1"/>
          </p:cNvSpPr>
          <p:nvPr/>
        </p:nvSpPr>
        <p:spPr bwMode="auto">
          <a:xfrm>
            <a:off x="7229475" y="527208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1" name="Line 108"/>
          <p:cNvSpPr>
            <a:spLocks noChangeShapeType="1"/>
          </p:cNvSpPr>
          <p:nvPr/>
        </p:nvSpPr>
        <p:spPr bwMode="auto">
          <a:xfrm>
            <a:off x="7229475" y="502443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2" name="Line 109"/>
          <p:cNvSpPr>
            <a:spLocks noChangeShapeType="1"/>
          </p:cNvSpPr>
          <p:nvPr/>
        </p:nvSpPr>
        <p:spPr bwMode="auto">
          <a:xfrm>
            <a:off x="7224713" y="4972050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3" name="Line 110"/>
          <p:cNvSpPr>
            <a:spLocks noChangeShapeType="1"/>
          </p:cNvSpPr>
          <p:nvPr/>
        </p:nvSpPr>
        <p:spPr bwMode="auto">
          <a:xfrm>
            <a:off x="7229475" y="491013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4" name="Line 111"/>
          <p:cNvSpPr>
            <a:spLocks noChangeShapeType="1"/>
          </p:cNvSpPr>
          <p:nvPr/>
        </p:nvSpPr>
        <p:spPr bwMode="auto">
          <a:xfrm>
            <a:off x="7229475" y="4429125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5" name="Line 112"/>
          <p:cNvSpPr>
            <a:spLocks noChangeShapeType="1"/>
          </p:cNvSpPr>
          <p:nvPr/>
        </p:nvSpPr>
        <p:spPr bwMode="auto">
          <a:xfrm>
            <a:off x="7224713" y="4376738"/>
            <a:ext cx="184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6" name="Rectangle 114"/>
          <p:cNvSpPr>
            <a:spLocks noChangeArrowheads="1"/>
          </p:cNvSpPr>
          <p:nvPr/>
        </p:nvSpPr>
        <p:spPr bwMode="auto">
          <a:xfrm>
            <a:off x="7391400" y="4495800"/>
            <a:ext cx="338138" cy="184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437" name="Rectangle 115"/>
          <p:cNvSpPr>
            <a:spLocks noChangeArrowheads="1"/>
          </p:cNvSpPr>
          <p:nvPr/>
        </p:nvSpPr>
        <p:spPr bwMode="auto">
          <a:xfrm>
            <a:off x="7386638" y="5048250"/>
            <a:ext cx="338137" cy="18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438" name="Freeform 118"/>
          <p:cNvSpPr>
            <a:spLocks/>
          </p:cNvSpPr>
          <p:nvPr/>
        </p:nvSpPr>
        <p:spPr bwMode="auto">
          <a:xfrm>
            <a:off x="7639050" y="4391025"/>
            <a:ext cx="161925" cy="150813"/>
          </a:xfrm>
          <a:custGeom>
            <a:avLst/>
            <a:gdLst>
              <a:gd name="T0" fmla="*/ 0 w 102"/>
              <a:gd name="T1" fmla="*/ 2147483647 h 95"/>
              <a:gd name="T2" fmla="*/ 2147483647 w 102"/>
              <a:gd name="T3" fmla="*/ 2147483647 h 95"/>
              <a:gd name="T4" fmla="*/ 2147483647 w 102"/>
              <a:gd name="T5" fmla="*/ 2147483647 h 95"/>
              <a:gd name="T6" fmla="*/ 2147483647 w 102"/>
              <a:gd name="T7" fmla="*/ 2147483647 h 95"/>
              <a:gd name="T8" fmla="*/ 2147483647 w 102"/>
              <a:gd name="T9" fmla="*/ 2147483647 h 95"/>
              <a:gd name="T10" fmla="*/ 2147483647 w 102"/>
              <a:gd name="T11" fmla="*/ 2147483647 h 95"/>
              <a:gd name="T12" fmla="*/ 2147483647 w 102"/>
              <a:gd name="T13" fmla="*/ 2147483647 h 9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2"/>
              <a:gd name="T22" fmla="*/ 0 h 95"/>
              <a:gd name="T23" fmla="*/ 102 w 102"/>
              <a:gd name="T24" fmla="*/ 95 h 9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2" h="95">
                <a:moveTo>
                  <a:pt x="0" y="3"/>
                </a:moveTo>
                <a:cubicBezTo>
                  <a:pt x="24" y="1"/>
                  <a:pt x="35" y="0"/>
                  <a:pt x="57" y="6"/>
                </a:cubicBezTo>
                <a:cubicBezTo>
                  <a:pt x="70" y="10"/>
                  <a:pt x="93" y="24"/>
                  <a:pt x="93" y="24"/>
                </a:cubicBezTo>
                <a:cubicBezTo>
                  <a:pt x="95" y="30"/>
                  <a:pt x="97" y="36"/>
                  <a:pt x="99" y="42"/>
                </a:cubicBezTo>
                <a:cubicBezTo>
                  <a:pt x="100" y="45"/>
                  <a:pt x="102" y="51"/>
                  <a:pt x="102" y="51"/>
                </a:cubicBezTo>
                <a:cubicBezTo>
                  <a:pt x="94" y="63"/>
                  <a:pt x="95" y="77"/>
                  <a:pt x="81" y="84"/>
                </a:cubicBezTo>
                <a:cubicBezTo>
                  <a:pt x="77" y="86"/>
                  <a:pt x="63" y="95"/>
                  <a:pt x="63" y="9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triangle" w="sm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39" name="Freeform 119"/>
          <p:cNvSpPr>
            <a:spLocks/>
          </p:cNvSpPr>
          <p:nvPr/>
        </p:nvSpPr>
        <p:spPr bwMode="auto">
          <a:xfrm>
            <a:off x="7653338" y="5006975"/>
            <a:ext cx="139700" cy="98425"/>
          </a:xfrm>
          <a:custGeom>
            <a:avLst/>
            <a:gdLst>
              <a:gd name="T0" fmla="*/ 0 w 88"/>
              <a:gd name="T1" fmla="*/ 2147483647 h 62"/>
              <a:gd name="T2" fmla="*/ 2147483647 w 88"/>
              <a:gd name="T3" fmla="*/ 2147483647 h 62"/>
              <a:gd name="T4" fmla="*/ 2147483647 w 88"/>
              <a:gd name="T5" fmla="*/ 2147483647 h 62"/>
              <a:gd name="T6" fmla="*/ 2147483647 w 88"/>
              <a:gd name="T7" fmla="*/ 2147483647 h 62"/>
              <a:gd name="T8" fmla="*/ 0 60000 65536"/>
              <a:gd name="T9" fmla="*/ 0 60000 65536"/>
              <a:gd name="T10" fmla="*/ 0 60000 65536"/>
              <a:gd name="T11" fmla="*/ 0 60000 65536"/>
              <a:gd name="T12" fmla="*/ 0 w 88"/>
              <a:gd name="T13" fmla="*/ 0 h 62"/>
              <a:gd name="T14" fmla="*/ 88 w 88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" h="62">
                <a:moveTo>
                  <a:pt x="0" y="5"/>
                </a:moveTo>
                <a:cubicBezTo>
                  <a:pt x="19" y="1"/>
                  <a:pt x="16" y="0"/>
                  <a:pt x="39" y="5"/>
                </a:cubicBezTo>
                <a:cubicBezTo>
                  <a:pt x="45" y="6"/>
                  <a:pt x="57" y="11"/>
                  <a:pt x="57" y="11"/>
                </a:cubicBezTo>
                <a:cubicBezTo>
                  <a:pt x="88" y="42"/>
                  <a:pt x="65" y="42"/>
                  <a:pt x="45" y="6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triangle" w="sm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3"/>
          <p:cNvGrpSpPr>
            <a:grpSpLocks/>
          </p:cNvGrpSpPr>
          <p:nvPr/>
        </p:nvGrpSpPr>
        <p:grpSpPr bwMode="auto">
          <a:xfrm>
            <a:off x="7386638" y="4924425"/>
            <a:ext cx="442912" cy="858838"/>
            <a:chOff x="4653" y="3102"/>
            <a:chExt cx="279" cy="541"/>
          </a:xfrm>
        </p:grpSpPr>
        <p:sp>
          <p:nvSpPr>
            <p:cNvPr id="14444" name="Rectangle 116"/>
            <p:cNvSpPr>
              <a:spLocks noChangeArrowheads="1"/>
            </p:cNvSpPr>
            <p:nvPr/>
          </p:nvSpPr>
          <p:spPr bwMode="auto">
            <a:xfrm>
              <a:off x="4653" y="3528"/>
              <a:ext cx="213" cy="11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445" name="Freeform 120"/>
            <p:cNvSpPr>
              <a:spLocks/>
            </p:cNvSpPr>
            <p:nvPr/>
          </p:nvSpPr>
          <p:spPr bwMode="auto">
            <a:xfrm>
              <a:off x="4824" y="3102"/>
              <a:ext cx="108" cy="486"/>
            </a:xfrm>
            <a:custGeom>
              <a:avLst/>
              <a:gdLst>
                <a:gd name="T0" fmla="*/ 0 w 108"/>
                <a:gd name="T1" fmla="*/ 6 h 486"/>
                <a:gd name="T2" fmla="*/ 78 w 108"/>
                <a:gd name="T3" fmla="*/ 30 h 486"/>
                <a:gd name="T4" fmla="*/ 87 w 108"/>
                <a:gd name="T5" fmla="*/ 66 h 486"/>
                <a:gd name="T6" fmla="*/ 96 w 108"/>
                <a:gd name="T7" fmla="*/ 93 h 486"/>
                <a:gd name="T8" fmla="*/ 99 w 108"/>
                <a:gd name="T9" fmla="*/ 123 h 486"/>
                <a:gd name="T10" fmla="*/ 78 w 108"/>
                <a:gd name="T11" fmla="*/ 219 h 486"/>
                <a:gd name="T12" fmla="*/ 51 w 108"/>
                <a:gd name="T13" fmla="*/ 240 h 486"/>
                <a:gd name="T14" fmla="*/ 81 w 108"/>
                <a:gd name="T15" fmla="*/ 303 h 486"/>
                <a:gd name="T16" fmla="*/ 75 w 108"/>
                <a:gd name="T17" fmla="*/ 342 h 486"/>
                <a:gd name="T18" fmla="*/ 48 w 108"/>
                <a:gd name="T19" fmla="*/ 363 h 486"/>
                <a:gd name="T20" fmla="*/ 75 w 108"/>
                <a:gd name="T21" fmla="*/ 378 h 486"/>
                <a:gd name="T22" fmla="*/ 81 w 108"/>
                <a:gd name="T23" fmla="*/ 396 h 486"/>
                <a:gd name="T24" fmla="*/ 69 w 108"/>
                <a:gd name="T25" fmla="*/ 471 h 486"/>
                <a:gd name="T26" fmla="*/ 48 w 108"/>
                <a:gd name="T27" fmla="*/ 486 h 48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08"/>
                <a:gd name="T43" fmla="*/ 0 h 486"/>
                <a:gd name="T44" fmla="*/ 108 w 108"/>
                <a:gd name="T45" fmla="*/ 486 h 48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08" h="486">
                  <a:moveTo>
                    <a:pt x="0" y="6"/>
                  </a:moveTo>
                  <a:cubicBezTo>
                    <a:pt x="29" y="0"/>
                    <a:pt x="57" y="9"/>
                    <a:pt x="78" y="30"/>
                  </a:cubicBezTo>
                  <a:cubicBezTo>
                    <a:pt x="94" y="79"/>
                    <a:pt x="75" y="18"/>
                    <a:pt x="87" y="66"/>
                  </a:cubicBezTo>
                  <a:cubicBezTo>
                    <a:pt x="89" y="75"/>
                    <a:pt x="96" y="93"/>
                    <a:pt x="96" y="93"/>
                  </a:cubicBezTo>
                  <a:cubicBezTo>
                    <a:pt x="88" y="116"/>
                    <a:pt x="86" y="106"/>
                    <a:pt x="99" y="123"/>
                  </a:cubicBezTo>
                  <a:cubicBezTo>
                    <a:pt x="108" y="150"/>
                    <a:pt x="94" y="195"/>
                    <a:pt x="78" y="219"/>
                  </a:cubicBezTo>
                  <a:cubicBezTo>
                    <a:pt x="72" y="228"/>
                    <a:pt x="51" y="240"/>
                    <a:pt x="51" y="240"/>
                  </a:cubicBezTo>
                  <a:cubicBezTo>
                    <a:pt x="71" y="247"/>
                    <a:pt x="77" y="283"/>
                    <a:pt x="81" y="303"/>
                  </a:cubicBezTo>
                  <a:cubicBezTo>
                    <a:pt x="80" y="316"/>
                    <a:pt x="82" y="331"/>
                    <a:pt x="75" y="342"/>
                  </a:cubicBezTo>
                  <a:cubicBezTo>
                    <a:pt x="69" y="351"/>
                    <a:pt x="48" y="363"/>
                    <a:pt x="48" y="363"/>
                  </a:cubicBezTo>
                  <a:cubicBezTo>
                    <a:pt x="60" y="366"/>
                    <a:pt x="70" y="366"/>
                    <a:pt x="75" y="378"/>
                  </a:cubicBezTo>
                  <a:cubicBezTo>
                    <a:pt x="78" y="384"/>
                    <a:pt x="81" y="396"/>
                    <a:pt x="81" y="396"/>
                  </a:cubicBezTo>
                  <a:cubicBezTo>
                    <a:pt x="81" y="401"/>
                    <a:pt x="81" y="459"/>
                    <a:pt x="69" y="471"/>
                  </a:cubicBezTo>
                  <a:cubicBezTo>
                    <a:pt x="62" y="478"/>
                    <a:pt x="55" y="479"/>
                    <a:pt x="48" y="48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2"/>
          <p:cNvGrpSpPr>
            <a:grpSpLocks/>
          </p:cNvGrpSpPr>
          <p:nvPr/>
        </p:nvGrpSpPr>
        <p:grpSpPr bwMode="auto">
          <a:xfrm>
            <a:off x="7386638" y="3929063"/>
            <a:ext cx="655637" cy="1695450"/>
            <a:chOff x="4653" y="2475"/>
            <a:chExt cx="413" cy="1068"/>
          </a:xfrm>
        </p:grpSpPr>
        <p:sp>
          <p:nvSpPr>
            <p:cNvPr id="14442" name="Rectangle 117"/>
            <p:cNvSpPr>
              <a:spLocks noChangeArrowheads="1"/>
            </p:cNvSpPr>
            <p:nvPr/>
          </p:nvSpPr>
          <p:spPr bwMode="auto">
            <a:xfrm>
              <a:off x="4653" y="2475"/>
              <a:ext cx="213" cy="11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l" eaLnBrk="0" hangingPunct="0"/>
              <a:endParaRPr lang="zh-CN" altLang="en-US" u="sng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443" name="Freeform 121"/>
            <p:cNvSpPr>
              <a:spLocks/>
            </p:cNvSpPr>
            <p:nvPr/>
          </p:nvSpPr>
          <p:spPr bwMode="auto">
            <a:xfrm>
              <a:off x="4827" y="2592"/>
              <a:ext cx="239" cy="951"/>
            </a:xfrm>
            <a:custGeom>
              <a:avLst/>
              <a:gdLst>
                <a:gd name="T0" fmla="*/ 0 w 239"/>
                <a:gd name="T1" fmla="*/ 804 h 951"/>
                <a:gd name="T2" fmla="*/ 36 w 239"/>
                <a:gd name="T3" fmla="*/ 834 h 951"/>
                <a:gd name="T4" fmla="*/ 9 w 239"/>
                <a:gd name="T5" fmla="*/ 879 h 951"/>
                <a:gd name="T6" fmla="*/ 36 w 239"/>
                <a:gd name="T7" fmla="*/ 897 h 951"/>
                <a:gd name="T8" fmla="*/ 48 w 239"/>
                <a:gd name="T9" fmla="*/ 915 h 951"/>
                <a:gd name="T10" fmla="*/ 54 w 239"/>
                <a:gd name="T11" fmla="*/ 924 h 951"/>
                <a:gd name="T12" fmla="*/ 57 w 239"/>
                <a:gd name="T13" fmla="*/ 951 h 951"/>
                <a:gd name="T14" fmla="*/ 207 w 239"/>
                <a:gd name="T15" fmla="*/ 777 h 951"/>
                <a:gd name="T16" fmla="*/ 225 w 239"/>
                <a:gd name="T17" fmla="*/ 711 h 951"/>
                <a:gd name="T18" fmla="*/ 237 w 239"/>
                <a:gd name="T19" fmla="*/ 636 h 951"/>
                <a:gd name="T20" fmla="*/ 225 w 239"/>
                <a:gd name="T21" fmla="*/ 348 h 951"/>
                <a:gd name="T22" fmla="*/ 198 w 239"/>
                <a:gd name="T23" fmla="*/ 198 h 951"/>
                <a:gd name="T24" fmla="*/ 78 w 239"/>
                <a:gd name="T25" fmla="*/ 24 h 951"/>
                <a:gd name="T26" fmla="*/ 60 w 239"/>
                <a:gd name="T27" fmla="*/ 0 h 9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39"/>
                <a:gd name="T43" fmla="*/ 0 h 951"/>
                <a:gd name="T44" fmla="*/ 239 w 239"/>
                <a:gd name="T45" fmla="*/ 951 h 9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39" h="951">
                  <a:moveTo>
                    <a:pt x="0" y="804"/>
                  </a:moveTo>
                  <a:cubicBezTo>
                    <a:pt x="19" y="811"/>
                    <a:pt x="29" y="814"/>
                    <a:pt x="36" y="834"/>
                  </a:cubicBezTo>
                  <a:cubicBezTo>
                    <a:pt x="30" y="852"/>
                    <a:pt x="23" y="865"/>
                    <a:pt x="9" y="879"/>
                  </a:cubicBezTo>
                  <a:cubicBezTo>
                    <a:pt x="20" y="883"/>
                    <a:pt x="29" y="888"/>
                    <a:pt x="36" y="897"/>
                  </a:cubicBezTo>
                  <a:cubicBezTo>
                    <a:pt x="40" y="903"/>
                    <a:pt x="44" y="909"/>
                    <a:pt x="48" y="915"/>
                  </a:cubicBezTo>
                  <a:cubicBezTo>
                    <a:pt x="50" y="918"/>
                    <a:pt x="54" y="924"/>
                    <a:pt x="54" y="924"/>
                  </a:cubicBezTo>
                  <a:cubicBezTo>
                    <a:pt x="47" y="946"/>
                    <a:pt x="44" y="938"/>
                    <a:pt x="57" y="951"/>
                  </a:cubicBezTo>
                  <a:cubicBezTo>
                    <a:pt x="152" y="927"/>
                    <a:pt x="176" y="860"/>
                    <a:pt x="207" y="777"/>
                  </a:cubicBezTo>
                  <a:cubicBezTo>
                    <a:pt x="215" y="755"/>
                    <a:pt x="215" y="732"/>
                    <a:pt x="225" y="711"/>
                  </a:cubicBezTo>
                  <a:cubicBezTo>
                    <a:pt x="230" y="686"/>
                    <a:pt x="232" y="661"/>
                    <a:pt x="237" y="636"/>
                  </a:cubicBezTo>
                  <a:cubicBezTo>
                    <a:pt x="235" y="573"/>
                    <a:pt x="239" y="431"/>
                    <a:pt x="225" y="348"/>
                  </a:cubicBezTo>
                  <a:cubicBezTo>
                    <a:pt x="221" y="299"/>
                    <a:pt x="217" y="244"/>
                    <a:pt x="198" y="198"/>
                  </a:cubicBezTo>
                  <a:cubicBezTo>
                    <a:pt x="185" y="121"/>
                    <a:pt x="130" y="76"/>
                    <a:pt x="78" y="24"/>
                  </a:cubicBezTo>
                  <a:cubicBezTo>
                    <a:pt x="71" y="17"/>
                    <a:pt x="67" y="7"/>
                    <a:pt x="6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Collision Resolution by Chaining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029200" y="1952625"/>
            <a:ext cx="838200" cy="4572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5029200" y="24098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5029200" y="28670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5029200" y="33242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5029200" y="37814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5029200" y="42386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5029200" y="46958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5029200" y="51530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5029200" y="56102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5029200" y="60674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867400" y="2028825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>
                <a:latin typeface="Times New Roman" pitchFamily="18" charset="0"/>
                <a:ea typeface="SimSun" pitchFamily="2" charset="-122"/>
              </a:rPr>
              <a:t>0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5867400" y="6067425"/>
            <a:ext cx="6223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m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–1</a:t>
            </a:r>
            <a:endParaRPr lang="en-US" altLang="zh-CN" sz="2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5867400" y="2867025"/>
            <a:ext cx="13081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1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)=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4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</a:p>
        </p:txBody>
      </p:sp>
      <p:sp>
        <p:nvSpPr>
          <p:cNvPr id="15376" name="Text Box 17"/>
          <p:cNvSpPr txBox="1">
            <a:spLocks noChangeArrowheads="1"/>
          </p:cNvSpPr>
          <p:nvPr/>
        </p:nvSpPr>
        <p:spPr bwMode="auto">
          <a:xfrm>
            <a:off x="5867400" y="4238625"/>
            <a:ext cx="194151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2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)=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5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)=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6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</a:p>
        </p:txBody>
      </p:sp>
      <p:sp>
        <p:nvSpPr>
          <p:cNvPr id="15377" name="Text Box 18"/>
          <p:cNvSpPr txBox="1">
            <a:spLocks noChangeArrowheads="1"/>
          </p:cNvSpPr>
          <p:nvPr/>
        </p:nvSpPr>
        <p:spPr bwMode="auto">
          <a:xfrm>
            <a:off x="5867400" y="5153025"/>
            <a:ext cx="13081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3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)=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7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</a:p>
        </p:txBody>
      </p:sp>
      <p:sp>
        <p:nvSpPr>
          <p:cNvPr id="15378" name="Rectangle 19"/>
          <p:cNvSpPr>
            <a:spLocks noChangeArrowheads="1"/>
          </p:cNvSpPr>
          <p:nvPr/>
        </p:nvSpPr>
        <p:spPr bwMode="auto">
          <a:xfrm>
            <a:off x="5029200" y="28670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79" name="Rectangle 21"/>
          <p:cNvSpPr>
            <a:spLocks noChangeArrowheads="1"/>
          </p:cNvSpPr>
          <p:nvPr/>
        </p:nvSpPr>
        <p:spPr bwMode="auto">
          <a:xfrm>
            <a:off x="5029200" y="42386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0" name="Rectangle 22"/>
          <p:cNvSpPr>
            <a:spLocks noChangeArrowheads="1"/>
          </p:cNvSpPr>
          <p:nvPr/>
        </p:nvSpPr>
        <p:spPr bwMode="auto">
          <a:xfrm>
            <a:off x="5029200" y="51530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1" name="Oval 23"/>
          <p:cNvSpPr>
            <a:spLocks noChangeArrowheads="1"/>
          </p:cNvSpPr>
          <p:nvPr/>
        </p:nvSpPr>
        <p:spPr bwMode="auto">
          <a:xfrm>
            <a:off x="228600" y="1876425"/>
            <a:ext cx="3733800" cy="37338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2" name="Oval 24"/>
          <p:cNvSpPr>
            <a:spLocks noChangeArrowheads="1"/>
          </p:cNvSpPr>
          <p:nvPr/>
        </p:nvSpPr>
        <p:spPr bwMode="auto">
          <a:xfrm>
            <a:off x="685800" y="3476625"/>
            <a:ext cx="2667000" cy="1828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zh-CN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3" name="Text Box 25"/>
          <p:cNvSpPr txBox="1">
            <a:spLocks noChangeArrowheads="1"/>
          </p:cNvSpPr>
          <p:nvPr/>
        </p:nvSpPr>
        <p:spPr bwMode="auto">
          <a:xfrm>
            <a:off x="1028700" y="2409825"/>
            <a:ext cx="2014538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 i="1">
                <a:latin typeface="Times New Roman" pitchFamily="18" charset="0"/>
                <a:ea typeface="SimSun" pitchFamily="2" charset="-122"/>
              </a:rPr>
              <a:t>U</a:t>
            </a:r>
          </a:p>
          <a:p>
            <a:pPr eaLnBrk="0" hangingPunct="0"/>
            <a:r>
              <a:rPr lang="en-US" altLang="zh-CN" sz="2000" b="1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universe of keys)</a:t>
            </a:r>
            <a:endParaRPr lang="en-US" altLang="zh-CN" sz="2000" b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4" name="Text Box 26"/>
          <p:cNvSpPr txBox="1">
            <a:spLocks noChangeArrowheads="1"/>
          </p:cNvSpPr>
          <p:nvPr/>
        </p:nvSpPr>
        <p:spPr bwMode="auto">
          <a:xfrm>
            <a:off x="685800" y="3857625"/>
            <a:ext cx="80645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800" b="1" i="1">
                <a:latin typeface="Times New Roman" pitchFamily="18" charset="0"/>
                <a:ea typeface="SimSun" pitchFamily="2" charset="-122"/>
              </a:rPr>
              <a:t>K</a:t>
            </a:r>
          </a:p>
          <a:p>
            <a:pPr eaLnBrk="0" hangingPunc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(actual</a:t>
            </a:r>
          </a:p>
          <a:p>
            <a:pPr eaLnBrk="0" hangingPunc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keys)</a:t>
            </a:r>
          </a:p>
        </p:txBody>
      </p:sp>
      <p:sp>
        <p:nvSpPr>
          <p:cNvPr id="15385" name="Oval 27"/>
          <p:cNvSpPr>
            <a:spLocks noChangeArrowheads="1"/>
          </p:cNvSpPr>
          <p:nvPr/>
        </p:nvSpPr>
        <p:spPr bwMode="auto">
          <a:xfrm>
            <a:off x="1828800" y="37814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6" name="Oval 28"/>
          <p:cNvSpPr>
            <a:spLocks noChangeArrowheads="1"/>
          </p:cNvSpPr>
          <p:nvPr/>
        </p:nvSpPr>
        <p:spPr bwMode="auto">
          <a:xfrm>
            <a:off x="2514600" y="40100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7" name="Oval 29"/>
          <p:cNvSpPr>
            <a:spLocks noChangeArrowheads="1"/>
          </p:cNvSpPr>
          <p:nvPr/>
        </p:nvSpPr>
        <p:spPr bwMode="auto">
          <a:xfrm>
            <a:off x="1905000" y="42386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8" name="Oval 30"/>
          <p:cNvSpPr>
            <a:spLocks noChangeArrowheads="1"/>
          </p:cNvSpPr>
          <p:nvPr/>
        </p:nvSpPr>
        <p:spPr bwMode="auto">
          <a:xfrm>
            <a:off x="2362200" y="43148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89" name="Oval 31"/>
          <p:cNvSpPr>
            <a:spLocks noChangeArrowheads="1"/>
          </p:cNvSpPr>
          <p:nvPr/>
        </p:nvSpPr>
        <p:spPr bwMode="auto">
          <a:xfrm>
            <a:off x="2057400" y="49244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90" name="Text Box 32"/>
          <p:cNvSpPr txBox="1">
            <a:spLocks noChangeArrowheads="1"/>
          </p:cNvSpPr>
          <p:nvPr/>
        </p:nvSpPr>
        <p:spPr bwMode="auto">
          <a:xfrm>
            <a:off x="1676400" y="34766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1</a:t>
            </a:r>
          </a:p>
        </p:txBody>
      </p:sp>
      <p:sp>
        <p:nvSpPr>
          <p:cNvPr id="15391" name="Text Box 33"/>
          <p:cNvSpPr txBox="1">
            <a:spLocks noChangeArrowheads="1"/>
          </p:cNvSpPr>
          <p:nvPr/>
        </p:nvSpPr>
        <p:spPr bwMode="auto">
          <a:xfrm>
            <a:off x="1600200" y="41624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2</a:t>
            </a:r>
          </a:p>
        </p:txBody>
      </p:sp>
      <p:sp>
        <p:nvSpPr>
          <p:cNvPr id="15392" name="Text Box 34"/>
          <p:cNvSpPr txBox="1">
            <a:spLocks noChangeArrowheads="1"/>
          </p:cNvSpPr>
          <p:nvPr/>
        </p:nvSpPr>
        <p:spPr bwMode="auto">
          <a:xfrm>
            <a:off x="1981200" y="49244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3</a:t>
            </a:r>
          </a:p>
        </p:txBody>
      </p:sp>
      <p:sp>
        <p:nvSpPr>
          <p:cNvPr id="15393" name="Text Box 35"/>
          <p:cNvSpPr txBox="1">
            <a:spLocks noChangeArrowheads="1"/>
          </p:cNvSpPr>
          <p:nvPr/>
        </p:nvSpPr>
        <p:spPr bwMode="auto">
          <a:xfrm>
            <a:off x="2286000" y="43148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5</a:t>
            </a:r>
          </a:p>
        </p:txBody>
      </p:sp>
      <p:sp>
        <p:nvSpPr>
          <p:cNvPr id="15394" name="Text Box 36"/>
          <p:cNvSpPr txBox="1">
            <a:spLocks noChangeArrowheads="1"/>
          </p:cNvSpPr>
          <p:nvPr/>
        </p:nvSpPr>
        <p:spPr bwMode="auto">
          <a:xfrm>
            <a:off x="2438400" y="37052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4</a:t>
            </a:r>
          </a:p>
        </p:txBody>
      </p:sp>
      <p:sp>
        <p:nvSpPr>
          <p:cNvPr id="15395" name="Oval 45"/>
          <p:cNvSpPr>
            <a:spLocks noChangeArrowheads="1"/>
          </p:cNvSpPr>
          <p:nvPr/>
        </p:nvSpPr>
        <p:spPr bwMode="auto">
          <a:xfrm>
            <a:off x="1600200" y="50006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96" name="Oval 46"/>
          <p:cNvSpPr>
            <a:spLocks noChangeArrowheads="1"/>
          </p:cNvSpPr>
          <p:nvPr/>
        </p:nvSpPr>
        <p:spPr bwMode="auto">
          <a:xfrm>
            <a:off x="2819400" y="44672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97" name="Oval 47"/>
          <p:cNvSpPr>
            <a:spLocks noChangeArrowheads="1"/>
          </p:cNvSpPr>
          <p:nvPr/>
        </p:nvSpPr>
        <p:spPr bwMode="auto">
          <a:xfrm>
            <a:off x="2590800" y="48482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398" name="Text Box 48"/>
          <p:cNvSpPr txBox="1">
            <a:spLocks noChangeArrowheads="1"/>
          </p:cNvSpPr>
          <p:nvPr/>
        </p:nvSpPr>
        <p:spPr bwMode="auto">
          <a:xfrm>
            <a:off x="2819400" y="42386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6</a:t>
            </a:r>
          </a:p>
        </p:txBody>
      </p:sp>
      <p:sp>
        <p:nvSpPr>
          <p:cNvPr id="15399" name="Text Box 49"/>
          <p:cNvSpPr txBox="1">
            <a:spLocks noChangeArrowheads="1"/>
          </p:cNvSpPr>
          <p:nvPr/>
        </p:nvSpPr>
        <p:spPr bwMode="auto">
          <a:xfrm>
            <a:off x="2590800" y="46196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7</a:t>
            </a:r>
          </a:p>
        </p:txBody>
      </p:sp>
      <p:sp>
        <p:nvSpPr>
          <p:cNvPr id="15400" name="Text Box 50"/>
          <p:cNvSpPr txBox="1">
            <a:spLocks noChangeArrowheads="1"/>
          </p:cNvSpPr>
          <p:nvPr/>
        </p:nvSpPr>
        <p:spPr bwMode="auto">
          <a:xfrm>
            <a:off x="1371600" y="46958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8</a:t>
            </a:r>
          </a:p>
        </p:txBody>
      </p:sp>
      <p:sp>
        <p:nvSpPr>
          <p:cNvPr id="15401" name="Line 51"/>
          <p:cNvSpPr>
            <a:spLocks noChangeShapeType="1"/>
          </p:cNvSpPr>
          <p:nvPr/>
        </p:nvSpPr>
        <p:spPr bwMode="auto">
          <a:xfrm flipV="1">
            <a:off x="1905000" y="3095625"/>
            <a:ext cx="3124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Line 52"/>
          <p:cNvSpPr>
            <a:spLocks noChangeShapeType="1"/>
          </p:cNvSpPr>
          <p:nvPr/>
        </p:nvSpPr>
        <p:spPr bwMode="auto">
          <a:xfrm flipV="1">
            <a:off x="2590800" y="3171825"/>
            <a:ext cx="2438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3" name="Line 53"/>
          <p:cNvSpPr>
            <a:spLocks noChangeShapeType="1"/>
          </p:cNvSpPr>
          <p:nvPr/>
        </p:nvSpPr>
        <p:spPr bwMode="auto">
          <a:xfrm>
            <a:off x="1905000" y="4238625"/>
            <a:ext cx="31242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4" name="Line 54"/>
          <p:cNvSpPr>
            <a:spLocks noChangeShapeType="1"/>
          </p:cNvSpPr>
          <p:nvPr/>
        </p:nvSpPr>
        <p:spPr bwMode="auto">
          <a:xfrm>
            <a:off x="2362200" y="4391025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5" name="Line 56"/>
          <p:cNvSpPr>
            <a:spLocks noChangeShapeType="1"/>
          </p:cNvSpPr>
          <p:nvPr/>
        </p:nvSpPr>
        <p:spPr bwMode="auto">
          <a:xfrm>
            <a:off x="2895600" y="4543425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6" name="Rectangle 57"/>
          <p:cNvSpPr>
            <a:spLocks noChangeArrowheads="1"/>
          </p:cNvSpPr>
          <p:nvPr/>
        </p:nvSpPr>
        <p:spPr bwMode="auto">
          <a:xfrm>
            <a:off x="5029200" y="56102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407" name="Line 58"/>
          <p:cNvSpPr>
            <a:spLocks noChangeShapeType="1"/>
          </p:cNvSpPr>
          <p:nvPr/>
        </p:nvSpPr>
        <p:spPr bwMode="auto">
          <a:xfrm>
            <a:off x="2590800" y="4848225"/>
            <a:ext cx="2438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8" name="Line 59"/>
          <p:cNvSpPr>
            <a:spLocks noChangeShapeType="1"/>
          </p:cNvSpPr>
          <p:nvPr/>
        </p:nvSpPr>
        <p:spPr bwMode="auto">
          <a:xfrm>
            <a:off x="2133600" y="5000625"/>
            <a:ext cx="2895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9" name="Line 60"/>
          <p:cNvSpPr>
            <a:spLocks noChangeShapeType="1"/>
          </p:cNvSpPr>
          <p:nvPr/>
        </p:nvSpPr>
        <p:spPr bwMode="auto">
          <a:xfrm>
            <a:off x="1676400" y="5000625"/>
            <a:ext cx="3352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10" name="Text Box 61"/>
          <p:cNvSpPr txBox="1">
            <a:spLocks noChangeArrowheads="1"/>
          </p:cNvSpPr>
          <p:nvPr/>
        </p:nvSpPr>
        <p:spPr bwMode="auto">
          <a:xfrm>
            <a:off x="5867400" y="5610225"/>
            <a:ext cx="6746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h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8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</a:t>
            </a:r>
          </a:p>
        </p:txBody>
      </p:sp>
      <p:sp>
        <p:nvSpPr>
          <p:cNvPr id="15411" name="Text Box 62"/>
          <p:cNvSpPr txBox="1">
            <a:spLocks noChangeArrowheads="1"/>
          </p:cNvSpPr>
          <p:nvPr/>
        </p:nvSpPr>
        <p:spPr bwMode="auto">
          <a:xfrm>
            <a:off x="4343400" y="3019425"/>
            <a:ext cx="4048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b="1">
                <a:solidFill>
                  <a:srgbClr val="FF3300"/>
                </a:solidFill>
                <a:latin typeface="Times New Roman" pitchFamily="18" charset="0"/>
                <a:ea typeface="SimSun" pitchFamily="2" charset="-122"/>
              </a:rPr>
              <a:t>X</a:t>
            </a:r>
          </a:p>
        </p:txBody>
      </p:sp>
      <p:sp>
        <p:nvSpPr>
          <p:cNvPr id="15412" name="Text Box 63"/>
          <p:cNvSpPr txBox="1">
            <a:spLocks noChangeArrowheads="1"/>
          </p:cNvSpPr>
          <p:nvPr/>
        </p:nvSpPr>
        <p:spPr bwMode="auto">
          <a:xfrm>
            <a:off x="4343400" y="4162425"/>
            <a:ext cx="4048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b="1">
                <a:solidFill>
                  <a:srgbClr val="FF3300"/>
                </a:solidFill>
                <a:latin typeface="Times New Roman" pitchFamily="18" charset="0"/>
                <a:ea typeface="SimSun" pitchFamily="2" charset="-122"/>
              </a:rPr>
              <a:t>X</a:t>
            </a:r>
          </a:p>
        </p:txBody>
      </p:sp>
      <p:sp>
        <p:nvSpPr>
          <p:cNvPr id="15413" name="Text Box 64"/>
          <p:cNvSpPr txBox="1">
            <a:spLocks noChangeArrowheads="1"/>
          </p:cNvSpPr>
          <p:nvPr/>
        </p:nvSpPr>
        <p:spPr bwMode="auto">
          <a:xfrm>
            <a:off x="4267200" y="5000625"/>
            <a:ext cx="4048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b="1">
                <a:solidFill>
                  <a:srgbClr val="FF3300"/>
                </a:solidFill>
                <a:latin typeface="Times New Roman" pitchFamily="18" charset="0"/>
                <a:ea typeface="SimSun" pitchFamily="2" charset="-122"/>
              </a:rPr>
              <a:t>X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2"/>
          <p:cNvSpPr>
            <a:spLocks noChangeArrowheads="1"/>
          </p:cNvSpPr>
          <p:nvPr/>
        </p:nvSpPr>
        <p:spPr bwMode="auto">
          <a:xfrm>
            <a:off x="7162800" y="42386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2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Collision Resolution by Chaining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5029200" y="1952625"/>
            <a:ext cx="838200" cy="4572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>
            <a:off x="5029200" y="24098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5029200" y="28670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6"/>
          <p:cNvSpPr>
            <a:spLocks noChangeShapeType="1"/>
          </p:cNvSpPr>
          <p:nvPr/>
        </p:nvSpPr>
        <p:spPr bwMode="auto">
          <a:xfrm>
            <a:off x="5029200" y="33242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7"/>
          <p:cNvSpPr>
            <a:spLocks noChangeShapeType="1"/>
          </p:cNvSpPr>
          <p:nvPr/>
        </p:nvSpPr>
        <p:spPr bwMode="auto">
          <a:xfrm>
            <a:off x="5029200" y="37814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>
            <a:off x="5029200" y="42386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Line 9"/>
          <p:cNvSpPr>
            <a:spLocks noChangeShapeType="1"/>
          </p:cNvSpPr>
          <p:nvPr/>
        </p:nvSpPr>
        <p:spPr bwMode="auto">
          <a:xfrm>
            <a:off x="5029200" y="46958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Line 10"/>
          <p:cNvSpPr>
            <a:spLocks noChangeShapeType="1"/>
          </p:cNvSpPr>
          <p:nvPr/>
        </p:nvSpPr>
        <p:spPr bwMode="auto">
          <a:xfrm>
            <a:off x="5029200" y="51530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6" name="Line 11"/>
          <p:cNvSpPr>
            <a:spLocks noChangeShapeType="1"/>
          </p:cNvSpPr>
          <p:nvPr/>
        </p:nvSpPr>
        <p:spPr bwMode="auto">
          <a:xfrm>
            <a:off x="5029200" y="56102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Line 12"/>
          <p:cNvSpPr>
            <a:spLocks noChangeShapeType="1"/>
          </p:cNvSpPr>
          <p:nvPr/>
        </p:nvSpPr>
        <p:spPr bwMode="auto">
          <a:xfrm>
            <a:off x="5029200" y="60674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Text Box 13"/>
          <p:cNvSpPr txBox="1">
            <a:spLocks noChangeArrowheads="1"/>
          </p:cNvSpPr>
          <p:nvPr/>
        </p:nvSpPr>
        <p:spPr bwMode="auto">
          <a:xfrm>
            <a:off x="5867400" y="2028825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>
                <a:latin typeface="Times New Roman" pitchFamily="18" charset="0"/>
                <a:ea typeface="SimSun" pitchFamily="2" charset="-122"/>
              </a:rPr>
              <a:t>0</a:t>
            </a:r>
          </a:p>
        </p:txBody>
      </p:sp>
      <p:sp>
        <p:nvSpPr>
          <p:cNvPr id="16399" name="Text Box 14"/>
          <p:cNvSpPr txBox="1">
            <a:spLocks noChangeArrowheads="1"/>
          </p:cNvSpPr>
          <p:nvPr/>
        </p:nvSpPr>
        <p:spPr bwMode="auto">
          <a:xfrm>
            <a:off x="5867400" y="6067425"/>
            <a:ext cx="6223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m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–1</a:t>
            </a:r>
            <a:endParaRPr lang="en-US" altLang="zh-CN" sz="2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0" name="Rectangle 18"/>
          <p:cNvSpPr>
            <a:spLocks noChangeArrowheads="1"/>
          </p:cNvSpPr>
          <p:nvPr/>
        </p:nvSpPr>
        <p:spPr bwMode="auto">
          <a:xfrm>
            <a:off x="5029200" y="28670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1" name="Rectangle 19"/>
          <p:cNvSpPr>
            <a:spLocks noChangeArrowheads="1"/>
          </p:cNvSpPr>
          <p:nvPr/>
        </p:nvSpPr>
        <p:spPr bwMode="auto">
          <a:xfrm>
            <a:off x="5029200" y="42386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2" name="Rectangle 20"/>
          <p:cNvSpPr>
            <a:spLocks noChangeArrowheads="1"/>
          </p:cNvSpPr>
          <p:nvPr/>
        </p:nvSpPr>
        <p:spPr bwMode="auto">
          <a:xfrm>
            <a:off x="5029200" y="51530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3" name="Oval 21"/>
          <p:cNvSpPr>
            <a:spLocks noChangeArrowheads="1"/>
          </p:cNvSpPr>
          <p:nvPr/>
        </p:nvSpPr>
        <p:spPr bwMode="auto">
          <a:xfrm>
            <a:off x="228600" y="1876425"/>
            <a:ext cx="3733800" cy="37338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4" name="Oval 22"/>
          <p:cNvSpPr>
            <a:spLocks noChangeArrowheads="1"/>
          </p:cNvSpPr>
          <p:nvPr/>
        </p:nvSpPr>
        <p:spPr bwMode="auto">
          <a:xfrm>
            <a:off x="685800" y="3476625"/>
            <a:ext cx="2667000" cy="1828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zh-CN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5" name="Text Box 23"/>
          <p:cNvSpPr txBox="1">
            <a:spLocks noChangeArrowheads="1"/>
          </p:cNvSpPr>
          <p:nvPr/>
        </p:nvSpPr>
        <p:spPr bwMode="auto">
          <a:xfrm>
            <a:off x="1028700" y="2409825"/>
            <a:ext cx="2014538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 i="1">
                <a:latin typeface="Times New Roman" pitchFamily="18" charset="0"/>
                <a:ea typeface="SimSun" pitchFamily="2" charset="-122"/>
              </a:rPr>
              <a:t>U</a:t>
            </a:r>
          </a:p>
          <a:p>
            <a:pPr eaLnBrk="0" hangingPunct="0"/>
            <a:r>
              <a:rPr lang="en-US" altLang="zh-CN" sz="2000" b="1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universe of keys)</a:t>
            </a:r>
            <a:endParaRPr lang="en-US" altLang="zh-CN" sz="2000" b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6" name="Text Box 24"/>
          <p:cNvSpPr txBox="1">
            <a:spLocks noChangeArrowheads="1"/>
          </p:cNvSpPr>
          <p:nvPr/>
        </p:nvSpPr>
        <p:spPr bwMode="auto">
          <a:xfrm>
            <a:off x="685800" y="3857625"/>
            <a:ext cx="80645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800" b="1" i="1">
                <a:latin typeface="Times New Roman" pitchFamily="18" charset="0"/>
                <a:ea typeface="SimSun" pitchFamily="2" charset="-122"/>
              </a:rPr>
              <a:t>K</a:t>
            </a:r>
          </a:p>
          <a:p>
            <a:pPr eaLnBrk="0" hangingPunc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(actual</a:t>
            </a:r>
          </a:p>
          <a:p>
            <a:pPr eaLnBrk="0" hangingPunc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keys)</a:t>
            </a:r>
          </a:p>
        </p:txBody>
      </p:sp>
      <p:sp>
        <p:nvSpPr>
          <p:cNvPr id="16407" name="Oval 25"/>
          <p:cNvSpPr>
            <a:spLocks noChangeArrowheads="1"/>
          </p:cNvSpPr>
          <p:nvPr/>
        </p:nvSpPr>
        <p:spPr bwMode="auto">
          <a:xfrm>
            <a:off x="1828800" y="37814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8" name="Oval 26"/>
          <p:cNvSpPr>
            <a:spLocks noChangeArrowheads="1"/>
          </p:cNvSpPr>
          <p:nvPr/>
        </p:nvSpPr>
        <p:spPr bwMode="auto">
          <a:xfrm>
            <a:off x="2514600" y="40100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09" name="Oval 27"/>
          <p:cNvSpPr>
            <a:spLocks noChangeArrowheads="1"/>
          </p:cNvSpPr>
          <p:nvPr/>
        </p:nvSpPr>
        <p:spPr bwMode="auto">
          <a:xfrm>
            <a:off x="1905000" y="42386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10" name="Oval 28"/>
          <p:cNvSpPr>
            <a:spLocks noChangeArrowheads="1"/>
          </p:cNvSpPr>
          <p:nvPr/>
        </p:nvSpPr>
        <p:spPr bwMode="auto">
          <a:xfrm>
            <a:off x="2362200" y="43148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11" name="Oval 29"/>
          <p:cNvSpPr>
            <a:spLocks noChangeArrowheads="1"/>
          </p:cNvSpPr>
          <p:nvPr/>
        </p:nvSpPr>
        <p:spPr bwMode="auto">
          <a:xfrm>
            <a:off x="2057400" y="49244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12" name="Text Box 30"/>
          <p:cNvSpPr txBox="1">
            <a:spLocks noChangeArrowheads="1"/>
          </p:cNvSpPr>
          <p:nvPr/>
        </p:nvSpPr>
        <p:spPr bwMode="auto">
          <a:xfrm>
            <a:off x="1676400" y="34766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1</a:t>
            </a:r>
          </a:p>
        </p:txBody>
      </p:sp>
      <p:sp>
        <p:nvSpPr>
          <p:cNvPr id="16413" name="Text Box 31"/>
          <p:cNvSpPr txBox="1">
            <a:spLocks noChangeArrowheads="1"/>
          </p:cNvSpPr>
          <p:nvPr/>
        </p:nvSpPr>
        <p:spPr bwMode="auto">
          <a:xfrm>
            <a:off x="1600200" y="41624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2</a:t>
            </a:r>
          </a:p>
        </p:txBody>
      </p:sp>
      <p:sp>
        <p:nvSpPr>
          <p:cNvPr id="16414" name="Text Box 32"/>
          <p:cNvSpPr txBox="1">
            <a:spLocks noChangeArrowheads="1"/>
          </p:cNvSpPr>
          <p:nvPr/>
        </p:nvSpPr>
        <p:spPr bwMode="auto">
          <a:xfrm>
            <a:off x="1981200" y="49244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3</a:t>
            </a:r>
          </a:p>
        </p:txBody>
      </p:sp>
      <p:sp>
        <p:nvSpPr>
          <p:cNvPr id="16415" name="Text Box 33"/>
          <p:cNvSpPr txBox="1">
            <a:spLocks noChangeArrowheads="1"/>
          </p:cNvSpPr>
          <p:nvPr/>
        </p:nvSpPr>
        <p:spPr bwMode="auto">
          <a:xfrm>
            <a:off x="2286000" y="43148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5</a:t>
            </a:r>
          </a:p>
        </p:txBody>
      </p:sp>
      <p:sp>
        <p:nvSpPr>
          <p:cNvPr id="16416" name="Text Box 34"/>
          <p:cNvSpPr txBox="1">
            <a:spLocks noChangeArrowheads="1"/>
          </p:cNvSpPr>
          <p:nvPr/>
        </p:nvSpPr>
        <p:spPr bwMode="auto">
          <a:xfrm>
            <a:off x="2438400" y="37052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4</a:t>
            </a:r>
          </a:p>
        </p:txBody>
      </p:sp>
      <p:sp>
        <p:nvSpPr>
          <p:cNvPr id="16417" name="Oval 35"/>
          <p:cNvSpPr>
            <a:spLocks noChangeArrowheads="1"/>
          </p:cNvSpPr>
          <p:nvPr/>
        </p:nvSpPr>
        <p:spPr bwMode="auto">
          <a:xfrm>
            <a:off x="1600200" y="50006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18" name="Oval 36"/>
          <p:cNvSpPr>
            <a:spLocks noChangeArrowheads="1"/>
          </p:cNvSpPr>
          <p:nvPr/>
        </p:nvSpPr>
        <p:spPr bwMode="auto">
          <a:xfrm>
            <a:off x="2819400" y="44672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19" name="Oval 37"/>
          <p:cNvSpPr>
            <a:spLocks noChangeArrowheads="1"/>
          </p:cNvSpPr>
          <p:nvPr/>
        </p:nvSpPr>
        <p:spPr bwMode="auto">
          <a:xfrm>
            <a:off x="2590800" y="4848225"/>
            <a:ext cx="76200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20" name="Text Box 38"/>
          <p:cNvSpPr txBox="1">
            <a:spLocks noChangeArrowheads="1"/>
          </p:cNvSpPr>
          <p:nvPr/>
        </p:nvSpPr>
        <p:spPr bwMode="auto">
          <a:xfrm>
            <a:off x="2819400" y="42386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6</a:t>
            </a:r>
          </a:p>
        </p:txBody>
      </p:sp>
      <p:sp>
        <p:nvSpPr>
          <p:cNvPr id="16421" name="Text Box 39"/>
          <p:cNvSpPr txBox="1">
            <a:spLocks noChangeArrowheads="1"/>
          </p:cNvSpPr>
          <p:nvPr/>
        </p:nvSpPr>
        <p:spPr bwMode="auto">
          <a:xfrm>
            <a:off x="2590800" y="46196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7</a:t>
            </a:r>
          </a:p>
        </p:txBody>
      </p:sp>
      <p:sp>
        <p:nvSpPr>
          <p:cNvPr id="16422" name="Text Box 40"/>
          <p:cNvSpPr txBox="1">
            <a:spLocks noChangeArrowheads="1"/>
          </p:cNvSpPr>
          <p:nvPr/>
        </p:nvSpPr>
        <p:spPr bwMode="auto">
          <a:xfrm>
            <a:off x="1371600" y="4695825"/>
            <a:ext cx="3444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6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1600" baseline="-25000">
                <a:latin typeface="Times New Roman" pitchFamily="18" charset="0"/>
                <a:ea typeface="SimSun" pitchFamily="2" charset="-122"/>
              </a:rPr>
              <a:t>8</a:t>
            </a:r>
          </a:p>
        </p:txBody>
      </p:sp>
      <p:sp>
        <p:nvSpPr>
          <p:cNvPr id="16423" name="Line 41"/>
          <p:cNvSpPr>
            <a:spLocks noChangeShapeType="1"/>
          </p:cNvSpPr>
          <p:nvPr/>
        </p:nvSpPr>
        <p:spPr bwMode="auto">
          <a:xfrm flipV="1">
            <a:off x="1905000" y="3095625"/>
            <a:ext cx="3124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24" name="Line 42"/>
          <p:cNvSpPr>
            <a:spLocks noChangeShapeType="1"/>
          </p:cNvSpPr>
          <p:nvPr/>
        </p:nvSpPr>
        <p:spPr bwMode="auto">
          <a:xfrm flipV="1">
            <a:off x="2590800" y="3171825"/>
            <a:ext cx="2438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25" name="Line 43"/>
          <p:cNvSpPr>
            <a:spLocks noChangeShapeType="1"/>
          </p:cNvSpPr>
          <p:nvPr/>
        </p:nvSpPr>
        <p:spPr bwMode="auto">
          <a:xfrm>
            <a:off x="1905000" y="4238625"/>
            <a:ext cx="31242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26" name="Line 44"/>
          <p:cNvSpPr>
            <a:spLocks noChangeShapeType="1"/>
          </p:cNvSpPr>
          <p:nvPr/>
        </p:nvSpPr>
        <p:spPr bwMode="auto">
          <a:xfrm>
            <a:off x="2362200" y="4391025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27" name="Line 45"/>
          <p:cNvSpPr>
            <a:spLocks noChangeShapeType="1"/>
          </p:cNvSpPr>
          <p:nvPr/>
        </p:nvSpPr>
        <p:spPr bwMode="auto">
          <a:xfrm>
            <a:off x="2895600" y="4543425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28" name="Rectangle 46"/>
          <p:cNvSpPr>
            <a:spLocks noChangeArrowheads="1"/>
          </p:cNvSpPr>
          <p:nvPr/>
        </p:nvSpPr>
        <p:spPr bwMode="auto">
          <a:xfrm>
            <a:off x="5029200" y="5610225"/>
            <a:ext cx="8382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29" name="Line 47"/>
          <p:cNvSpPr>
            <a:spLocks noChangeShapeType="1"/>
          </p:cNvSpPr>
          <p:nvPr/>
        </p:nvSpPr>
        <p:spPr bwMode="auto">
          <a:xfrm>
            <a:off x="2590800" y="4848225"/>
            <a:ext cx="2438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30" name="Line 48"/>
          <p:cNvSpPr>
            <a:spLocks noChangeShapeType="1"/>
          </p:cNvSpPr>
          <p:nvPr/>
        </p:nvSpPr>
        <p:spPr bwMode="auto">
          <a:xfrm>
            <a:off x="2133600" y="5000625"/>
            <a:ext cx="2895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31" name="Line 49"/>
          <p:cNvSpPr>
            <a:spLocks noChangeShapeType="1"/>
          </p:cNvSpPr>
          <p:nvPr/>
        </p:nvSpPr>
        <p:spPr bwMode="auto">
          <a:xfrm>
            <a:off x="1676400" y="5000625"/>
            <a:ext cx="3352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32" name="Rectangle 54"/>
          <p:cNvSpPr>
            <a:spLocks noChangeArrowheads="1"/>
          </p:cNvSpPr>
          <p:nvPr/>
        </p:nvSpPr>
        <p:spPr bwMode="auto">
          <a:xfrm>
            <a:off x="6096000" y="28670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1</a:t>
            </a:r>
            <a:endParaRPr lang="en-US" altLang="zh-CN" sz="2000" i="1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33" name="Line 56"/>
          <p:cNvSpPr>
            <a:spLocks noChangeShapeType="1"/>
          </p:cNvSpPr>
          <p:nvPr/>
        </p:nvSpPr>
        <p:spPr bwMode="auto">
          <a:xfrm>
            <a:off x="6477000" y="2867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34" name="Rectangle 57"/>
          <p:cNvSpPr>
            <a:spLocks noChangeArrowheads="1"/>
          </p:cNvSpPr>
          <p:nvPr/>
        </p:nvSpPr>
        <p:spPr bwMode="auto">
          <a:xfrm>
            <a:off x="7162800" y="28670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4</a:t>
            </a:r>
          </a:p>
        </p:txBody>
      </p:sp>
      <p:sp>
        <p:nvSpPr>
          <p:cNvPr id="16435" name="Line 58"/>
          <p:cNvSpPr>
            <a:spLocks noChangeShapeType="1"/>
          </p:cNvSpPr>
          <p:nvPr/>
        </p:nvSpPr>
        <p:spPr bwMode="auto">
          <a:xfrm>
            <a:off x="7543800" y="2867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36" name="Rectangle 59"/>
          <p:cNvSpPr>
            <a:spLocks noChangeArrowheads="1"/>
          </p:cNvSpPr>
          <p:nvPr/>
        </p:nvSpPr>
        <p:spPr bwMode="auto">
          <a:xfrm>
            <a:off x="6096000" y="42386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5</a:t>
            </a:r>
          </a:p>
        </p:txBody>
      </p:sp>
      <p:sp>
        <p:nvSpPr>
          <p:cNvPr id="16437" name="Line 60"/>
          <p:cNvSpPr>
            <a:spLocks noChangeShapeType="1"/>
          </p:cNvSpPr>
          <p:nvPr/>
        </p:nvSpPr>
        <p:spPr bwMode="auto">
          <a:xfrm>
            <a:off x="6477000" y="42386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38" name="Line 62"/>
          <p:cNvSpPr>
            <a:spLocks noChangeShapeType="1"/>
          </p:cNvSpPr>
          <p:nvPr/>
        </p:nvSpPr>
        <p:spPr bwMode="auto">
          <a:xfrm>
            <a:off x="7543800" y="42386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39" name="Rectangle 63"/>
          <p:cNvSpPr>
            <a:spLocks noChangeArrowheads="1"/>
          </p:cNvSpPr>
          <p:nvPr/>
        </p:nvSpPr>
        <p:spPr bwMode="auto">
          <a:xfrm>
            <a:off x="8229600" y="42386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40" name="Line 64"/>
          <p:cNvSpPr>
            <a:spLocks noChangeShapeType="1"/>
          </p:cNvSpPr>
          <p:nvPr/>
        </p:nvSpPr>
        <p:spPr bwMode="auto">
          <a:xfrm>
            <a:off x="8610600" y="42386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41" name="Rectangle 65"/>
          <p:cNvSpPr>
            <a:spLocks noChangeArrowheads="1"/>
          </p:cNvSpPr>
          <p:nvPr/>
        </p:nvSpPr>
        <p:spPr bwMode="auto">
          <a:xfrm>
            <a:off x="6096000" y="51530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42" name="Line 66"/>
          <p:cNvSpPr>
            <a:spLocks noChangeShapeType="1"/>
          </p:cNvSpPr>
          <p:nvPr/>
        </p:nvSpPr>
        <p:spPr bwMode="auto">
          <a:xfrm>
            <a:off x="6477000" y="5153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43" name="Rectangle 67"/>
          <p:cNvSpPr>
            <a:spLocks noChangeArrowheads="1"/>
          </p:cNvSpPr>
          <p:nvPr/>
        </p:nvSpPr>
        <p:spPr bwMode="auto">
          <a:xfrm>
            <a:off x="7162800" y="51530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44" name="Line 68"/>
          <p:cNvSpPr>
            <a:spLocks noChangeShapeType="1"/>
          </p:cNvSpPr>
          <p:nvPr/>
        </p:nvSpPr>
        <p:spPr bwMode="auto">
          <a:xfrm>
            <a:off x="7543800" y="5153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45" name="Rectangle 69"/>
          <p:cNvSpPr>
            <a:spLocks noChangeArrowheads="1"/>
          </p:cNvSpPr>
          <p:nvPr/>
        </p:nvSpPr>
        <p:spPr bwMode="auto">
          <a:xfrm>
            <a:off x="6096000" y="5686425"/>
            <a:ext cx="762000" cy="3810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endParaRPr lang="zh-CN" altLang="en-US" u="sng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446" name="Line 70"/>
          <p:cNvSpPr>
            <a:spLocks noChangeShapeType="1"/>
          </p:cNvSpPr>
          <p:nvPr/>
        </p:nvSpPr>
        <p:spPr bwMode="auto">
          <a:xfrm>
            <a:off x="6477000" y="568642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47" name="Line 71"/>
          <p:cNvSpPr>
            <a:spLocks noChangeShapeType="1"/>
          </p:cNvSpPr>
          <p:nvPr/>
        </p:nvSpPr>
        <p:spPr bwMode="auto">
          <a:xfrm>
            <a:off x="5638800" y="3095625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48" name="Line 72"/>
          <p:cNvSpPr>
            <a:spLocks noChangeShapeType="1"/>
          </p:cNvSpPr>
          <p:nvPr/>
        </p:nvSpPr>
        <p:spPr bwMode="auto">
          <a:xfrm>
            <a:off x="6705600" y="3095625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49" name="Line 73"/>
          <p:cNvSpPr>
            <a:spLocks noChangeShapeType="1"/>
          </p:cNvSpPr>
          <p:nvPr/>
        </p:nvSpPr>
        <p:spPr bwMode="auto">
          <a:xfrm>
            <a:off x="5638800" y="4467225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0" name="Line 74"/>
          <p:cNvSpPr>
            <a:spLocks noChangeShapeType="1"/>
          </p:cNvSpPr>
          <p:nvPr/>
        </p:nvSpPr>
        <p:spPr bwMode="auto">
          <a:xfrm>
            <a:off x="6705600" y="4467225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1" name="Line 75"/>
          <p:cNvSpPr>
            <a:spLocks noChangeShapeType="1"/>
          </p:cNvSpPr>
          <p:nvPr/>
        </p:nvSpPr>
        <p:spPr bwMode="auto">
          <a:xfrm>
            <a:off x="7772400" y="4467225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2" name="Line 76"/>
          <p:cNvSpPr>
            <a:spLocks noChangeShapeType="1"/>
          </p:cNvSpPr>
          <p:nvPr/>
        </p:nvSpPr>
        <p:spPr bwMode="auto">
          <a:xfrm>
            <a:off x="5638800" y="5381625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3" name="Line 77"/>
          <p:cNvSpPr>
            <a:spLocks noChangeShapeType="1"/>
          </p:cNvSpPr>
          <p:nvPr/>
        </p:nvSpPr>
        <p:spPr bwMode="auto">
          <a:xfrm>
            <a:off x="6781800" y="5381625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4" name="Line 78"/>
          <p:cNvSpPr>
            <a:spLocks noChangeShapeType="1"/>
          </p:cNvSpPr>
          <p:nvPr/>
        </p:nvSpPr>
        <p:spPr bwMode="auto">
          <a:xfrm>
            <a:off x="5638800" y="5838825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5" name="Rectangle 86"/>
          <p:cNvSpPr>
            <a:spLocks noChangeArrowheads="1"/>
          </p:cNvSpPr>
          <p:nvPr/>
        </p:nvSpPr>
        <p:spPr bwMode="auto">
          <a:xfrm>
            <a:off x="8229600" y="42386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6</a:t>
            </a:r>
          </a:p>
        </p:txBody>
      </p:sp>
      <p:sp>
        <p:nvSpPr>
          <p:cNvPr id="16456" name="Line 87"/>
          <p:cNvSpPr>
            <a:spLocks noChangeShapeType="1"/>
          </p:cNvSpPr>
          <p:nvPr/>
        </p:nvSpPr>
        <p:spPr bwMode="auto">
          <a:xfrm>
            <a:off x="8610600" y="42386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7" name="Rectangle 88"/>
          <p:cNvSpPr>
            <a:spLocks noChangeArrowheads="1"/>
          </p:cNvSpPr>
          <p:nvPr/>
        </p:nvSpPr>
        <p:spPr bwMode="auto">
          <a:xfrm>
            <a:off x="6096000" y="51530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7</a:t>
            </a:r>
          </a:p>
        </p:txBody>
      </p:sp>
      <p:sp>
        <p:nvSpPr>
          <p:cNvPr id="16458" name="Line 89"/>
          <p:cNvSpPr>
            <a:spLocks noChangeShapeType="1"/>
          </p:cNvSpPr>
          <p:nvPr/>
        </p:nvSpPr>
        <p:spPr bwMode="auto">
          <a:xfrm>
            <a:off x="6477000" y="5153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59" name="Rectangle 90"/>
          <p:cNvSpPr>
            <a:spLocks noChangeArrowheads="1"/>
          </p:cNvSpPr>
          <p:nvPr/>
        </p:nvSpPr>
        <p:spPr bwMode="auto">
          <a:xfrm>
            <a:off x="7162800" y="51530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3</a:t>
            </a:r>
          </a:p>
        </p:txBody>
      </p:sp>
      <p:sp>
        <p:nvSpPr>
          <p:cNvPr id="16460" name="Line 91"/>
          <p:cNvSpPr>
            <a:spLocks noChangeShapeType="1"/>
          </p:cNvSpPr>
          <p:nvPr/>
        </p:nvSpPr>
        <p:spPr bwMode="auto">
          <a:xfrm>
            <a:off x="7543800" y="5153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1" name="Rectangle 92"/>
          <p:cNvSpPr>
            <a:spLocks noChangeArrowheads="1"/>
          </p:cNvSpPr>
          <p:nvPr/>
        </p:nvSpPr>
        <p:spPr bwMode="auto">
          <a:xfrm>
            <a:off x="6096000" y="5686425"/>
            <a:ext cx="7620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/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k</a:t>
            </a:r>
            <a:r>
              <a:rPr lang="en-US" altLang="zh-CN" sz="2000" baseline="-25000">
                <a:latin typeface="Times New Roman" pitchFamily="18" charset="0"/>
                <a:ea typeface="SimSun" pitchFamily="2" charset="-122"/>
              </a:rPr>
              <a:t>8</a:t>
            </a:r>
          </a:p>
        </p:txBody>
      </p:sp>
      <p:sp>
        <p:nvSpPr>
          <p:cNvPr id="16462" name="Line 93"/>
          <p:cNvSpPr>
            <a:spLocks noChangeShapeType="1"/>
          </p:cNvSpPr>
          <p:nvPr/>
        </p:nvSpPr>
        <p:spPr bwMode="auto">
          <a:xfrm>
            <a:off x="6477000" y="56864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3" name="Line 96"/>
          <p:cNvSpPr>
            <a:spLocks noChangeShapeType="1"/>
          </p:cNvSpPr>
          <p:nvPr/>
        </p:nvSpPr>
        <p:spPr bwMode="auto">
          <a:xfrm flipH="1">
            <a:off x="5257800" y="2028825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4" name="Line 97"/>
          <p:cNvSpPr>
            <a:spLocks noChangeShapeType="1"/>
          </p:cNvSpPr>
          <p:nvPr/>
        </p:nvSpPr>
        <p:spPr bwMode="auto">
          <a:xfrm flipH="1">
            <a:off x="5257800" y="2486025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5" name="Line 98"/>
          <p:cNvSpPr>
            <a:spLocks noChangeShapeType="1"/>
          </p:cNvSpPr>
          <p:nvPr/>
        </p:nvSpPr>
        <p:spPr bwMode="auto">
          <a:xfrm flipH="1">
            <a:off x="5257800" y="3400425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6" name="Line 99"/>
          <p:cNvSpPr>
            <a:spLocks noChangeShapeType="1"/>
          </p:cNvSpPr>
          <p:nvPr/>
        </p:nvSpPr>
        <p:spPr bwMode="auto">
          <a:xfrm flipH="1">
            <a:off x="5257800" y="3857625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7" name="Line 100"/>
          <p:cNvSpPr>
            <a:spLocks noChangeShapeType="1"/>
          </p:cNvSpPr>
          <p:nvPr/>
        </p:nvSpPr>
        <p:spPr bwMode="auto">
          <a:xfrm flipH="1">
            <a:off x="5257800" y="4772025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8" name="Line 101"/>
          <p:cNvSpPr>
            <a:spLocks noChangeShapeType="1"/>
          </p:cNvSpPr>
          <p:nvPr/>
        </p:nvSpPr>
        <p:spPr bwMode="auto">
          <a:xfrm flipH="1">
            <a:off x="5257800" y="6143625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69" name="Line 102"/>
          <p:cNvSpPr>
            <a:spLocks noChangeShapeType="1"/>
          </p:cNvSpPr>
          <p:nvPr/>
        </p:nvSpPr>
        <p:spPr bwMode="auto">
          <a:xfrm flipH="1">
            <a:off x="7620000" y="2943225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70" name="Line 103"/>
          <p:cNvSpPr>
            <a:spLocks noChangeShapeType="1"/>
          </p:cNvSpPr>
          <p:nvPr/>
        </p:nvSpPr>
        <p:spPr bwMode="auto">
          <a:xfrm flipH="1">
            <a:off x="8686800" y="4314825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71" name="Line 104"/>
          <p:cNvSpPr>
            <a:spLocks noChangeShapeType="1"/>
          </p:cNvSpPr>
          <p:nvPr/>
        </p:nvSpPr>
        <p:spPr bwMode="auto">
          <a:xfrm flipH="1">
            <a:off x="7620000" y="5229225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72" name="Line 105"/>
          <p:cNvSpPr>
            <a:spLocks noChangeShapeType="1"/>
          </p:cNvSpPr>
          <p:nvPr/>
        </p:nvSpPr>
        <p:spPr bwMode="auto">
          <a:xfrm flipH="1">
            <a:off x="6553200" y="5762625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Rectangle 3"/>
          <p:cNvSpPr txBox="1">
            <a:spLocks noChangeArrowheads="1"/>
          </p:cNvSpPr>
          <p:nvPr/>
        </p:nvSpPr>
        <p:spPr bwMode="auto">
          <a:xfrm>
            <a:off x="312738" y="1125538"/>
            <a:ext cx="84359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kern="0" dirty="0">
                <a:latin typeface="+mn-lt"/>
                <a:cs typeface="+mn-cs"/>
              </a:rPr>
              <a:t>Chaining puts elements that hash to the same slot in a linked list: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Chaining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i="1">
                <a:solidFill>
                  <a:schemeClr val="accent1"/>
                </a:solidFill>
              </a:rPr>
              <a:t>How do we insert an element?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76200" y="2667000"/>
            <a:ext cx="3962400" cy="38100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000" b="1" i="1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381000" y="3429000"/>
            <a:ext cx="3429000" cy="2743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000" b="1" i="1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4572000" y="6172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4572000" y="5791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4572000" y="5410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4572000" y="5029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4572000" y="4648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4572000" y="4267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4572000" y="3886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21" name="Rectangle 13"/>
          <p:cNvSpPr>
            <a:spLocks noChangeArrowheads="1"/>
          </p:cNvSpPr>
          <p:nvPr/>
        </p:nvSpPr>
        <p:spPr bwMode="auto">
          <a:xfrm>
            <a:off x="4572000" y="3505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4572000" y="3124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4572000" y="2743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24" name="Rectangle 16"/>
          <p:cNvSpPr>
            <a:spLocks noChangeArrowheads="1"/>
          </p:cNvSpPr>
          <p:nvPr/>
        </p:nvSpPr>
        <p:spPr bwMode="auto">
          <a:xfrm>
            <a:off x="4572000" y="2362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T</a:t>
            </a: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1563688" y="4144963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4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1447800" y="5318125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2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2592388" y="52578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3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1066800" y="3733800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1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2362200" y="4251325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5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593725" y="2803525"/>
            <a:ext cx="2927350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U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(universe of keys)</a:t>
            </a:r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425450" y="4221163"/>
            <a:ext cx="1250950" cy="1006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K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(actual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keys)</a:t>
            </a:r>
          </a:p>
        </p:txBody>
      </p:sp>
      <p:cxnSp>
        <p:nvCxnSpPr>
          <p:cNvPr id="17432" name="AutoShape 24"/>
          <p:cNvCxnSpPr>
            <a:cxnSpLocks noChangeShapeType="1"/>
            <a:stCxn id="17428" idx="3"/>
          </p:cNvCxnSpPr>
          <p:nvPr/>
        </p:nvCxnSpPr>
        <p:spPr bwMode="auto">
          <a:xfrm flipV="1">
            <a:off x="1446213" y="3225800"/>
            <a:ext cx="3111500" cy="70643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7433" name="AutoShape 25"/>
          <p:cNvCxnSpPr>
            <a:cxnSpLocks noChangeShapeType="1"/>
            <a:stCxn id="17425" idx="3"/>
            <a:endCxn id="17422" idx="1"/>
          </p:cNvCxnSpPr>
          <p:nvPr/>
        </p:nvCxnSpPr>
        <p:spPr bwMode="auto">
          <a:xfrm flipV="1">
            <a:off x="1943100" y="3314700"/>
            <a:ext cx="2614613" cy="10287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7434" name="AutoShape 26"/>
          <p:cNvCxnSpPr>
            <a:cxnSpLocks noChangeShapeType="1"/>
            <a:stCxn id="17429" idx="3"/>
          </p:cNvCxnSpPr>
          <p:nvPr/>
        </p:nvCxnSpPr>
        <p:spPr bwMode="auto">
          <a:xfrm>
            <a:off x="2741613" y="4449763"/>
            <a:ext cx="1816100" cy="2825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7435" name="AutoShape 27"/>
          <p:cNvCxnSpPr>
            <a:cxnSpLocks noChangeShapeType="1"/>
            <a:stCxn id="17426" idx="3"/>
          </p:cNvCxnSpPr>
          <p:nvPr/>
        </p:nvCxnSpPr>
        <p:spPr bwMode="auto">
          <a:xfrm flipV="1">
            <a:off x="1827213" y="4927600"/>
            <a:ext cx="2730500" cy="58896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7436" name="AutoShape 28"/>
          <p:cNvCxnSpPr>
            <a:cxnSpLocks noChangeShapeType="1"/>
            <a:stCxn id="17427" idx="3"/>
            <a:endCxn id="17416" idx="1"/>
          </p:cNvCxnSpPr>
          <p:nvPr/>
        </p:nvCxnSpPr>
        <p:spPr bwMode="auto">
          <a:xfrm>
            <a:off x="2971800" y="5456238"/>
            <a:ext cx="1585913" cy="14446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1143000" y="5562600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6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2135188" y="54102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8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1906588" y="46482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7</a:t>
            </a:r>
            <a:endParaRPr lang="en-US" sz="2000" i="1">
              <a:latin typeface="Times New Roman" pitchFamily="18" charset="0"/>
            </a:endParaRPr>
          </a:p>
        </p:txBody>
      </p:sp>
      <p:cxnSp>
        <p:nvCxnSpPr>
          <p:cNvPr id="17440" name="AutoShape 32"/>
          <p:cNvCxnSpPr>
            <a:cxnSpLocks noChangeShapeType="1"/>
            <a:stCxn id="17437" idx="3"/>
          </p:cNvCxnSpPr>
          <p:nvPr/>
        </p:nvCxnSpPr>
        <p:spPr bwMode="auto">
          <a:xfrm>
            <a:off x="1522413" y="5761038"/>
            <a:ext cx="3035300" cy="2635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7441" name="AutoShape 33"/>
          <p:cNvCxnSpPr>
            <a:cxnSpLocks noChangeShapeType="1"/>
            <a:stCxn id="17439" idx="3"/>
            <a:endCxn id="17418" idx="1"/>
          </p:cNvCxnSpPr>
          <p:nvPr/>
        </p:nvCxnSpPr>
        <p:spPr bwMode="auto">
          <a:xfrm flipV="1">
            <a:off x="2286000" y="4838700"/>
            <a:ext cx="2271713" cy="793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7442" name="AutoShape 34"/>
          <p:cNvCxnSpPr>
            <a:cxnSpLocks noChangeShapeType="1"/>
            <a:stCxn id="17438" idx="3"/>
          </p:cNvCxnSpPr>
          <p:nvPr/>
        </p:nvCxnSpPr>
        <p:spPr bwMode="auto">
          <a:xfrm>
            <a:off x="2514600" y="5608638"/>
            <a:ext cx="2044700" cy="27146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sp>
        <p:nvSpPr>
          <p:cNvPr id="17443" name="Rectangle 35"/>
          <p:cNvSpPr>
            <a:spLocks noChangeArrowheads="1"/>
          </p:cNvSpPr>
          <p:nvPr/>
        </p:nvSpPr>
        <p:spPr bwMode="auto">
          <a:xfrm>
            <a:off x="57912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1</a:t>
            </a:r>
            <a:endParaRPr lang="en-US" sz="2000" b="1" i="1">
              <a:latin typeface="Courier New" pitchFamily="49" charset="0"/>
            </a:endParaRPr>
          </a:p>
        </p:txBody>
      </p:sp>
      <p:sp>
        <p:nvSpPr>
          <p:cNvPr id="17444" name="Rectangle 36"/>
          <p:cNvSpPr>
            <a:spLocks noChangeArrowheads="1"/>
          </p:cNvSpPr>
          <p:nvPr/>
        </p:nvSpPr>
        <p:spPr bwMode="auto">
          <a:xfrm>
            <a:off x="62484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Rectangle 37"/>
          <p:cNvSpPr>
            <a:spLocks noChangeArrowheads="1"/>
          </p:cNvSpPr>
          <p:nvPr/>
        </p:nvSpPr>
        <p:spPr bwMode="auto">
          <a:xfrm>
            <a:off x="69342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4</a:t>
            </a:r>
          </a:p>
        </p:txBody>
      </p:sp>
      <p:sp>
        <p:nvSpPr>
          <p:cNvPr id="17446" name="Rectangle 38"/>
          <p:cNvSpPr>
            <a:spLocks noChangeArrowheads="1"/>
          </p:cNvSpPr>
          <p:nvPr/>
        </p:nvSpPr>
        <p:spPr bwMode="auto">
          <a:xfrm>
            <a:off x="73914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47" name="Rectangle 39"/>
          <p:cNvSpPr>
            <a:spLocks noChangeArrowheads="1"/>
          </p:cNvSpPr>
          <p:nvPr/>
        </p:nvSpPr>
        <p:spPr bwMode="auto">
          <a:xfrm>
            <a:off x="5791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5</a:t>
            </a:r>
          </a:p>
        </p:txBody>
      </p:sp>
      <p:sp>
        <p:nvSpPr>
          <p:cNvPr id="17448" name="Rectangle 40"/>
          <p:cNvSpPr>
            <a:spLocks noChangeArrowheads="1"/>
          </p:cNvSpPr>
          <p:nvPr/>
        </p:nvSpPr>
        <p:spPr bwMode="auto">
          <a:xfrm>
            <a:off x="6248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9" name="Rectangle 41"/>
          <p:cNvSpPr>
            <a:spLocks noChangeArrowheads="1"/>
          </p:cNvSpPr>
          <p:nvPr/>
        </p:nvSpPr>
        <p:spPr bwMode="auto">
          <a:xfrm>
            <a:off x="6934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7450" name="Rectangle 42"/>
          <p:cNvSpPr>
            <a:spLocks noChangeArrowheads="1"/>
          </p:cNvSpPr>
          <p:nvPr/>
        </p:nvSpPr>
        <p:spPr bwMode="auto">
          <a:xfrm>
            <a:off x="7391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1" name="Rectangle 43"/>
          <p:cNvSpPr>
            <a:spLocks noChangeArrowheads="1"/>
          </p:cNvSpPr>
          <p:nvPr/>
        </p:nvSpPr>
        <p:spPr bwMode="auto">
          <a:xfrm>
            <a:off x="5791200" y="53848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7452" name="Rectangle 44"/>
          <p:cNvSpPr>
            <a:spLocks noChangeArrowheads="1"/>
          </p:cNvSpPr>
          <p:nvPr/>
        </p:nvSpPr>
        <p:spPr bwMode="auto">
          <a:xfrm>
            <a:off x="57912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8</a:t>
            </a:r>
          </a:p>
        </p:txBody>
      </p:sp>
      <p:sp>
        <p:nvSpPr>
          <p:cNvPr id="17453" name="Rectangle 45"/>
          <p:cNvSpPr>
            <a:spLocks noChangeArrowheads="1"/>
          </p:cNvSpPr>
          <p:nvPr/>
        </p:nvSpPr>
        <p:spPr bwMode="auto">
          <a:xfrm>
            <a:off x="62484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4" name="Rectangle 46"/>
          <p:cNvSpPr>
            <a:spLocks noChangeArrowheads="1"/>
          </p:cNvSpPr>
          <p:nvPr/>
        </p:nvSpPr>
        <p:spPr bwMode="auto">
          <a:xfrm>
            <a:off x="69342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17455" name="Rectangle 47"/>
          <p:cNvSpPr>
            <a:spLocks noChangeArrowheads="1"/>
          </p:cNvSpPr>
          <p:nvPr/>
        </p:nvSpPr>
        <p:spPr bwMode="auto">
          <a:xfrm>
            <a:off x="73914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6248400" y="53848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57" name="Rectangle 49"/>
          <p:cNvSpPr>
            <a:spLocks noChangeArrowheads="1"/>
          </p:cNvSpPr>
          <p:nvPr/>
        </p:nvSpPr>
        <p:spPr bwMode="auto">
          <a:xfrm>
            <a:off x="8077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7</a:t>
            </a:r>
          </a:p>
        </p:txBody>
      </p:sp>
      <p:sp>
        <p:nvSpPr>
          <p:cNvPr id="17458" name="Rectangle 50"/>
          <p:cNvSpPr>
            <a:spLocks noChangeArrowheads="1"/>
          </p:cNvSpPr>
          <p:nvPr/>
        </p:nvSpPr>
        <p:spPr bwMode="auto">
          <a:xfrm>
            <a:off x="8534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7459" name="Line 51"/>
          <p:cNvSpPr>
            <a:spLocks noChangeShapeType="1"/>
          </p:cNvSpPr>
          <p:nvPr/>
        </p:nvSpPr>
        <p:spPr bwMode="auto">
          <a:xfrm>
            <a:off x="6477000" y="3314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0" name="Line 52"/>
          <p:cNvSpPr>
            <a:spLocks noChangeShapeType="1"/>
          </p:cNvSpPr>
          <p:nvPr/>
        </p:nvSpPr>
        <p:spPr bwMode="auto">
          <a:xfrm>
            <a:off x="6477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1" name="Line 53"/>
          <p:cNvSpPr>
            <a:spLocks noChangeShapeType="1"/>
          </p:cNvSpPr>
          <p:nvPr/>
        </p:nvSpPr>
        <p:spPr bwMode="auto">
          <a:xfrm>
            <a:off x="6477000" y="598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2" name="Line 54"/>
          <p:cNvSpPr>
            <a:spLocks noChangeShapeType="1"/>
          </p:cNvSpPr>
          <p:nvPr/>
        </p:nvSpPr>
        <p:spPr bwMode="auto">
          <a:xfrm>
            <a:off x="7620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3" name="Line 55"/>
          <p:cNvSpPr>
            <a:spLocks noChangeShapeType="1"/>
          </p:cNvSpPr>
          <p:nvPr/>
        </p:nvSpPr>
        <p:spPr bwMode="auto">
          <a:xfrm>
            <a:off x="5334000" y="3314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4" name="Line 56"/>
          <p:cNvSpPr>
            <a:spLocks noChangeShapeType="1"/>
          </p:cNvSpPr>
          <p:nvPr/>
        </p:nvSpPr>
        <p:spPr bwMode="auto">
          <a:xfrm>
            <a:off x="5334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5" name="Line 57"/>
          <p:cNvSpPr>
            <a:spLocks noChangeShapeType="1"/>
          </p:cNvSpPr>
          <p:nvPr/>
        </p:nvSpPr>
        <p:spPr bwMode="auto">
          <a:xfrm>
            <a:off x="5334000" y="5600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6" name="Line 58"/>
          <p:cNvSpPr>
            <a:spLocks noChangeShapeType="1"/>
          </p:cNvSpPr>
          <p:nvPr/>
        </p:nvSpPr>
        <p:spPr bwMode="auto">
          <a:xfrm>
            <a:off x="5334000" y="598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Chaining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i="1">
                <a:solidFill>
                  <a:schemeClr val="accent1"/>
                </a:solidFill>
              </a:rPr>
              <a:t>How do we delete an element?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76200" y="2667000"/>
            <a:ext cx="3962400" cy="38100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000" b="1" i="1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381000" y="3429000"/>
            <a:ext cx="3429000" cy="2743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000" b="1" i="1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4572000" y="6172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4572000" y="5791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4572000" y="5410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4572000" y="5029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4572000" y="4648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4572000" y="4267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4572000" y="3886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4572000" y="3505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4572000" y="3124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4572000" y="2743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4572000" y="2362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T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1563688" y="4144963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4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447800" y="5318125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2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2592388" y="52578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3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1066800" y="3733800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1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2362200" y="4251325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5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593725" y="2803525"/>
            <a:ext cx="2927350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U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(universe of keys)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425450" y="4221163"/>
            <a:ext cx="1250950" cy="1006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K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(actual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keys)</a:t>
            </a:r>
          </a:p>
        </p:txBody>
      </p:sp>
      <p:cxnSp>
        <p:nvCxnSpPr>
          <p:cNvPr id="18456" name="AutoShape 24"/>
          <p:cNvCxnSpPr>
            <a:cxnSpLocks noChangeShapeType="1"/>
            <a:stCxn id="18452" idx="3"/>
          </p:cNvCxnSpPr>
          <p:nvPr/>
        </p:nvCxnSpPr>
        <p:spPr bwMode="auto">
          <a:xfrm flipV="1">
            <a:off x="1446213" y="3225800"/>
            <a:ext cx="3111500" cy="70643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8457" name="AutoShape 25"/>
          <p:cNvCxnSpPr>
            <a:cxnSpLocks noChangeShapeType="1"/>
            <a:stCxn id="18449" idx="3"/>
            <a:endCxn id="18446" idx="1"/>
          </p:cNvCxnSpPr>
          <p:nvPr/>
        </p:nvCxnSpPr>
        <p:spPr bwMode="auto">
          <a:xfrm flipV="1">
            <a:off x="1943100" y="3314700"/>
            <a:ext cx="2614613" cy="10287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8458" name="AutoShape 26"/>
          <p:cNvCxnSpPr>
            <a:cxnSpLocks noChangeShapeType="1"/>
            <a:stCxn id="18453" idx="3"/>
          </p:cNvCxnSpPr>
          <p:nvPr/>
        </p:nvCxnSpPr>
        <p:spPr bwMode="auto">
          <a:xfrm>
            <a:off x="2741613" y="4449763"/>
            <a:ext cx="1816100" cy="2825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8459" name="AutoShape 27"/>
          <p:cNvCxnSpPr>
            <a:cxnSpLocks noChangeShapeType="1"/>
            <a:stCxn id="18450" idx="3"/>
          </p:cNvCxnSpPr>
          <p:nvPr/>
        </p:nvCxnSpPr>
        <p:spPr bwMode="auto">
          <a:xfrm flipV="1">
            <a:off x="1827213" y="4927600"/>
            <a:ext cx="2730500" cy="58896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8460" name="AutoShape 28"/>
          <p:cNvCxnSpPr>
            <a:cxnSpLocks noChangeShapeType="1"/>
            <a:stCxn id="18451" idx="3"/>
            <a:endCxn id="18440" idx="1"/>
          </p:cNvCxnSpPr>
          <p:nvPr/>
        </p:nvCxnSpPr>
        <p:spPr bwMode="auto">
          <a:xfrm>
            <a:off x="2971800" y="5456238"/>
            <a:ext cx="1585913" cy="14446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1143000" y="5562600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6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2135188" y="54102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8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1906588" y="46482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7</a:t>
            </a:r>
            <a:endParaRPr lang="en-US" sz="2000" i="1">
              <a:latin typeface="Times New Roman" pitchFamily="18" charset="0"/>
            </a:endParaRPr>
          </a:p>
        </p:txBody>
      </p:sp>
      <p:cxnSp>
        <p:nvCxnSpPr>
          <p:cNvPr id="18464" name="AutoShape 32"/>
          <p:cNvCxnSpPr>
            <a:cxnSpLocks noChangeShapeType="1"/>
            <a:stCxn id="18461" idx="3"/>
          </p:cNvCxnSpPr>
          <p:nvPr/>
        </p:nvCxnSpPr>
        <p:spPr bwMode="auto">
          <a:xfrm>
            <a:off x="1522413" y="5761038"/>
            <a:ext cx="3035300" cy="2635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8465" name="AutoShape 33"/>
          <p:cNvCxnSpPr>
            <a:cxnSpLocks noChangeShapeType="1"/>
            <a:stCxn id="18463" idx="3"/>
            <a:endCxn id="18442" idx="1"/>
          </p:cNvCxnSpPr>
          <p:nvPr/>
        </p:nvCxnSpPr>
        <p:spPr bwMode="auto">
          <a:xfrm flipV="1">
            <a:off x="2286000" y="4838700"/>
            <a:ext cx="2271713" cy="793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8466" name="AutoShape 34"/>
          <p:cNvCxnSpPr>
            <a:cxnSpLocks noChangeShapeType="1"/>
            <a:stCxn id="18462" idx="3"/>
          </p:cNvCxnSpPr>
          <p:nvPr/>
        </p:nvCxnSpPr>
        <p:spPr bwMode="auto">
          <a:xfrm>
            <a:off x="2514600" y="5608638"/>
            <a:ext cx="2044700" cy="27146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57912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1</a:t>
            </a:r>
            <a:endParaRPr lang="en-US" sz="2000" b="1" i="1">
              <a:latin typeface="Courier New" pitchFamily="49" charset="0"/>
            </a:endParaRPr>
          </a:p>
        </p:txBody>
      </p:sp>
      <p:sp>
        <p:nvSpPr>
          <p:cNvPr id="18468" name="Rectangle 36"/>
          <p:cNvSpPr>
            <a:spLocks noChangeArrowheads="1"/>
          </p:cNvSpPr>
          <p:nvPr/>
        </p:nvSpPr>
        <p:spPr bwMode="auto">
          <a:xfrm>
            <a:off x="62484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69" name="Rectangle 37"/>
          <p:cNvSpPr>
            <a:spLocks noChangeArrowheads="1"/>
          </p:cNvSpPr>
          <p:nvPr/>
        </p:nvSpPr>
        <p:spPr bwMode="auto">
          <a:xfrm>
            <a:off x="69342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4</a:t>
            </a:r>
          </a:p>
        </p:txBody>
      </p:sp>
      <p:sp>
        <p:nvSpPr>
          <p:cNvPr id="18470" name="Rectangle 38"/>
          <p:cNvSpPr>
            <a:spLocks noChangeArrowheads="1"/>
          </p:cNvSpPr>
          <p:nvPr/>
        </p:nvSpPr>
        <p:spPr bwMode="auto">
          <a:xfrm>
            <a:off x="73914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71" name="Rectangle 39"/>
          <p:cNvSpPr>
            <a:spLocks noChangeArrowheads="1"/>
          </p:cNvSpPr>
          <p:nvPr/>
        </p:nvSpPr>
        <p:spPr bwMode="auto">
          <a:xfrm>
            <a:off x="5791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5</a:t>
            </a:r>
          </a:p>
        </p:txBody>
      </p:sp>
      <p:sp>
        <p:nvSpPr>
          <p:cNvPr id="18472" name="Rectangle 40"/>
          <p:cNvSpPr>
            <a:spLocks noChangeArrowheads="1"/>
          </p:cNvSpPr>
          <p:nvPr/>
        </p:nvSpPr>
        <p:spPr bwMode="auto">
          <a:xfrm>
            <a:off x="6248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73" name="Rectangle 41"/>
          <p:cNvSpPr>
            <a:spLocks noChangeArrowheads="1"/>
          </p:cNvSpPr>
          <p:nvPr/>
        </p:nvSpPr>
        <p:spPr bwMode="auto">
          <a:xfrm>
            <a:off x="6934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8474" name="Rectangle 42"/>
          <p:cNvSpPr>
            <a:spLocks noChangeArrowheads="1"/>
          </p:cNvSpPr>
          <p:nvPr/>
        </p:nvSpPr>
        <p:spPr bwMode="auto">
          <a:xfrm>
            <a:off x="7391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75" name="Rectangle 43"/>
          <p:cNvSpPr>
            <a:spLocks noChangeArrowheads="1"/>
          </p:cNvSpPr>
          <p:nvPr/>
        </p:nvSpPr>
        <p:spPr bwMode="auto">
          <a:xfrm>
            <a:off x="5791200" y="53848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57912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8</a:t>
            </a:r>
          </a:p>
        </p:txBody>
      </p:sp>
      <p:sp>
        <p:nvSpPr>
          <p:cNvPr id="18477" name="Rectangle 45"/>
          <p:cNvSpPr>
            <a:spLocks noChangeArrowheads="1"/>
          </p:cNvSpPr>
          <p:nvPr/>
        </p:nvSpPr>
        <p:spPr bwMode="auto">
          <a:xfrm>
            <a:off x="62484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78" name="Rectangle 46"/>
          <p:cNvSpPr>
            <a:spLocks noChangeArrowheads="1"/>
          </p:cNvSpPr>
          <p:nvPr/>
        </p:nvSpPr>
        <p:spPr bwMode="auto">
          <a:xfrm>
            <a:off x="69342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18479" name="Rectangle 47"/>
          <p:cNvSpPr>
            <a:spLocks noChangeArrowheads="1"/>
          </p:cNvSpPr>
          <p:nvPr/>
        </p:nvSpPr>
        <p:spPr bwMode="auto">
          <a:xfrm>
            <a:off x="73914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80" name="Rectangle 48"/>
          <p:cNvSpPr>
            <a:spLocks noChangeArrowheads="1"/>
          </p:cNvSpPr>
          <p:nvPr/>
        </p:nvSpPr>
        <p:spPr bwMode="auto">
          <a:xfrm>
            <a:off x="6248400" y="53848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81" name="Rectangle 49"/>
          <p:cNvSpPr>
            <a:spLocks noChangeArrowheads="1"/>
          </p:cNvSpPr>
          <p:nvPr/>
        </p:nvSpPr>
        <p:spPr bwMode="auto">
          <a:xfrm>
            <a:off x="8077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7</a:t>
            </a:r>
          </a:p>
        </p:txBody>
      </p:sp>
      <p:sp>
        <p:nvSpPr>
          <p:cNvPr id="18482" name="Rectangle 50"/>
          <p:cNvSpPr>
            <a:spLocks noChangeArrowheads="1"/>
          </p:cNvSpPr>
          <p:nvPr/>
        </p:nvSpPr>
        <p:spPr bwMode="auto">
          <a:xfrm>
            <a:off x="8534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8483" name="Line 51"/>
          <p:cNvSpPr>
            <a:spLocks noChangeShapeType="1"/>
          </p:cNvSpPr>
          <p:nvPr/>
        </p:nvSpPr>
        <p:spPr bwMode="auto">
          <a:xfrm>
            <a:off x="6477000" y="3314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84" name="Line 52"/>
          <p:cNvSpPr>
            <a:spLocks noChangeShapeType="1"/>
          </p:cNvSpPr>
          <p:nvPr/>
        </p:nvSpPr>
        <p:spPr bwMode="auto">
          <a:xfrm>
            <a:off x="6477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85" name="Line 53"/>
          <p:cNvSpPr>
            <a:spLocks noChangeShapeType="1"/>
          </p:cNvSpPr>
          <p:nvPr/>
        </p:nvSpPr>
        <p:spPr bwMode="auto">
          <a:xfrm>
            <a:off x="6477000" y="598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86" name="Line 54"/>
          <p:cNvSpPr>
            <a:spLocks noChangeShapeType="1"/>
          </p:cNvSpPr>
          <p:nvPr/>
        </p:nvSpPr>
        <p:spPr bwMode="auto">
          <a:xfrm>
            <a:off x="7620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87" name="Line 55"/>
          <p:cNvSpPr>
            <a:spLocks noChangeShapeType="1"/>
          </p:cNvSpPr>
          <p:nvPr/>
        </p:nvSpPr>
        <p:spPr bwMode="auto">
          <a:xfrm>
            <a:off x="5334000" y="3314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88" name="Line 56"/>
          <p:cNvSpPr>
            <a:spLocks noChangeShapeType="1"/>
          </p:cNvSpPr>
          <p:nvPr/>
        </p:nvSpPr>
        <p:spPr bwMode="auto">
          <a:xfrm>
            <a:off x="5334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89" name="Line 57"/>
          <p:cNvSpPr>
            <a:spLocks noChangeShapeType="1"/>
          </p:cNvSpPr>
          <p:nvPr/>
        </p:nvSpPr>
        <p:spPr bwMode="auto">
          <a:xfrm>
            <a:off x="5334000" y="5600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90" name="Line 58"/>
          <p:cNvSpPr>
            <a:spLocks noChangeShapeType="1"/>
          </p:cNvSpPr>
          <p:nvPr/>
        </p:nvSpPr>
        <p:spPr bwMode="auto">
          <a:xfrm>
            <a:off x="5334000" y="598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Chaining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i="1">
                <a:solidFill>
                  <a:schemeClr val="accent1"/>
                </a:solidFill>
              </a:rPr>
              <a:t>How do we search for a element with a </a:t>
            </a:r>
            <a:br>
              <a:rPr lang="en-US" i="1">
                <a:solidFill>
                  <a:schemeClr val="accent1"/>
                </a:solidFill>
              </a:rPr>
            </a:br>
            <a:r>
              <a:rPr lang="en-US" i="1">
                <a:solidFill>
                  <a:schemeClr val="accent1"/>
                </a:solidFill>
              </a:rPr>
              <a:t>given key?</a:t>
            </a: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76200" y="2667000"/>
            <a:ext cx="3962400" cy="38100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000" b="1" i="1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381000" y="3429000"/>
            <a:ext cx="3429000" cy="2743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000" b="1" i="1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4572000" y="6172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4572000" y="5791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4572000" y="5410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4572000" y="5029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4572000" y="4648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4572000" y="4267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4572000" y="3886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4572000" y="3505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4572000" y="3124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4572000" y="2743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4572000" y="2362200"/>
            <a:ext cx="990600" cy="381000"/>
          </a:xfrm>
          <a:prstGeom prst="rect">
            <a:avLst/>
          </a:prstGeom>
          <a:solidFill>
            <a:srgbClr val="FFFFFF"/>
          </a:solidFill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T</a:t>
            </a:r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1563688" y="4144963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4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1447800" y="5318125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2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2592388" y="52578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3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9476" name="Text Box 20"/>
          <p:cNvSpPr txBox="1">
            <a:spLocks noChangeArrowheads="1"/>
          </p:cNvSpPr>
          <p:nvPr/>
        </p:nvSpPr>
        <p:spPr bwMode="auto">
          <a:xfrm>
            <a:off x="1066800" y="3733800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1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2362200" y="4251325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5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593725" y="2803525"/>
            <a:ext cx="2927350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U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(universe of keys)</a:t>
            </a:r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>
            <a:off x="425450" y="4221163"/>
            <a:ext cx="1250950" cy="1006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K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(actual</a:t>
            </a:r>
            <a:b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</a:br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keys)</a:t>
            </a:r>
          </a:p>
        </p:txBody>
      </p:sp>
      <p:cxnSp>
        <p:nvCxnSpPr>
          <p:cNvPr id="19480" name="AutoShape 24"/>
          <p:cNvCxnSpPr>
            <a:cxnSpLocks noChangeShapeType="1"/>
            <a:stCxn id="19476" idx="3"/>
          </p:cNvCxnSpPr>
          <p:nvPr/>
        </p:nvCxnSpPr>
        <p:spPr bwMode="auto">
          <a:xfrm flipV="1">
            <a:off x="1446213" y="3225800"/>
            <a:ext cx="3111500" cy="70643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9481" name="AutoShape 25"/>
          <p:cNvCxnSpPr>
            <a:cxnSpLocks noChangeShapeType="1"/>
            <a:stCxn id="19473" idx="3"/>
            <a:endCxn id="19470" idx="1"/>
          </p:cNvCxnSpPr>
          <p:nvPr/>
        </p:nvCxnSpPr>
        <p:spPr bwMode="auto">
          <a:xfrm flipV="1">
            <a:off x="1943100" y="3314700"/>
            <a:ext cx="2614613" cy="10287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9482" name="AutoShape 26"/>
          <p:cNvCxnSpPr>
            <a:cxnSpLocks noChangeShapeType="1"/>
            <a:stCxn id="19477" idx="3"/>
          </p:cNvCxnSpPr>
          <p:nvPr/>
        </p:nvCxnSpPr>
        <p:spPr bwMode="auto">
          <a:xfrm>
            <a:off x="2741613" y="4449763"/>
            <a:ext cx="1816100" cy="2825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9483" name="AutoShape 27"/>
          <p:cNvCxnSpPr>
            <a:cxnSpLocks noChangeShapeType="1"/>
            <a:stCxn id="19474" idx="3"/>
          </p:cNvCxnSpPr>
          <p:nvPr/>
        </p:nvCxnSpPr>
        <p:spPr bwMode="auto">
          <a:xfrm flipV="1">
            <a:off x="1827213" y="4927600"/>
            <a:ext cx="2730500" cy="58896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9484" name="AutoShape 28"/>
          <p:cNvCxnSpPr>
            <a:cxnSpLocks noChangeShapeType="1"/>
            <a:stCxn id="19475" idx="3"/>
            <a:endCxn id="19464" idx="1"/>
          </p:cNvCxnSpPr>
          <p:nvPr/>
        </p:nvCxnSpPr>
        <p:spPr bwMode="auto">
          <a:xfrm>
            <a:off x="2971800" y="5456238"/>
            <a:ext cx="1585913" cy="14446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1143000" y="5562600"/>
            <a:ext cx="37941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6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2135188" y="54102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8</a:t>
            </a:r>
            <a:endParaRPr lang="en-US" sz="2000" i="1">
              <a:latin typeface="Times New Roman" pitchFamily="18" charset="0"/>
            </a:endParaRPr>
          </a:p>
        </p:txBody>
      </p:sp>
      <p:sp>
        <p:nvSpPr>
          <p:cNvPr id="19487" name="Text Box 31"/>
          <p:cNvSpPr txBox="1">
            <a:spLocks noChangeArrowheads="1"/>
          </p:cNvSpPr>
          <p:nvPr/>
        </p:nvSpPr>
        <p:spPr bwMode="auto">
          <a:xfrm>
            <a:off x="1906588" y="4648200"/>
            <a:ext cx="3794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i="1" baseline="-25000">
                <a:latin typeface="Times New Roman" pitchFamily="18" charset="0"/>
              </a:rPr>
              <a:t>7</a:t>
            </a:r>
            <a:endParaRPr lang="en-US" sz="2000" i="1">
              <a:latin typeface="Times New Roman" pitchFamily="18" charset="0"/>
            </a:endParaRPr>
          </a:p>
        </p:txBody>
      </p:sp>
      <p:cxnSp>
        <p:nvCxnSpPr>
          <p:cNvPr id="19488" name="AutoShape 32"/>
          <p:cNvCxnSpPr>
            <a:cxnSpLocks noChangeShapeType="1"/>
            <a:stCxn id="19485" idx="3"/>
          </p:cNvCxnSpPr>
          <p:nvPr/>
        </p:nvCxnSpPr>
        <p:spPr bwMode="auto">
          <a:xfrm>
            <a:off x="1522413" y="5761038"/>
            <a:ext cx="3035300" cy="2635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9489" name="AutoShape 33"/>
          <p:cNvCxnSpPr>
            <a:cxnSpLocks noChangeShapeType="1"/>
            <a:stCxn id="19487" idx="3"/>
            <a:endCxn id="19466" idx="1"/>
          </p:cNvCxnSpPr>
          <p:nvPr/>
        </p:nvCxnSpPr>
        <p:spPr bwMode="auto">
          <a:xfrm flipV="1">
            <a:off x="2286000" y="4838700"/>
            <a:ext cx="2271713" cy="793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cxnSp>
        <p:nvCxnSpPr>
          <p:cNvPr id="19490" name="AutoShape 34"/>
          <p:cNvCxnSpPr>
            <a:cxnSpLocks noChangeShapeType="1"/>
            <a:stCxn id="19486" idx="3"/>
          </p:cNvCxnSpPr>
          <p:nvPr/>
        </p:nvCxnSpPr>
        <p:spPr bwMode="auto">
          <a:xfrm>
            <a:off x="2514600" y="5608638"/>
            <a:ext cx="2044700" cy="27146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</p:cxnSp>
      <p:sp>
        <p:nvSpPr>
          <p:cNvPr id="19491" name="Rectangle 35"/>
          <p:cNvSpPr>
            <a:spLocks noChangeArrowheads="1"/>
          </p:cNvSpPr>
          <p:nvPr/>
        </p:nvSpPr>
        <p:spPr bwMode="auto">
          <a:xfrm>
            <a:off x="57912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1</a:t>
            </a:r>
            <a:endParaRPr lang="en-US" sz="2000" b="1" i="1">
              <a:latin typeface="Courier New" pitchFamily="49" charset="0"/>
            </a:endParaRPr>
          </a:p>
        </p:txBody>
      </p:sp>
      <p:sp>
        <p:nvSpPr>
          <p:cNvPr id="19492" name="Rectangle 36"/>
          <p:cNvSpPr>
            <a:spLocks noChangeArrowheads="1"/>
          </p:cNvSpPr>
          <p:nvPr/>
        </p:nvSpPr>
        <p:spPr bwMode="auto">
          <a:xfrm>
            <a:off x="62484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93" name="Rectangle 37"/>
          <p:cNvSpPr>
            <a:spLocks noChangeArrowheads="1"/>
          </p:cNvSpPr>
          <p:nvPr/>
        </p:nvSpPr>
        <p:spPr bwMode="auto">
          <a:xfrm>
            <a:off x="69342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4</a:t>
            </a:r>
          </a:p>
        </p:txBody>
      </p:sp>
      <p:sp>
        <p:nvSpPr>
          <p:cNvPr id="19494" name="Rectangle 38"/>
          <p:cNvSpPr>
            <a:spLocks noChangeArrowheads="1"/>
          </p:cNvSpPr>
          <p:nvPr/>
        </p:nvSpPr>
        <p:spPr bwMode="auto">
          <a:xfrm>
            <a:off x="7391400" y="3124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495" name="Rectangle 39"/>
          <p:cNvSpPr>
            <a:spLocks noChangeArrowheads="1"/>
          </p:cNvSpPr>
          <p:nvPr/>
        </p:nvSpPr>
        <p:spPr bwMode="auto">
          <a:xfrm>
            <a:off x="5791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5</a:t>
            </a:r>
          </a:p>
        </p:txBody>
      </p:sp>
      <p:sp>
        <p:nvSpPr>
          <p:cNvPr id="19496" name="Rectangle 40"/>
          <p:cNvSpPr>
            <a:spLocks noChangeArrowheads="1"/>
          </p:cNvSpPr>
          <p:nvPr/>
        </p:nvSpPr>
        <p:spPr bwMode="auto">
          <a:xfrm>
            <a:off x="6248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97" name="Rectangle 41"/>
          <p:cNvSpPr>
            <a:spLocks noChangeArrowheads="1"/>
          </p:cNvSpPr>
          <p:nvPr/>
        </p:nvSpPr>
        <p:spPr bwMode="auto">
          <a:xfrm>
            <a:off x="6934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9498" name="Rectangle 42"/>
          <p:cNvSpPr>
            <a:spLocks noChangeArrowheads="1"/>
          </p:cNvSpPr>
          <p:nvPr/>
        </p:nvSpPr>
        <p:spPr bwMode="auto">
          <a:xfrm>
            <a:off x="7391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99" name="Rectangle 43"/>
          <p:cNvSpPr>
            <a:spLocks noChangeArrowheads="1"/>
          </p:cNvSpPr>
          <p:nvPr/>
        </p:nvSpPr>
        <p:spPr bwMode="auto">
          <a:xfrm>
            <a:off x="5791200" y="53848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9500" name="Rectangle 44"/>
          <p:cNvSpPr>
            <a:spLocks noChangeArrowheads="1"/>
          </p:cNvSpPr>
          <p:nvPr/>
        </p:nvSpPr>
        <p:spPr bwMode="auto">
          <a:xfrm>
            <a:off x="57912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8</a:t>
            </a:r>
          </a:p>
        </p:txBody>
      </p:sp>
      <p:sp>
        <p:nvSpPr>
          <p:cNvPr id="19501" name="Rectangle 45"/>
          <p:cNvSpPr>
            <a:spLocks noChangeArrowheads="1"/>
          </p:cNvSpPr>
          <p:nvPr/>
        </p:nvSpPr>
        <p:spPr bwMode="auto">
          <a:xfrm>
            <a:off x="62484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2" name="Rectangle 46"/>
          <p:cNvSpPr>
            <a:spLocks noChangeArrowheads="1"/>
          </p:cNvSpPr>
          <p:nvPr/>
        </p:nvSpPr>
        <p:spPr bwMode="auto">
          <a:xfrm>
            <a:off x="69342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19503" name="Rectangle 47"/>
          <p:cNvSpPr>
            <a:spLocks noChangeArrowheads="1"/>
          </p:cNvSpPr>
          <p:nvPr/>
        </p:nvSpPr>
        <p:spPr bwMode="auto">
          <a:xfrm>
            <a:off x="7391400" y="58039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504" name="Rectangle 48"/>
          <p:cNvSpPr>
            <a:spLocks noChangeArrowheads="1"/>
          </p:cNvSpPr>
          <p:nvPr/>
        </p:nvSpPr>
        <p:spPr bwMode="auto">
          <a:xfrm>
            <a:off x="6248400" y="53848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505" name="Rectangle 49"/>
          <p:cNvSpPr>
            <a:spLocks noChangeArrowheads="1"/>
          </p:cNvSpPr>
          <p:nvPr/>
        </p:nvSpPr>
        <p:spPr bwMode="auto">
          <a:xfrm>
            <a:off x="80772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i="1">
                <a:latin typeface="Times New Roman" pitchFamily="18" charset="0"/>
              </a:rPr>
              <a:t>k</a:t>
            </a:r>
            <a:r>
              <a:rPr lang="en-US" sz="2000" baseline="-25000">
                <a:latin typeface="Times New Roman" pitchFamily="18" charset="0"/>
              </a:rPr>
              <a:t>7</a:t>
            </a:r>
          </a:p>
        </p:txBody>
      </p:sp>
      <p:sp>
        <p:nvSpPr>
          <p:cNvPr id="19506" name="Rectangle 50"/>
          <p:cNvSpPr>
            <a:spLocks noChangeArrowheads="1"/>
          </p:cNvSpPr>
          <p:nvPr/>
        </p:nvSpPr>
        <p:spPr bwMode="auto">
          <a:xfrm>
            <a:off x="8534400" y="4648200"/>
            <a:ext cx="457200" cy="381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b="1" i="1">
                <a:solidFill>
                  <a:schemeClr val="accent1"/>
                </a:solidFill>
                <a:latin typeface="Courier New" pitchFamily="49" charset="0"/>
              </a:rPr>
              <a:t>——</a:t>
            </a:r>
          </a:p>
        </p:txBody>
      </p:sp>
      <p:sp>
        <p:nvSpPr>
          <p:cNvPr id="19507" name="Line 51"/>
          <p:cNvSpPr>
            <a:spLocks noChangeShapeType="1"/>
          </p:cNvSpPr>
          <p:nvPr/>
        </p:nvSpPr>
        <p:spPr bwMode="auto">
          <a:xfrm>
            <a:off x="6477000" y="3314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8" name="Line 52"/>
          <p:cNvSpPr>
            <a:spLocks noChangeShapeType="1"/>
          </p:cNvSpPr>
          <p:nvPr/>
        </p:nvSpPr>
        <p:spPr bwMode="auto">
          <a:xfrm>
            <a:off x="6477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9" name="Line 53"/>
          <p:cNvSpPr>
            <a:spLocks noChangeShapeType="1"/>
          </p:cNvSpPr>
          <p:nvPr/>
        </p:nvSpPr>
        <p:spPr bwMode="auto">
          <a:xfrm>
            <a:off x="6477000" y="598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10" name="Line 54"/>
          <p:cNvSpPr>
            <a:spLocks noChangeShapeType="1"/>
          </p:cNvSpPr>
          <p:nvPr/>
        </p:nvSpPr>
        <p:spPr bwMode="auto">
          <a:xfrm>
            <a:off x="7620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11" name="Line 55"/>
          <p:cNvSpPr>
            <a:spLocks noChangeShapeType="1"/>
          </p:cNvSpPr>
          <p:nvPr/>
        </p:nvSpPr>
        <p:spPr bwMode="auto">
          <a:xfrm>
            <a:off x="5334000" y="3314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12" name="Line 56"/>
          <p:cNvSpPr>
            <a:spLocks noChangeShapeType="1"/>
          </p:cNvSpPr>
          <p:nvPr/>
        </p:nvSpPr>
        <p:spPr bwMode="auto">
          <a:xfrm>
            <a:off x="5334000" y="4838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13" name="Line 57"/>
          <p:cNvSpPr>
            <a:spLocks noChangeShapeType="1"/>
          </p:cNvSpPr>
          <p:nvPr/>
        </p:nvSpPr>
        <p:spPr bwMode="auto">
          <a:xfrm>
            <a:off x="5334000" y="5600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14" name="Line 58"/>
          <p:cNvSpPr>
            <a:spLocks noChangeShapeType="1"/>
          </p:cNvSpPr>
          <p:nvPr/>
        </p:nvSpPr>
        <p:spPr bwMode="auto">
          <a:xfrm>
            <a:off x="5334000" y="598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B047-2616-4326-B614-B20D2BDF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8545F-EBC6-4766-9E19-A73532568E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%5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keys:</a:t>
                </a:r>
              </a:p>
              <a:p>
                <a:pPr lvl="1"/>
                <a:r>
                  <a:rPr lang="en-US" dirty="0"/>
                  <a:t>2, 15, 23, 40, 62, 75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8545F-EBC6-4766-9E19-A73532568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521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B047-2616-4326-B614-B20D2BDF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8545F-EBC6-4766-9E19-A73532568E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%5</m:t>
                    </m:r>
                  </m:oMath>
                </a14:m>
                <a:endParaRPr lang="en-US" sz="2000" b="0" dirty="0"/>
              </a:p>
              <a:p>
                <a:r>
                  <a:rPr lang="en-US" sz="2000" dirty="0"/>
                  <a:t>keys:</a:t>
                </a:r>
              </a:p>
              <a:p>
                <a:pPr lvl="1"/>
                <a:r>
                  <a:rPr lang="en-US" sz="1800" dirty="0"/>
                  <a:t>2, 15, 23, 40, 62, 75</a:t>
                </a:r>
              </a:p>
              <a:p>
                <a:r>
                  <a:rPr lang="en-US" sz="2000" b="1" dirty="0"/>
                  <a:t>Calculating Hash Values:</a:t>
                </a:r>
              </a:p>
              <a:p>
                <a:pPr marL="0" indent="0">
                  <a:buNone/>
                </a:pPr>
                <a:r>
                  <a:rPr lang="en-US" sz="2000" dirty="0"/>
                  <a:t>1. </a:t>
                </a:r>
                <a:r>
                  <a:rPr lang="en-US" sz="1600" dirty="0"/>
                  <a:t>For Key = 2:    h(2) = 2 *2 % 5 = 4 % 5 = 4</a:t>
                </a:r>
              </a:p>
              <a:p>
                <a:pPr marL="0" indent="0">
                  <a:buNone/>
                </a:pPr>
                <a:r>
                  <a:rPr lang="en-US" sz="1600" dirty="0"/>
                  <a:t>2. For Key = 15:   h(15) = 2 *15 % 5 = 30 % 5 = 0</a:t>
                </a:r>
              </a:p>
              <a:p>
                <a:pPr marL="0" indent="0">
                  <a:buNone/>
                </a:pPr>
                <a:r>
                  <a:rPr lang="en-US" sz="1600" dirty="0"/>
                  <a:t>3. For Key = 23:   h(23) = 2 *23 % 5 = 46 % 5 = 1</a:t>
                </a:r>
              </a:p>
              <a:p>
                <a:pPr marL="0" indent="0">
                  <a:buNone/>
                </a:pPr>
                <a:r>
                  <a:rPr lang="en-US" sz="1600" dirty="0"/>
                  <a:t>4. For Key = 40:   h(40) = 2 *40 % 5 = 80 % 5 = 0</a:t>
                </a:r>
              </a:p>
              <a:p>
                <a:pPr marL="0" indent="0">
                  <a:buNone/>
                </a:pPr>
                <a:r>
                  <a:rPr lang="en-US" sz="1600" dirty="0"/>
                  <a:t>5. For Key = 62:   h(62) = 2 *62% 5 = 124 % 5 = 4</a:t>
                </a:r>
              </a:p>
              <a:p>
                <a:pPr marL="0" indent="0">
                  <a:buNone/>
                </a:pPr>
                <a:r>
                  <a:rPr lang="en-US" sz="1600" dirty="0"/>
                  <a:t>6. For Key = 75:   h(75) = 2 *75 % 5 = 150 % 5 = 0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6B8545F-EBC6-4766-9E19-A73532568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872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97EA-4E50-4F17-9405-56984B2E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85E641D-1D98-4BF3-9A3E-63F1B46439A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600" y="1204913"/>
                <a:ext cx="8229600" cy="434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Monotype Sorts" pitchFamily="2" charset="2"/>
                  <a:buChar char="l"/>
                  <a:defRPr sz="26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5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Monotype Sorts" pitchFamily="2" charset="2"/>
                  <a:buChar char="u"/>
                  <a:defRPr sz="22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Monotype Sorts" pitchFamily="2" charset="2"/>
                  <a:buChar char="]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kern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kern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 kern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kern="0" smtClean="0">
                        <a:latin typeface="Cambria Math" panose="02040503050406030204" pitchFamily="18" charset="0"/>
                      </a:rPr>
                      <m:t>%5</m:t>
                    </m:r>
                  </m:oMath>
                </a14:m>
                <a:endParaRPr lang="en-US" kern="0" dirty="0"/>
              </a:p>
              <a:p>
                <a:r>
                  <a:rPr lang="en-US" kern="0" dirty="0"/>
                  <a:t>keys:</a:t>
                </a:r>
              </a:p>
              <a:p>
                <a:pPr lvl="1"/>
                <a:r>
                  <a:rPr lang="en-US" kern="0" dirty="0"/>
                  <a:t>20, 15, 40</a:t>
                </a:r>
                <a:r>
                  <a:rPr lang="en-US" kern="0"/>
                  <a:t>, 50, </a:t>
                </a:r>
                <a:r>
                  <a:rPr lang="en-US" kern="0" dirty="0"/>
                  <a:t>75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85E641D-1D98-4BF3-9A3E-63F1B4643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204913"/>
                <a:ext cx="8229600" cy="4343400"/>
              </a:xfrm>
              <a:prstGeom prst="rect">
                <a:avLst/>
              </a:prstGeom>
              <a:blipFill>
                <a:blip r:embed="rId2"/>
                <a:stretch>
                  <a:fillRect l="-8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0849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Analysis of Chaining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Assume </a:t>
            </a:r>
            <a:r>
              <a:rPr lang="en-US" i="1">
                <a:solidFill>
                  <a:schemeClr val="tx2"/>
                </a:solidFill>
              </a:rPr>
              <a:t>simple uniform hashing</a:t>
            </a:r>
            <a:r>
              <a:rPr lang="en-US"/>
              <a:t>: each key in table is equally likely to be hashed to any slot</a:t>
            </a:r>
          </a:p>
          <a:p>
            <a:r>
              <a:rPr lang="en-US"/>
              <a:t>Given </a:t>
            </a:r>
            <a:r>
              <a:rPr lang="en-US" i="1"/>
              <a:t>n</a:t>
            </a:r>
            <a:r>
              <a:rPr lang="en-US"/>
              <a:t> keys and </a:t>
            </a:r>
            <a:r>
              <a:rPr lang="en-US" i="1"/>
              <a:t>m</a:t>
            </a:r>
            <a:r>
              <a:rPr lang="en-US"/>
              <a:t> slots in the table: the </a:t>
            </a:r>
            <a:br>
              <a:rPr lang="en-US"/>
            </a:br>
            <a:r>
              <a:rPr lang="en-US" i="1">
                <a:solidFill>
                  <a:schemeClr val="tx2"/>
                </a:solidFill>
              </a:rPr>
              <a:t>load factor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 i="1">
                <a:solidFill>
                  <a:schemeClr val="tx2"/>
                </a:solidFill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/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 = average # keys per slot</a:t>
            </a:r>
          </a:p>
          <a:p>
            <a:r>
              <a:rPr lang="en-US" i="1">
                <a:solidFill>
                  <a:schemeClr val="accent1"/>
                </a:solidFill>
                <a:sym typeface="Symbol" pitchFamily="18" charset="2"/>
              </a:rPr>
              <a:t>What will be the average cost of an  unsuccessful search for a key?</a:t>
            </a:r>
          </a:p>
          <a:p>
            <a:endParaRPr lang="en-US">
              <a:sym typeface="Symbol" pitchFamily="18" charset="2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Analysis of Chaining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Assume </a:t>
            </a:r>
            <a:r>
              <a:rPr lang="en-US" i="1">
                <a:solidFill>
                  <a:schemeClr val="tx2"/>
                </a:solidFill>
              </a:rPr>
              <a:t>simple uniform hashing</a:t>
            </a:r>
            <a:r>
              <a:rPr lang="en-US"/>
              <a:t>: each key in table is equally likely to be hashed to any slot</a:t>
            </a:r>
          </a:p>
          <a:p>
            <a:r>
              <a:rPr lang="en-US"/>
              <a:t>Given </a:t>
            </a:r>
            <a:r>
              <a:rPr lang="en-US" i="1"/>
              <a:t>n</a:t>
            </a:r>
            <a:r>
              <a:rPr lang="en-US"/>
              <a:t> keys and </a:t>
            </a:r>
            <a:r>
              <a:rPr lang="en-US" i="1"/>
              <a:t>m</a:t>
            </a:r>
            <a:r>
              <a:rPr lang="en-US"/>
              <a:t> slots in the table, the </a:t>
            </a:r>
            <a:br>
              <a:rPr lang="en-US"/>
            </a:br>
            <a:r>
              <a:rPr lang="en-US" i="1">
                <a:solidFill>
                  <a:schemeClr val="tx2"/>
                </a:solidFill>
              </a:rPr>
              <a:t>load factor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 i="1">
                <a:solidFill>
                  <a:schemeClr val="tx2"/>
                </a:solidFill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/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 = average # keys per slot</a:t>
            </a:r>
          </a:p>
          <a:p>
            <a:r>
              <a:rPr lang="en-US" i="1">
                <a:solidFill>
                  <a:schemeClr val="accent1"/>
                </a:solidFill>
                <a:sym typeface="Symbol" pitchFamily="18" charset="2"/>
              </a:rPr>
              <a:t>What will be the average cost of an  unsuccessful search for a key?     </a:t>
            </a:r>
            <a:r>
              <a:rPr lang="en-US">
                <a:sym typeface="Symbol" pitchFamily="18" charset="2"/>
              </a:rPr>
              <a:t>A: </a:t>
            </a:r>
            <a:r>
              <a:rPr lang="en-US"/>
              <a:t>O(1+</a:t>
            </a:r>
            <a:r>
              <a:rPr lang="en-US" i="1"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Analysis of Chaining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Assume </a:t>
            </a:r>
            <a:r>
              <a:rPr lang="en-US" i="1">
                <a:solidFill>
                  <a:schemeClr val="tx2"/>
                </a:solidFill>
              </a:rPr>
              <a:t>simple uniform hashing</a:t>
            </a:r>
            <a:r>
              <a:rPr lang="en-US"/>
              <a:t>: each key in table is equally likely to be hashed to any slot</a:t>
            </a:r>
          </a:p>
          <a:p>
            <a:r>
              <a:rPr lang="en-US"/>
              <a:t>Given </a:t>
            </a:r>
            <a:r>
              <a:rPr lang="en-US" i="1"/>
              <a:t>n</a:t>
            </a:r>
            <a:r>
              <a:rPr lang="en-US"/>
              <a:t> keys and </a:t>
            </a:r>
            <a:r>
              <a:rPr lang="en-US" i="1"/>
              <a:t>m</a:t>
            </a:r>
            <a:r>
              <a:rPr lang="en-US"/>
              <a:t> slots in the table, the </a:t>
            </a:r>
            <a:br>
              <a:rPr lang="en-US"/>
            </a:br>
            <a:r>
              <a:rPr lang="en-US" i="1">
                <a:solidFill>
                  <a:schemeClr val="tx2"/>
                </a:solidFill>
              </a:rPr>
              <a:t>load factor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 i="1">
                <a:solidFill>
                  <a:schemeClr val="tx2"/>
                </a:solidFill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/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 = average # keys per slot</a:t>
            </a:r>
          </a:p>
          <a:p>
            <a:r>
              <a:rPr lang="en-US" i="1">
                <a:solidFill>
                  <a:schemeClr val="accent1"/>
                </a:solidFill>
                <a:sym typeface="Symbol" pitchFamily="18" charset="2"/>
              </a:rPr>
              <a:t>What will be the average cost of an  unsuccessful search for a key?     </a:t>
            </a:r>
            <a:r>
              <a:rPr lang="en-US">
                <a:sym typeface="Symbol" pitchFamily="18" charset="2"/>
              </a:rPr>
              <a:t>A: </a:t>
            </a:r>
            <a:r>
              <a:rPr lang="en-US"/>
              <a:t>O(1+</a:t>
            </a:r>
            <a:r>
              <a:rPr lang="en-US" i="1"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)</a:t>
            </a:r>
          </a:p>
          <a:p>
            <a:r>
              <a:rPr lang="en-US" i="1">
                <a:solidFill>
                  <a:schemeClr val="accent1"/>
                </a:solidFill>
                <a:sym typeface="Symbol" pitchFamily="18" charset="2"/>
              </a:rPr>
              <a:t>What will be the average cost of a successful search?    </a:t>
            </a:r>
            <a:endParaRPr lang="en-US" i="1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EFA9-3FE4-636B-7BC3-57F926293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DCEE491-EA90-BD14-0EAC-85AE9081BF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Analysis of Chaining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41D087F-7306-B6B6-EC22-E969016261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Assume </a:t>
            </a:r>
            <a:r>
              <a:rPr lang="en-US" i="1">
                <a:solidFill>
                  <a:schemeClr val="tx2"/>
                </a:solidFill>
              </a:rPr>
              <a:t>simple uniform hashing</a:t>
            </a:r>
            <a:r>
              <a:rPr lang="en-US"/>
              <a:t>: each key in table is equally likely to be hashed to any slot</a:t>
            </a:r>
          </a:p>
          <a:p>
            <a:r>
              <a:rPr lang="en-US"/>
              <a:t>Given </a:t>
            </a:r>
            <a:r>
              <a:rPr lang="en-US" i="1"/>
              <a:t>n</a:t>
            </a:r>
            <a:r>
              <a:rPr lang="en-US"/>
              <a:t> keys and </a:t>
            </a:r>
            <a:r>
              <a:rPr lang="en-US" i="1"/>
              <a:t>m</a:t>
            </a:r>
            <a:r>
              <a:rPr lang="en-US"/>
              <a:t> slots in the table, the </a:t>
            </a:r>
            <a:br>
              <a:rPr lang="en-US"/>
            </a:br>
            <a:r>
              <a:rPr lang="en-US" i="1">
                <a:solidFill>
                  <a:schemeClr val="tx2"/>
                </a:solidFill>
              </a:rPr>
              <a:t>load factor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 i="1">
                <a:solidFill>
                  <a:schemeClr val="tx2"/>
                </a:solidFill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/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 = average # keys per slot</a:t>
            </a:r>
          </a:p>
          <a:p>
            <a:r>
              <a:rPr lang="en-US" i="1">
                <a:solidFill>
                  <a:schemeClr val="accent1"/>
                </a:solidFill>
                <a:sym typeface="Symbol" pitchFamily="18" charset="2"/>
              </a:rPr>
              <a:t>What will be the average cost of an  unsuccessful search for a key?     </a:t>
            </a:r>
            <a:r>
              <a:rPr lang="en-US">
                <a:sym typeface="Symbol" pitchFamily="18" charset="2"/>
              </a:rPr>
              <a:t>A: </a:t>
            </a:r>
            <a:r>
              <a:rPr lang="en-US"/>
              <a:t>O(1+</a:t>
            </a:r>
            <a:r>
              <a:rPr lang="en-US" i="1"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)</a:t>
            </a:r>
          </a:p>
          <a:p>
            <a:r>
              <a:rPr lang="en-US" i="1">
                <a:solidFill>
                  <a:schemeClr val="accent1"/>
                </a:solidFill>
                <a:sym typeface="Symbol" pitchFamily="18" charset="2"/>
              </a:rPr>
              <a:t>What will be the average cost of a successful search?    </a:t>
            </a:r>
            <a:r>
              <a:rPr lang="en-US">
                <a:sym typeface="Symbol" pitchFamily="18" charset="2"/>
              </a:rPr>
              <a:t>A: O(1 +</a:t>
            </a:r>
            <a:r>
              <a:rPr lang="en-US">
                <a:solidFill>
                  <a:schemeClr val="accent1"/>
                </a:solidFill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/2) = O(1 + </a:t>
            </a:r>
            <a:r>
              <a:rPr lang="en-US" i="1">
                <a:sym typeface="Symbol" pitchFamily="18" charset="2"/>
              </a:rPr>
              <a:t></a:t>
            </a:r>
            <a:r>
              <a:rPr lang="en-US">
                <a:sym typeface="Symbol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2554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Analysis of Chaining</a:t>
            </a:r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703263" y="1473200"/>
            <a:ext cx="7737475" cy="2657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Draw the 11-item hash table that results from using 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hash function 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 = (2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+ 5) mod 11, to hash 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keys 12, 44, 13, 88, 23, 94, 11, 39, 20, 16, and 5, 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assuming collisions are handled by chaining.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Open Addressing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Basic idea: </a:t>
            </a:r>
          </a:p>
          <a:p>
            <a:pPr lvl="1"/>
            <a:r>
              <a:rPr lang="en-US"/>
              <a:t>To insert: if slot is full, try another slot, …, until an open slot is found (</a:t>
            </a:r>
            <a:r>
              <a:rPr lang="en-US" i="1">
                <a:solidFill>
                  <a:schemeClr val="tx2"/>
                </a:solidFill>
              </a:rPr>
              <a:t>probing</a:t>
            </a:r>
            <a:r>
              <a:rPr lang="en-US"/>
              <a:t>)</a:t>
            </a:r>
          </a:p>
          <a:p>
            <a:pPr lvl="1"/>
            <a:r>
              <a:rPr lang="en-US"/>
              <a:t>To search, follow same sequence of probes as would be used when inserting the element</a:t>
            </a:r>
          </a:p>
          <a:p>
            <a:pPr lvl="2"/>
            <a:r>
              <a:rPr lang="en-US"/>
              <a:t>If reach element with correct key, return it</a:t>
            </a:r>
          </a:p>
          <a:p>
            <a:pPr lvl="2"/>
            <a:r>
              <a:rPr lang="en-US"/>
              <a:t>If reach a NULL pointer, element is not in table</a:t>
            </a:r>
          </a:p>
          <a:p>
            <a:r>
              <a:rPr lang="en-US"/>
              <a:t>Good for fixed sets (adding but no deletion)</a:t>
            </a:r>
          </a:p>
          <a:p>
            <a:pPr lvl="1"/>
            <a:r>
              <a:rPr lang="en-US"/>
              <a:t>Example: spell checking</a:t>
            </a:r>
          </a:p>
          <a:p>
            <a:r>
              <a:rPr lang="en-US"/>
              <a:t>Table needn’t be much bigger than </a:t>
            </a:r>
            <a:r>
              <a:rPr lang="en-US" i="1"/>
              <a:t>n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Probe Sequence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01738"/>
            <a:ext cx="8839200" cy="51800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Sequence of slots examined during a key search constitutes a </a:t>
            </a:r>
            <a:r>
              <a:rPr lang="en-US" altLang="zh-CN" b="1" i="1" dirty="0">
                <a:solidFill>
                  <a:srgbClr val="CC3300"/>
                </a:solidFill>
                <a:ea typeface="SimSun" pitchFamily="2" charset="-122"/>
              </a:rPr>
              <a:t>probe sequence</a:t>
            </a:r>
            <a:r>
              <a:rPr lang="en-US" altLang="zh-CN" dirty="0">
                <a:ea typeface="SimSun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Probe sequence must be a permutation of the slot numbers.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We examine every slot in the table, if we have to.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We don’t examine any slot more than once.</a:t>
            </a:r>
          </a:p>
          <a:p>
            <a:pPr lvl="1">
              <a:lnSpc>
                <a:spcPct val="90000"/>
              </a:lnSpc>
            </a:pPr>
            <a:endParaRPr lang="en-US" altLang="zh-CN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The hash function is extended to:</a:t>
            </a:r>
          </a:p>
          <a:p>
            <a:pPr lvl="1">
              <a:lnSpc>
                <a:spcPct val="90000"/>
              </a:lnSpc>
            </a:pPr>
            <a:r>
              <a:rPr lang="en-US" altLang="zh-CN" sz="2800" b="1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b="1" dirty="0">
                <a:solidFill>
                  <a:srgbClr val="CC3300"/>
                </a:solidFill>
                <a:ea typeface="SimSun" pitchFamily="2" charset="-122"/>
              </a:rPr>
              <a:t> : </a:t>
            </a:r>
            <a:r>
              <a:rPr lang="en-US" altLang="zh-CN" sz="2800" b="1" i="1" dirty="0">
                <a:solidFill>
                  <a:srgbClr val="CC3300"/>
                </a:solidFill>
                <a:ea typeface="SimSun" pitchFamily="2" charset="-122"/>
              </a:rPr>
              <a:t>U</a:t>
            </a:r>
            <a:r>
              <a:rPr lang="en-US" altLang="zh-CN" sz="2800" b="1" dirty="0">
                <a:solidFill>
                  <a:srgbClr val="CC3300"/>
                </a:solidFill>
                <a:ea typeface="SimSun" pitchFamily="2" charset="-122"/>
              </a:rPr>
              <a:t> </a:t>
            </a:r>
            <a:r>
              <a:rPr lang="en-US" altLang="zh-CN" sz="2800" b="1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 {0, 1, …, </a:t>
            </a:r>
            <a:r>
              <a:rPr lang="en-US" altLang="zh-CN" sz="2800" b="1" i="1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m</a:t>
            </a:r>
            <a:r>
              <a:rPr lang="en-US" altLang="zh-CN" sz="2800" b="1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 – 1}  {0, 1, …, </a:t>
            </a:r>
            <a:r>
              <a:rPr lang="en-US" altLang="zh-CN" sz="2800" b="1" i="1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m</a:t>
            </a:r>
            <a:r>
              <a:rPr lang="en-US" altLang="zh-CN" sz="2800" b="1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 – 1}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zh-CN" sz="1000" i="1" dirty="0">
              <a:ea typeface="SimSun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1000" i="1" dirty="0">
                <a:ea typeface="SimSun" pitchFamily="2" charset="-122"/>
              </a:rPr>
              <a:t> </a:t>
            </a:r>
            <a:r>
              <a:rPr lang="en-US" altLang="zh-CN" sz="2000" i="1" dirty="0">
                <a:ea typeface="SimSun" pitchFamily="2" charset="-122"/>
              </a:rPr>
              <a:t>                      </a:t>
            </a:r>
            <a:r>
              <a:rPr lang="en-US" altLang="zh-CN" sz="1800" i="1" dirty="0">
                <a:ea typeface="SimSun" pitchFamily="2" charset="-122"/>
              </a:rPr>
              <a:t>        </a:t>
            </a:r>
            <a:r>
              <a:rPr lang="en-US" altLang="zh-CN" sz="1800" dirty="0">
                <a:solidFill>
                  <a:schemeClr val="hlink"/>
                </a:solidFill>
                <a:ea typeface="SimSun" pitchFamily="2" charset="-122"/>
              </a:rPr>
              <a:t>probe number                               slot number</a:t>
            </a:r>
          </a:p>
          <a:p>
            <a:pPr>
              <a:lnSpc>
                <a:spcPct val="90000"/>
              </a:lnSpc>
            </a:pPr>
            <a:endParaRPr lang="en-US" altLang="zh-CN" sz="1400" dirty="0">
              <a:ea typeface="SimSun" pitchFamily="2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SimSun" pitchFamily="2" charset="-122"/>
                <a:sym typeface="Symbol" pitchFamily="18" charset="2"/>
              </a:rPr>
              <a:t>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h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k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, 0), 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h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k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, 1),…,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h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k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, 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m</a:t>
            </a:r>
            <a:r>
              <a:rPr lang="en-US" altLang="zh-CN" sz="2400" i="1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000" dirty="0">
                <a:ea typeface="SimSun" pitchFamily="2" charset="-122"/>
                <a:sym typeface="Symbol" pitchFamily="18" charset="2"/>
              </a:rPr>
              <a:t>–</a:t>
            </a:r>
            <a:r>
              <a:rPr lang="en-US" altLang="zh-CN" sz="1200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1) should be a permutation of   0, 1,…,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 m</a:t>
            </a:r>
            <a:r>
              <a:rPr lang="en-US" altLang="zh-CN" sz="2400" i="1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000" dirty="0">
                <a:ea typeface="SimSun" pitchFamily="2" charset="-122"/>
                <a:sym typeface="Symbol" pitchFamily="18" charset="2"/>
              </a:rPr>
              <a:t>–</a:t>
            </a:r>
            <a:r>
              <a:rPr lang="en-US" altLang="zh-CN" sz="1200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1 .</a:t>
            </a:r>
            <a:endParaRPr lang="en-US" altLang="zh-CN" sz="28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SimSun" pitchFamily="2" charset="-122"/>
            </a:endParaRPr>
          </a:p>
        </p:txBody>
      </p:sp>
      <p:sp>
        <p:nvSpPr>
          <p:cNvPr id="26628" name="AutoShape 4"/>
          <p:cNvSpPr>
            <a:spLocks/>
          </p:cNvSpPr>
          <p:nvPr/>
        </p:nvSpPr>
        <p:spPr bwMode="auto">
          <a:xfrm rot="-5400000">
            <a:off x="3246438" y="3505200"/>
            <a:ext cx="76200" cy="2286000"/>
          </a:xfrm>
          <a:prstGeom prst="leftBrace">
            <a:avLst>
              <a:gd name="adj1" fmla="val 25000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SimSun" pitchFamily="2" charset="-122"/>
            </a:endParaRPr>
          </a:p>
        </p:txBody>
      </p:sp>
      <p:sp>
        <p:nvSpPr>
          <p:cNvPr id="26629" name="AutoShape 6"/>
          <p:cNvSpPr>
            <a:spLocks/>
          </p:cNvSpPr>
          <p:nvPr/>
        </p:nvSpPr>
        <p:spPr bwMode="auto">
          <a:xfrm rot="-5400000">
            <a:off x="6096000" y="3471863"/>
            <a:ext cx="76200" cy="2286000"/>
          </a:xfrm>
          <a:prstGeom prst="leftBrace">
            <a:avLst>
              <a:gd name="adj1" fmla="val 25000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Computing Probe Sequences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SimSun" pitchFamily="2" charset="-122"/>
              </a:rPr>
              <a:t>The ideal situation is </a:t>
            </a:r>
            <a:r>
              <a:rPr lang="en-US" altLang="zh-CN" sz="2800" b="1" i="1" dirty="0">
                <a:solidFill>
                  <a:srgbClr val="CC3300"/>
                </a:solidFill>
                <a:ea typeface="SimSun" pitchFamily="2" charset="-122"/>
              </a:rPr>
              <a:t>uniform hashing</a:t>
            </a:r>
            <a:r>
              <a:rPr lang="en-US" altLang="zh-CN" sz="2800" dirty="0">
                <a:ea typeface="SimSun" pitchFamily="2" charset="-122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Generalization of simple uniform hashing.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Each key is equally likely to have any of the 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! permutations of 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0, 1,…,</a:t>
            </a:r>
            <a:r>
              <a:rPr lang="en-US" altLang="zh-CN" i="1" dirty="0">
                <a:ea typeface="SimSun" pitchFamily="2" charset="-122"/>
                <a:sym typeface="Symbol" pitchFamily="18" charset="2"/>
              </a:rPr>
              <a:t> m</a:t>
            </a:r>
            <a:r>
              <a:rPr lang="en-US" altLang="zh-CN" sz="2000" i="1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1800" dirty="0">
                <a:ea typeface="SimSun" pitchFamily="2" charset="-122"/>
                <a:sym typeface="Symbol" pitchFamily="18" charset="2"/>
              </a:rPr>
              <a:t>–</a:t>
            </a:r>
            <a:r>
              <a:rPr lang="en-US" altLang="zh-CN" sz="1100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1 as its probe sequence.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SimSun" pitchFamily="2" charset="-122"/>
                <a:sym typeface="Symbol" pitchFamily="18" charset="2"/>
              </a:rPr>
              <a:t>It is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hard to implement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 true uniform hashing.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Approximate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 with techniques that at least guarantee that the probe sequence is a permutation of 0, 1,…,</a:t>
            </a:r>
            <a:r>
              <a:rPr lang="en-US" altLang="zh-CN" i="1" dirty="0">
                <a:ea typeface="SimSun" pitchFamily="2" charset="-122"/>
                <a:sym typeface="Symbol" pitchFamily="18" charset="2"/>
              </a:rPr>
              <a:t> m</a:t>
            </a:r>
            <a:r>
              <a:rPr lang="en-US" altLang="zh-CN" sz="2000" i="1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1800" dirty="0">
                <a:ea typeface="SimSun" pitchFamily="2" charset="-122"/>
                <a:sym typeface="Symbol" pitchFamily="18" charset="2"/>
              </a:rPr>
              <a:t>–</a:t>
            </a:r>
            <a:r>
              <a:rPr lang="en-US" altLang="zh-CN" sz="1100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1.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hlink"/>
                </a:solidFill>
                <a:ea typeface="SimSun" pitchFamily="2" charset="-122"/>
                <a:sym typeface="Symbol" pitchFamily="18" charset="2"/>
              </a:rPr>
              <a:t>Some techniques: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  <a:sym typeface="Symbol" pitchFamily="18" charset="2"/>
              </a:rPr>
              <a:t>Use </a:t>
            </a:r>
            <a:r>
              <a:rPr lang="en-US" altLang="zh-CN" b="1" i="1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auxiliary hash functions</a:t>
            </a:r>
            <a:r>
              <a:rPr lang="en-US" altLang="zh-CN" i="1" dirty="0">
                <a:ea typeface="SimSun" pitchFamily="2" charset="-122"/>
                <a:sym typeface="Symbol" pitchFamily="18" charset="2"/>
              </a:rPr>
              <a:t>.</a:t>
            </a:r>
            <a:endParaRPr lang="en-US" altLang="zh-CN" dirty="0">
              <a:ea typeface="SimSun" pitchFamily="2" charset="-122"/>
              <a:sym typeface="Symbol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SimSun" pitchFamily="2" charset="-122"/>
                <a:sym typeface="Symbol" pitchFamily="18" charset="2"/>
              </a:rPr>
              <a:t>Linear Probing.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SimSun" pitchFamily="2" charset="-122"/>
                <a:sym typeface="Symbol" pitchFamily="18" charset="2"/>
              </a:rPr>
              <a:t>Quadratic Probing.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SimSun" pitchFamily="2" charset="-122"/>
                <a:sym typeface="Symbol" pitchFamily="18" charset="2"/>
              </a:rPr>
              <a:t>Double Hashing.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  <a:sym typeface="Symbol" pitchFamily="18" charset="2"/>
              </a:rPr>
              <a:t>Can’t produce all </a:t>
            </a:r>
            <a:r>
              <a:rPr lang="en-US" altLang="zh-CN" i="1" dirty="0">
                <a:ea typeface="SimSun" pitchFamily="2" charset="-122"/>
                <a:sym typeface="Symbol" pitchFamily="18" charset="2"/>
              </a:rPr>
              <a:t>m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! probe sequences.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Linear Probing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334000"/>
          </a:xfrm>
        </p:spPr>
        <p:txBody>
          <a:bodyPr/>
          <a:lstStyle/>
          <a:p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, 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i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 = 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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 + 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i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 mod 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m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.</a:t>
            </a:r>
          </a:p>
          <a:p>
            <a:endParaRPr lang="en-US" altLang="zh-CN" sz="2800" dirty="0">
              <a:ea typeface="SimSun" pitchFamily="2" charset="-122"/>
            </a:endParaRPr>
          </a:p>
          <a:p>
            <a:r>
              <a:rPr lang="en-US" altLang="zh-CN" sz="2800" dirty="0">
                <a:ea typeface="SimSun" pitchFamily="2" charset="-122"/>
              </a:rPr>
              <a:t>The initial probe determines the entire probe sequence.</a:t>
            </a:r>
          </a:p>
          <a:p>
            <a:pPr lvl="1"/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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)], </a:t>
            </a:r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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)+1], …, </a:t>
            </a:r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–1], </a:t>
            </a:r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[0], </a:t>
            </a:r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[1], …, </a:t>
            </a:r>
            <a:r>
              <a:rPr lang="en-US" altLang="zh-CN" i="1" dirty="0">
                <a:ea typeface="SimSun" pitchFamily="2" charset="-122"/>
              </a:rPr>
              <a:t>T</a:t>
            </a:r>
            <a:r>
              <a:rPr lang="en-US" altLang="zh-CN" dirty="0">
                <a:ea typeface="SimSun" pitchFamily="2" charset="-122"/>
              </a:rPr>
              <a:t>[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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)–1]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Hence, 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only </a:t>
            </a:r>
            <a:r>
              <a:rPr lang="en-US" altLang="zh-CN" i="1" dirty="0">
                <a:solidFill>
                  <a:schemeClr val="hlink"/>
                </a:solidFill>
                <a:ea typeface="SimSun" pitchFamily="2" charset="-122"/>
              </a:rPr>
              <a:t>m</a:t>
            </a:r>
            <a:r>
              <a:rPr lang="en-US" altLang="zh-CN" dirty="0">
                <a:solidFill>
                  <a:schemeClr val="hlink"/>
                </a:solidFill>
                <a:ea typeface="SimSun" pitchFamily="2" charset="-122"/>
              </a:rPr>
              <a:t> distinct probe sequences</a:t>
            </a:r>
            <a:r>
              <a:rPr lang="en-US" altLang="zh-CN" dirty="0">
                <a:ea typeface="SimSun" pitchFamily="2" charset="-122"/>
              </a:rPr>
              <a:t> are possible.</a:t>
            </a:r>
          </a:p>
          <a:p>
            <a:r>
              <a:rPr lang="en-US" altLang="zh-CN" sz="2800" dirty="0">
                <a:ea typeface="SimSun" pitchFamily="2" charset="-122"/>
              </a:rPr>
              <a:t>Suffers from </a:t>
            </a:r>
            <a:r>
              <a:rPr lang="en-US" altLang="zh-CN" sz="2800" b="1" i="1" dirty="0">
                <a:solidFill>
                  <a:srgbClr val="CC3300"/>
                </a:solidFill>
                <a:ea typeface="SimSun" pitchFamily="2" charset="-122"/>
              </a:rPr>
              <a:t>primary clustering</a:t>
            </a:r>
            <a:r>
              <a:rPr lang="en-US" altLang="zh-CN" sz="2800" dirty="0">
                <a:ea typeface="SimSun" pitchFamily="2" charset="-122"/>
              </a:rPr>
              <a:t>: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Long runs of occupied sequences build up.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Long runs tend to get longer, since an empty slot preceded by </a:t>
            </a:r>
            <a:r>
              <a:rPr lang="en-US" altLang="zh-CN" i="1" dirty="0" err="1">
                <a:ea typeface="SimSun" pitchFamily="2" charset="-122"/>
              </a:rPr>
              <a:t>i</a:t>
            </a:r>
            <a:r>
              <a:rPr lang="en-US" altLang="zh-CN" dirty="0">
                <a:ea typeface="SimSun" pitchFamily="2" charset="-122"/>
              </a:rPr>
              <a:t> full slots gets filled next with probability (</a:t>
            </a:r>
            <a:r>
              <a:rPr lang="en-US" altLang="zh-CN" i="1" dirty="0">
                <a:ea typeface="SimSun" pitchFamily="2" charset="-122"/>
              </a:rPr>
              <a:t>i</a:t>
            </a:r>
            <a:r>
              <a:rPr lang="en-US" altLang="zh-CN" dirty="0">
                <a:ea typeface="SimSun" pitchFamily="2" charset="-122"/>
              </a:rPr>
              <a:t>+1)/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Hence, average search and insertion times increase.</a:t>
            </a:r>
          </a:p>
          <a:p>
            <a:pPr lvl="1"/>
            <a:endParaRPr lang="en-US" altLang="zh-CN" i="1" dirty="0">
              <a:ea typeface="SimSun" pitchFamily="2" charset="-122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400050" y="1600200"/>
            <a:ext cx="55086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key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990600" y="1600200"/>
            <a:ext cx="16144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Probe number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819400" y="1600200"/>
            <a:ext cx="27432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Auxiliary hash function</a:t>
            </a:r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flipV="1">
            <a:off x="855663" y="1447800"/>
            <a:ext cx="134937" cy="214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H="1" flipV="1">
            <a:off x="1239838" y="1409700"/>
            <a:ext cx="76200" cy="252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flipH="1" flipV="1">
            <a:off x="2209800" y="1447800"/>
            <a:ext cx="1066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Ex: Linear Probing</a:t>
            </a:r>
          </a:p>
        </p:txBody>
      </p:sp>
      <p:sp>
        <p:nvSpPr>
          <p:cNvPr id="2969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684213" y="1143000"/>
            <a:ext cx="7848600" cy="2209800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Example:</a:t>
            </a:r>
          </a:p>
          <a:p>
            <a:pPr lvl="1"/>
            <a:r>
              <a:rPr lang="en-US" altLang="zh-CN" b="1" i="1" dirty="0">
                <a:ea typeface="SimSun" pitchFamily="2" charset="-122"/>
              </a:rPr>
              <a:t>h'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b="1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 </a:t>
            </a:r>
            <a:r>
              <a:rPr lang="en-US" altLang="zh-CN" dirty="0">
                <a:latin typeface="Symbol" pitchFamily="18" charset="2"/>
                <a:ea typeface="SimSun" pitchFamily="2" charset="-122"/>
              </a:rPr>
              <a:t>=</a:t>
            </a:r>
            <a:r>
              <a:rPr lang="en-US" altLang="zh-CN" b="1" i="1" dirty="0">
                <a:ea typeface="SimSun" pitchFamily="2" charset="-122"/>
              </a:rPr>
              <a:t> k </a:t>
            </a:r>
            <a:r>
              <a:rPr lang="en-US" altLang="zh-CN" dirty="0">
                <a:ea typeface="SimSun" pitchFamily="2" charset="-122"/>
              </a:rPr>
              <a:t>mod</a:t>
            </a:r>
            <a:r>
              <a:rPr lang="en-US" altLang="zh-CN" b="1" i="1" dirty="0">
                <a:ea typeface="SimSun" pitchFamily="2" charset="-122"/>
              </a:rPr>
              <a:t> </a:t>
            </a:r>
            <a:r>
              <a:rPr lang="en-US" altLang="zh-CN" dirty="0">
                <a:ea typeface="SimSun" pitchFamily="2" charset="-122"/>
              </a:rPr>
              <a:t>13</a:t>
            </a:r>
          </a:p>
          <a:p>
            <a:pPr lvl="1"/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, </a:t>
            </a:r>
            <a:r>
              <a:rPr lang="en-US" altLang="zh-CN" i="1" dirty="0" err="1">
                <a:ea typeface="SimSun" pitchFamily="2" charset="-122"/>
              </a:rPr>
              <a:t>i</a:t>
            </a:r>
            <a:r>
              <a:rPr lang="en-US" altLang="zh-CN" dirty="0">
                <a:ea typeface="SimSun" pitchFamily="2" charset="-122"/>
              </a:rPr>
              <a:t>) = (</a:t>
            </a:r>
            <a:r>
              <a:rPr lang="en-US" altLang="zh-CN" b="1" i="1" dirty="0">
                <a:ea typeface="SimSun" pitchFamily="2" charset="-122"/>
              </a:rPr>
              <a:t>h'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b="1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 +</a:t>
            </a:r>
            <a:r>
              <a:rPr lang="en-US" altLang="zh-CN" i="1" dirty="0">
                <a:ea typeface="SimSun" pitchFamily="2" charset="-122"/>
              </a:rPr>
              <a:t> </a:t>
            </a:r>
            <a:r>
              <a:rPr lang="en-US" altLang="zh-CN" i="1" dirty="0" err="1">
                <a:ea typeface="SimSun" pitchFamily="2" charset="-122"/>
              </a:rPr>
              <a:t>i</a:t>
            </a:r>
            <a:r>
              <a:rPr lang="en-US" altLang="zh-CN" dirty="0">
                <a:ea typeface="SimSun" pitchFamily="2" charset="-122"/>
              </a:rPr>
              <a:t>) mod 13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Insert keys 18, 41, 22, 44, 59, 32, 31, 73, in this order</a:t>
            </a:r>
          </a:p>
          <a:p>
            <a:pPr lvl="1"/>
            <a:endParaRPr lang="en-US" altLang="zh-CN" dirty="0">
              <a:ea typeface="SimSun" pitchFamily="2" charset="-122"/>
            </a:endParaRPr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19812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22860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2" name="Rectangle 7"/>
          <p:cNvSpPr>
            <a:spLocks noChangeArrowheads="1"/>
          </p:cNvSpPr>
          <p:nvPr/>
        </p:nvSpPr>
        <p:spPr bwMode="auto">
          <a:xfrm>
            <a:off x="25908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28956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4" name="Rectangle 9"/>
          <p:cNvSpPr>
            <a:spLocks noChangeArrowheads="1"/>
          </p:cNvSpPr>
          <p:nvPr/>
        </p:nvSpPr>
        <p:spPr bwMode="auto">
          <a:xfrm>
            <a:off x="32004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35052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6" name="Rectangle 11"/>
          <p:cNvSpPr>
            <a:spLocks noChangeArrowheads="1"/>
          </p:cNvSpPr>
          <p:nvPr/>
        </p:nvSpPr>
        <p:spPr bwMode="auto">
          <a:xfrm>
            <a:off x="38100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41148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08" name="Rectangle 13"/>
          <p:cNvSpPr>
            <a:spLocks noChangeArrowheads="1"/>
          </p:cNvSpPr>
          <p:nvPr/>
        </p:nvSpPr>
        <p:spPr bwMode="auto">
          <a:xfrm>
            <a:off x="44196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 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47244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10" name="Rectangle 15"/>
          <p:cNvSpPr>
            <a:spLocks noChangeArrowheads="1"/>
          </p:cNvSpPr>
          <p:nvPr/>
        </p:nvSpPr>
        <p:spPr bwMode="auto">
          <a:xfrm>
            <a:off x="50292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53340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29712" name="Rectangle 17"/>
          <p:cNvSpPr>
            <a:spLocks noChangeArrowheads="1"/>
          </p:cNvSpPr>
          <p:nvPr/>
        </p:nvSpPr>
        <p:spPr bwMode="auto">
          <a:xfrm>
            <a:off x="5638800" y="39624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SimSun" pitchFamily="2" charset="-122"/>
              </a:rPr>
              <a:t> </a:t>
            </a:r>
          </a:p>
        </p:txBody>
      </p:sp>
      <p:sp>
        <p:nvSpPr>
          <p:cNvPr id="36881" name="Text Box 18"/>
          <p:cNvSpPr txBox="1">
            <a:spLocks noChangeArrowheads="1"/>
          </p:cNvSpPr>
          <p:nvPr/>
        </p:nvSpPr>
        <p:spPr bwMode="auto">
          <a:xfrm>
            <a:off x="1984375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0</a:t>
            </a:r>
          </a:p>
        </p:txBody>
      </p:sp>
      <p:sp>
        <p:nvSpPr>
          <p:cNvPr id="36882" name="Text Box 19"/>
          <p:cNvSpPr txBox="1">
            <a:spLocks noChangeArrowheads="1"/>
          </p:cNvSpPr>
          <p:nvPr/>
        </p:nvSpPr>
        <p:spPr bwMode="auto">
          <a:xfrm>
            <a:off x="2286000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1</a:t>
            </a:r>
          </a:p>
        </p:txBody>
      </p:sp>
      <p:sp>
        <p:nvSpPr>
          <p:cNvPr id="36883" name="Text Box 20"/>
          <p:cNvSpPr txBox="1">
            <a:spLocks noChangeArrowheads="1"/>
          </p:cNvSpPr>
          <p:nvPr/>
        </p:nvSpPr>
        <p:spPr bwMode="auto">
          <a:xfrm>
            <a:off x="2587625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2</a:t>
            </a:r>
          </a:p>
        </p:txBody>
      </p:sp>
      <p:sp>
        <p:nvSpPr>
          <p:cNvPr id="36884" name="Text Box 21"/>
          <p:cNvSpPr txBox="1">
            <a:spLocks noChangeArrowheads="1"/>
          </p:cNvSpPr>
          <p:nvPr/>
        </p:nvSpPr>
        <p:spPr bwMode="auto">
          <a:xfrm>
            <a:off x="2889250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3</a:t>
            </a:r>
          </a:p>
        </p:txBody>
      </p:sp>
      <p:sp>
        <p:nvSpPr>
          <p:cNvPr id="36885" name="Text Box 22"/>
          <p:cNvSpPr txBox="1">
            <a:spLocks noChangeArrowheads="1"/>
          </p:cNvSpPr>
          <p:nvPr/>
        </p:nvSpPr>
        <p:spPr bwMode="auto">
          <a:xfrm>
            <a:off x="3190875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4</a:t>
            </a:r>
          </a:p>
        </p:txBody>
      </p:sp>
      <p:sp>
        <p:nvSpPr>
          <p:cNvPr id="36886" name="Text Box 23"/>
          <p:cNvSpPr txBox="1">
            <a:spLocks noChangeArrowheads="1"/>
          </p:cNvSpPr>
          <p:nvPr/>
        </p:nvSpPr>
        <p:spPr bwMode="auto">
          <a:xfrm>
            <a:off x="3492500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5</a:t>
            </a:r>
          </a:p>
        </p:txBody>
      </p:sp>
      <p:sp>
        <p:nvSpPr>
          <p:cNvPr id="36887" name="Text Box 24"/>
          <p:cNvSpPr txBox="1">
            <a:spLocks noChangeArrowheads="1"/>
          </p:cNvSpPr>
          <p:nvPr/>
        </p:nvSpPr>
        <p:spPr bwMode="auto">
          <a:xfrm>
            <a:off x="3794125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6</a:t>
            </a:r>
          </a:p>
        </p:txBody>
      </p:sp>
      <p:sp>
        <p:nvSpPr>
          <p:cNvPr id="36888" name="Text Box 25"/>
          <p:cNvSpPr txBox="1">
            <a:spLocks noChangeArrowheads="1"/>
          </p:cNvSpPr>
          <p:nvPr/>
        </p:nvSpPr>
        <p:spPr bwMode="auto">
          <a:xfrm>
            <a:off x="4095750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7</a:t>
            </a:r>
          </a:p>
        </p:txBody>
      </p:sp>
      <p:sp>
        <p:nvSpPr>
          <p:cNvPr id="36889" name="Text Box 26"/>
          <p:cNvSpPr txBox="1">
            <a:spLocks noChangeArrowheads="1"/>
          </p:cNvSpPr>
          <p:nvPr/>
        </p:nvSpPr>
        <p:spPr bwMode="auto">
          <a:xfrm>
            <a:off x="4397375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8</a:t>
            </a:r>
          </a:p>
        </p:txBody>
      </p:sp>
      <p:sp>
        <p:nvSpPr>
          <p:cNvPr id="36890" name="Text Box 27"/>
          <p:cNvSpPr txBox="1">
            <a:spLocks noChangeArrowheads="1"/>
          </p:cNvSpPr>
          <p:nvPr/>
        </p:nvSpPr>
        <p:spPr bwMode="auto">
          <a:xfrm>
            <a:off x="4699000" y="42291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9</a:t>
            </a:r>
          </a:p>
        </p:txBody>
      </p:sp>
      <p:sp>
        <p:nvSpPr>
          <p:cNvPr id="36891" name="Text Box 28"/>
          <p:cNvSpPr txBox="1">
            <a:spLocks noChangeArrowheads="1"/>
          </p:cNvSpPr>
          <p:nvPr/>
        </p:nvSpPr>
        <p:spPr bwMode="auto">
          <a:xfrm>
            <a:off x="4943475" y="4229100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10</a:t>
            </a:r>
          </a:p>
        </p:txBody>
      </p:sp>
      <p:sp>
        <p:nvSpPr>
          <p:cNvPr id="36892" name="Text Box 29"/>
          <p:cNvSpPr txBox="1">
            <a:spLocks noChangeArrowheads="1"/>
          </p:cNvSpPr>
          <p:nvPr/>
        </p:nvSpPr>
        <p:spPr bwMode="auto">
          <a:xfrm>
            <a:off x="5245100" y="4229100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11</a:t>
            </a:r>
          </a:p>
        </p:txBody>
      </p:sp>
      <p:sp>
        <p:nvSpPr>
          <p:cNvPr id="36893" name="Text Box 30"/>
          <p:cNvSpPr txBox="1">
            <a:spLocks noChangeArrowheads="1"/>
          </p:cNvSpPr>
          <p:nvPr/>
        </p:nvSpPr>
        <p:spPr bwMode="auto">
          <a:xfrm>
            <a:off x="5546725" y="4229100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>
                <a:latin typeface="+mn-lt"/>
                <a:ea typeface="SimSun" pitchFamily="2" charset="-122"/>
              </a:rPr>
              <a:t>12</a:t>
            </a:r>
          </a:p>
        </p:txBody>
      </p:sp>
      <p:sp>
        <p:nvSpPr>
          <p:cNvPr id="29726" name="Rectangle 31"/>
          <p:cNvSpPr>
            <a:spLocks noChangeArrowheads="1"/>
          </p:cNvSpPr>
          <p:nvPr/>
        </p:nvSpPr>
        <p:spPr bwMode="auto">
          <a:xfrm>
            <a:off x="19812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29727" name="Rectangle 32"/>
          <p:cNvSpPr>
            <a:spLocks noChangeArrowheads="1"/>
          </p:cNvSpPr>
          <p:nvPr/>
        </p:nvSpPr>
        <p:spPr bwMode="auto">
          <a:xfrm>
            <a:off x="22860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29728" name="Rectangle 33"/>
          <p:cNvSpPr>
            <a:spLocks noChangeArrowheads="1"/>
          </p:cNvSpPr>
          <p:nvPr/>
        </p:nvSpPr>
        <p:spPr bwMode="auto">
          <a:xfrm>
            <a:off x="25908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41</a:t>
            </a:r>
          </a:p>
        </p:txBody>
      </p:sp>
      <p:sp>
        <p:nvSpPr>
          <p:cNvPr id="29729" name="Rectangle 34"/>
          <p:cNvSpPr>
            <a:spLocks noChangeArrowheads="1"/>
          </p:cNvSpPr>
          <p:nvPr/>
        </p:nvSpPr>
        <p:spPr bwMode="auto">
          <a:xfrm>
            <a:off x="28956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29730" name="Rectangle 35"/>
          <p:cNvSpPr>
            <a:spLocks noChangeArrowheads="1"/>
          </p:cNvSpPr>
          <p:nvPr/>
        </p:nvSpPr>
        <p:spPr bwMode="auto">
          <a:xfrm>
            <a:off x="32004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29731" name="Rectangle 36"/>
          <p:cNvSpPr>
            <a:spLocks noChangeArrowheads="1"/>
          </p:cNvSpPr>
          <p:nvPr/>
        </p:nvSpPr>
        <p:spPr bwMode="auto">
          <a:xfrm>
            <a:off x="35052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18</a:t>
            </a:r>
          </a:p>
        </p:txBody>
      </p:sp>
      <p:sp>
        <p:nvSpPr>
          <p:cNvPr id="29732" name="Rectangle 37"/>
          <p:cNvSpPr>
            <a:spLocks noChangeArrowheads="1"/>
          </p:cNvSpPr>
          <p:nvPr/>
        </p:nvSpPr>
        <p:spPr bwMode="auto">
          <a:xfrm>
            <a:off x="38100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44</a:t>
            </a:r>
          </a:p>
        </p:txBody>
      </p:sp>
      <p:sp>
        <p:nvSpPr>
          <p:cNvPr id="29733" name="Rectangle 38"/>
          <p:cNvSpPr>
            <a:spLocks noChangeArrowheads="1"/>
          </p:cNvSpPr>
          <p:nvPr/>
        </p:nvSpPr>
        <p:spPr bwMode="auto">
          <a:xfrm>
            <a:off x="41148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59</a:t>
            </a:r>
          </a:p>
        </p:txBody>
      </p:sp>
      <p:sp>
        <p:nvSpPr>
          <p:cNvPr id="29734" name="Rectangle 39"/>
          <p:cNvSpPr>
            <a:spLocks noChangeArrowheads="1"/>
          </p:cNvSpPr>
          <p:nvPr/>
        </p:nvSpPr>
        <p:spPr bwMode="auto">
          <a:xfrm>
            <a:off x="44196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32</a:t>
            </a:r>
          </a:p>
        </p:txBody>
      </p:sp>
      <p:sp>
        <p:nvSpPr>
          <p:cNvPr id="29735" name="Rectangle 40"/>
          <p:cNvSpPr>
            <a:spLocks noChangeArrowheads="1"/>
          </p:cNvSpPr>
          <p:nvPr/>
        </p:nvSpPr>
        <p:spPr bwMode="auto">
          <a:xfrm>
            <a:off x="47244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22</a:t>
            </a:r>
          </a:p>
        </p:txBody>
      </p:sp>
      <p:sp>
        <p:nvSpPr>
          <p:cNvPr id="29736" name="Rectangle 41"/>
          <p:cNvSpPr>
            <a:spLocks noChangeArrowheads="1"/>
          </p:cNvSpPr>
          <p:nvPr/>
        </p:nvSpPr>
        <p:spPr bwMode="auto">
          <a:xfrm>
            <a:off x="50292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31</a:t>
            </a:r>
          </a:p>
        </p:txBody>
      </p:sp>
      <p:sp>
        <p:nvSpPr>
          <p:cNvPr id="29737" name="Rectangle 42"/>
          <p:cNvSpPr>
            <a:spLocks noChangeArrowheads="1"/>
          </p:cNvSpPr>
          <p:nvPr/>
        </p:nvSpPr>
        <p:spPr bwMode="auto">
          <a:xfrm>
            <a:off x="53340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73</a:t>
            </a:r>
          </a:p>
        </p:txBody>
      </p:sp>
      <p:sp>
        <p:nvSpPr>
          <p:cNvPr id="29738" name="Rectangle 43"/>
          <p:cNvSpPr>
            <a:spLocks noChangeArrowheads="1"/>
          </p:cNvSpPr>
          <p:nvPr/>
        </p:nvSpPr>
        <p:spPr bwMode="auto">
          <a:xfrm>
            <a:off x="5638800" y="5181600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29739" name="Text Box 44"/>
          <p:cNvSpPr txBox="1">
            <a:spLocks noChangeArrowheads="1"/>
          </p:cNvSpPr>
          <p:nvPr/>
        </p:nvSpPr>
        <p:spPr bwMode="auto">
          <a:xfrm>
            <a:off x="1984375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9740" name="Text Box 45"/>
          <p:cNvSpPr txBox="1">
            <a:spLocks noChangeArrowheads="1"/>
          </p:cNvSpPr>
          <p:nvPr/>
        </p:nvSpPr>
        <p:spPr bwMode="auto">
          <a:xfrm>
            <a:off x="2286000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9741" name="Text Box 46"/>
          <p:cNvSpPr txBox="1">
            <a:spLocks noChangeArrowheads="1"/>
          </p:cNvSpPr>
          <p:nvPr/>
        </p:nvSpPr>
        <p:spPr bwMode="auto">
          <a:xfrm>
            <a:off x="2587625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29742" name="Text Box 47"/>
          <p:cNvSpPr txBox="1">
            <a:spLocks noChangeArrowheads="1"/>
          </p:cNvSpPr>
          <p:nvPr/>
        </p:nvSpPr>
        <p:spPr bwMode="auto">
          <a:xfrm>
            <a:off x="2889250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29743" name="Text Box 48"/>
          <p:cNvSpPr txBox="1">
            <a:spLocks noChangeArrowheads="1"/>
          </p:cNvSpPr>
          <p:nvPr/>
        </p:nvSpPr>
        <p:spPr bwMode="auto">
          <a:xfrm>
            <a:off x="3190875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4</a:t>
            </a:r>
          </a:p>
        </p:txBody>
      </p:sp>
      <p:sp>
        <p:nvSpPr>
          <p:cNvPr id="29744" name="Text Box 49"/>
          <p:cNvSpPr txBox="1">
            <a:spLocks noChangeArrowheads="1"/>
          </p:cNvSpPr>
          <p:nvPr/>
        </p:nvSpPr>
        <p:spPr bwMode="auto">
          <a:xfrm>
            <a:off x="3492500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5</a:t>
            </a:r>
          </a:p>
        </p:txBody>
      </p:sp>
      <p:sp>
        <p:nvSpPr>
          <p:cNvPr id="29745" name="Text Box 50"/>
          <p:cNvSpPr txBox="1">
            <a:spLocks noChangeArrowheads="1"/>
          </p:cNvSpPr>
          <p:nvPr/>
        </p:nvSpPr>
        <p:spPr bwMode="auto">
          <a:xfrm>
            <a:off x="3794125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6</a:t>
            </a:r>
          </a:p>
        </p:txBody>
      </p:sp>
      <p:sp>
        <p:nvSpPr>
          <p:cNvPr id="29746" name="Text Box 51"/>
          <p:cNvSpPr txBox="1">
            <a:spLocks noChangeArrowheads="1"/>
          </p:cNvSpPr>
          <p:nvPr/>
        </p:nvSpPr>
        <p:spPr bwMode="auto">
          <a:xfrm>
            <a:off x="4095750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7</a:t>
            </a:r>
          </a:p>
        </p:txBody>
      </p:sp>
      <p:sp>
        <p:nvSpPr>
          <p:cNvPr id="29747" name="Text Box 52"/>
          <p:cNvSpPr txBox="1">
            <a:spLocks noChangeArrowheads="1"/>
          </p:cNvSpPr>
          <p:nvPr/>
        </p:nvSpPr>
        <p:spPr bwMode="auto">
          <a:xfrm>
            <a:off x="4397375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8</a:t>
            </a:r>
          </a:p>
        </p:txBody>
      </p:sp>
      <p:sp>
        <p:nvSpPr>
          <p:cNvPr id="29748" name="Text Box 53"/>
          <p:cNvSpPr txBox="1">
            <a:spLocks noChangeArrowheads="1"/>
          </p:cNvSpPr>
          <p:nvPr/>
        </p:nvSpPr>
        <p:spPr bwMode="auto">
          <a:xfrm>
            <a:off x="4699000" y="5448300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9</a:t>
            </a:r>
          </a:p>
        </p:txBody>
      </p:sp>
      <p:sp>
        <p:nvSpPr>
          <p:cNvPr id="29749" name="Text Box 54"/>
          <p:cNvSpPr txBox="1">
            <a:spLocks noChangeArrowheads="1"/>
          </p:cNvSpPr>
          <p:nvPr/>
        </p:nvSpPr>
        <p:spPr bwMode="auto">
          <a:xfrm>
            <a:off x="4943475" y="5448300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10</a:t>
            </a:r>
          </a:p>
        </p:txBody>
      </p:sp>
      <p:sp>
        <p:nvSpPr>
          <p:cNvPr id="29750" name="Text Box 55"/>
          <p:cNvSpPr txBox="1">
            <a:spLocks noChangeArrowheads="1"/>
          </p:cNvSpPr>
          <p:nvPr/>
        </p:nvSpPr>
        <p:spPr bwMode="auto">
          <a:xfrm>
            <a:off x="5245100" y="5448300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11</a:t>
            </a:r>
          </a:p>
        </p:txBody>
      </p:sp>
      <p:sp>
        <p:nvSpPr>
          <p:cNvPr id="29751" name="Text Box 56"/>
          <p:cNvSpPr txBox="1">
            <a:spLocks noChangeArrowheads="1"/>
          </p:cNvSpPr>
          <p:nvPr/>
        </p:nvSpPr>
        <p:spPr bwMode="auto">
          <a:xfrm>
            <a:off x="5546725" y="5448300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12</a:t>
            </a:r>
          </a:p>
        </p:txBody>
      </p:sp>
      <p:sp>
        <p:nvSpPr>
          <p:cNvPr id="29752" name="AutoShape 57"/>
          <p:cNvSpPr>
            <a:spLocks noChangeArrowheads="1"/>
          </p:cNvSpPr>
          <p:nvPr/>
        </p:nvSpPr>
        <p:spPr bwMode="auto">
          <a:xfrm>
            <a:off x="3810000" y="4648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Operation Insert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1081087"/>
          </a:xfrm>
        </p:spPr>
        <p:txBody>
          <a:bodyPr/>
          <a:lstStyle/>
          <a:p>
            <a:r>
              <a:rPr lang="en-US" altLang="zh-CN" sz="2800">
                <a:ea typeface="SimSun" pitchFamily="2" charset="-122"/>
              </a:rPr>
              <a:t>Act as though we were searching, and insert at the first NIL slot found.</a:t>
            </a: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411413" y="2276475"/>
            <a:ext cx="4124325" cy="3827463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Hash-Insert(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, 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k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1.  </a:t>
            </a:r>
            <a:r>
              <a:rPr lang="en-US" altLang="zh-CN" sz="2200" i="1" dirty="0" err="1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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0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2.  </a:t>
            </a:r>
            <a:r>
              <a:rPr lang="en-US" altLang="zh-CN" sz="2200" b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repeat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j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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k, </a:t>
            </a:r>
            <a:r>
              <a:rPr lang="en-US" altLang="zh-CN" sz="2200" i="1" dirty="0" err="1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3.              </a:t>
            </a:r>
            <a:r>
              <a:rPr lang="en-US" altLang="zh-CN" sz="2200" b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if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[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j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] = NIL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4.                  </a:t>
            </a:r>
            <a:r>
              <a:rPr lang="en-US" altLang="zh-CN" sz="2200" b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then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[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j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]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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k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200" i="1" dirty="0">
              <a:solidFill>
                <a:srgbClr val="01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5.                           </a:t>
            </a:r>
            <a:r>
              <a:rPr lang="en-US" altLang="zh-CN" sz="2200" b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return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j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6.                  </a:t>
            </a:r>
            <a:r>
              <a:rPr lang="en-US" altLang="zh-CN" sz="2200" b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else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i="1" dirty="0" err="1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  <a:sym typeface="Symbol" pitchFamily="18" charset="2"/>
              </a:rPr>
              <a:t>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i="1" dirty="0" err="1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+ 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7.  </a:t>
            </a:r>
            <a:r>
              <a:rPr lang="en-US" altLang="zh-CN" sz="2200" b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until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i="1" dirty="0" err="1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</a:t>
            </a:r>
            <a:r>
              <a:rPr lang="en-US" altLang="zh-CN" sz="2200" i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= m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8.  </a:t>
            </a:r>
            <a:r>
              <a:rPr lang="en-US" altLang="zh-CN" sz="2200" b="1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error</a:t>
            </a:r>
            <a:r>
              <a:rPr lang="en-US" altLang="zh-CN" sz="2200" dirty="0">
                <a:solidFill>
                  <a:srgbClr val="01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“hash table overflow”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Pseudo-code for Search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4863" y="1219200"/>
            <a:ext cx="4800600" cy="34290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u="sng">
                <a:ea typeface="SimSun" pitchFamily="2" charset="-122"/>
              </a:rPr>
              <a:t>Hash-Search (</a:t>
            </a:r>
            <a:r>
              <a:rPr lang="en-US" altLang="zh-CN" sz="2400" i="1" u="sng">
                <a:ea typeface="SimSun" pitchFamily="2" charset="-122"/>
              </a:rPr>
              <a:t>T</a:t>
            </a:r>
            <a:r>
              <a:rPr lang="en-US" altLang="zh-CN" sz="2400" u="sng">
                <a:ea typeface="SimSun" pitchFamily="2" charset="-122"/>
              </a:rPr>
              <a:t>, </a:t>
            </a:r>
            <a:r>
              <a:rPr lang="en-US" altLang="zh-CN" sz="2400" i="1" u="sng">
                <a:ea typeface="SimSun" pitchFamily="2" charset="-122"/>
              </a:rPr>
              <a:t>k</a:t>
            </a:r>
            <a:r>
              <a:rPr lang="en-US" altLang="zh-CN" sz="2400" u="sng">
                <a:ea typeface="SimSun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>
                <a:ea typeface="SimSun" pitchFamily="2" charset="-122"/>
              </a:rPr>
              <a:t>1.  </a:t>
            </a:r>
            <a:r>
              <a:rPr lang="en-US" altLang="zh-CN" sz="2400" i="1">
                <a:ea typeface="SimSun" pitchFamily="2" charset="-122"/>
              </a:rPr>
              <a:t>i </a:t>
            </a:r>
            <a:r>
              <a:rPr lang="en-US" altLang="zh-CN" sz="2400">
                <a:ea typeface="SimSun" pitchFamily="2" charset="-122"/>
                <a:sym typeface="Symbol" pitchFamily="18" charset="2"/>
              </a:rPr>
              <a:t></a:t>
            </a:r>
            <a:r>
              <a:rPr lang="en-US" altLang="zh-CN" sz="2400">
                <a:ea typeface="SimSun" pitchFamily="2" charset="-122"/>
              </a:rPr>
              <a:t> 0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>
                <a:ea typeface="SimSun" pitchFamily="2" charset="-122"/>
              </a:rPr>
              <a:t>2.  </a:t>
            </a:r>
            <a:r>
              <a:rPr lang="en-US" altLang="zh-CN" sz="2400" b="1">
                <a:ea typeface="SimSun" pitchFamily="2" charset="-122"/>
              </a:rPr>
              <a:t>repeat </a:t>
            </a:r>
            <a:r>
              <a:rPr lang="en-US" altLang="zh-CN" sz="2400">
                <a:ea typeface="SimSun" pitchFamily="2" charset="-122"/>
              </a:rPr>
              <a:t> </a:t>
            </a:r>
            <a:r>
              <a:rPr lang="en-US" altLang="zh-CN" sz="2400" i="1">
                <a:ea typeface="SimSun" pitchFamily="2" charset="-122"/>
              </a:rPr>
              <a:t>j</a:t>
            </a:r>
            <a:r>
              <a:rPr lang="en-US" altLang="zh-CN" sz="2400">
                <a:ea typeface="SimSun" pitchFamily="2" charset="-122"/>
              </a:rPr>
              <a:t> </a:t>
            </a:r>
            <a:r>
              <a:rPr lang="en-US" altLang="zh-CN" sz="2400">
                <a:ea typeface="SimSun" pitchFamily="2" charset="-122"/>
                <a:sym typeface="Symbol" pitchFamily="18" charset="2"/>
              </a:rPr>
              <a:t></a:t>
            </a:r>
            <a:r>
              <a:rPr lang="en-US" altLang="zh-CN" sz="2400">
                <a:ea typeface="SimSun" pitchFamily="2" charset="-122"/>
              </a:rPr>
              <a:t> </a:t>
            </a:r>
            <a:r>
              <a:rPr lang="en-US" altLang="zh-CN" sz="2400" i="1">
                <a:ea typeface="SimSun" pitchFamily="2" charset="-122"/>
              </a:rPr>
              <a:t>h</a:t>
            </a:r>
            <a:r>
              <a:rPr lang="en-US" altLang="zh-CN" sz="2400">
                <a:ea typeface="SimSun" pitchFamily="2" charset="-122"/>
              </a:rPr>
              <a:t>(</a:t>
            </a:r>
            <a:r>
              <a:rPr lang="en-US" altLang="zh-CN" sz="2400" i="1">
                <a:ea typeface="SimSun" pitchFamily="2" charset="-122"/>
              </a:rPr>
              <a:t>k, i</a:t>
            </a:r>
            <a:r>
              <a:rPr lang="en-US" altLang="zh-CN" sz="2400">
                <a:ea typeface="SimSun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>
                <a:ea typeface="SimSun" pitchFamily="2" charset="-122"/>
              </a:rPr>
              <a:t>3.              </a:t>
            </a:r>
            <a:r>
              <a:rPr lang="en-US" altLang="zh-CN" sz="2400" b="1">
                <a:ea typeface="SimSun" pitchFamily="2" charset="-122"/>
              </a:rPr>
              <a:t>if</a:t>
            </a:r>
            <a:r>
              <a:rPr lang="en-US" altLang="zh-CN" sz="2400">
                <a:ea typeface="SimSun" pitchFamily="2" charset="-122"/>
              </a:rPr>
              <a:t> </a:t>
            </a:r>
            <a:r>
              <a:rPr lang="en-US" altLang="zh-CN" sz="2400" i="1">
                <a:ea typeface="SimSun" pitchFamily="2" charset="-122"/>
              </a:rPr>
              <a:t>T</a:t>
            </a:r>
            <a:r>
              <a:rPr lang="en-US" altLang="zh-CN" sz="2400">
                <a:ea typeface="SimSun" pitchFamily="2" charset="-122"/>
              </a:rPr>
              <a:t>[</a:t>
            </a:r>
            <a:r>
              <a:rPr lang="en-US" altLang="zh-CN" sz="2400" i="1">
                <a:ea typeface="SimSun" pitchFamily="2" charset="-122"/>
              </a:rPr>
              <a:t>j</a:t>
            </a:r>
            <a:r>
              <a:rPr lang="en-US" altLang="zh-CN" sz="2400">
                <a:ea typeface="SimSun" pitchFamily="2" charset="-122"/>
              </a:rPr>
              <a:t>] = </a:t>
            </a:r>
            <a:r>
              <a:rPr lang="en-US" altLang="zh-CN" sz="2400" i="1">
                <a:ea typeface="SimSun" pitchFamily="2" charset="-122"/>
              </a:rPr>
              <a:t>k</a:t>
            </a:r>
            <a:r>
              <a:rPr lang="en-US" altLang="zh-CN" sz="2400">
                <a:ea typeface="SimSun" pitchFamily="2" charset="-122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>
                <a:ea typeface="SimSun" pitchFamily="2" charset="-122"/>
              </a:rPr>
              <a:t>4.                  </a:t>
            </a:r>
            <a:r>
              <a:rPr lang="en-US" altLang="zh-CN" sz="2400" b="1">
                <a:ea typeface="SimSun" pitchFamily="2" charset="-122"/>
              </a:rPr>
              <a:t>then</a:t>
            </a:r>
            <a:r>
              <a:rPr lang="en-US" altLang="zh-CN" sz="2400">
                <a:ea typeface="SimSun" pitchFamily="2" charset="-122"/>
              </a:rPr>
              <a:t> </a:t>
            </a:r>
            <a:r>
              <a:rPr lang="en-US" altLang="zh-CN" sz="2400" b="1">
                <a:ea typeface="SimSun" pitchFamily="2" charset="-122"/>
              </a:rPr>
              <a:t>return</a:t>
            </a:r>
            <a:r>
              <a:rPr lang="en-US" altLang="zh-CN" sz="2400" i="1">
                <a:ea typeface="SimSun" pitchFamily="2" charset="-122"/>
              </a:rPr>
              <a:t> j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>
                <a:ea typeface="SimSun" pitchFamily="2" charset="-122"/>
              </a:rPr>
              <a:t>5.             </a:t>
            </a:r>
            <a:r>
              <a:rPr lang="en-US" altLang="zh-CN" sz="2400" i="1">
                <a:ea typeface="SimSun" pitchFamily="2" charset="-122"/>
              </a:rPr>
              <a:t> i </a:t>
            </a:r>
            <a:r>
              <a:rPr lang="en-US" altLang="zh-CN" sz="2400">
                <a:ea typeface="SimSun" pitchFamily="2" charset="-122"/>
                <a:sym typeface="Symbol" pitchFamily="18" charset="2"/>
              </a:rPr>
              <a:t></a:t>
            </a:r>
            <a:r>
              <a:rPr lang="en-US" altLang="zh-CN" sz="2400" i="1">
                <a:ea typeface="SimSun" pitchFamily="2" charset="-122"/>
              </a:rPr>
              <a:t> i + </a:t>
            </a:r>
            <a:r>
              <a:rPr lang="en-US" altLang="zh-CN" sz="2400">
                <a:ea typeface="SimSun" pitchFamily="2" charset="-122"/>
              </a:rPr>
              <a:t>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>
                <a:ea typeface="SimSun" pitchFamily="2" charset="-122"/>
              </a:rPr>
              <a:t>6.  </a:t>
            </a:r>
            <a:r>
              <a:rPr lang="en-US" altLang="zh-CN" sz="2400" b="1">
                <a:ea typeface="SimSun" pitchFamily="2" charset="-122"/>
              </a:rPr>
              <a:t>until</a:t>
            </a:r>
            <a:r>
              <a:rPr lang="en-US" altLang="zh-CN" sz="2400">
                <a:ea typeface="SimSun" pitchFamily="2" charset="-122"/>
              </a:rPr>
              <a:t> </a:t>
            </a:r>
            <a:r>
              <a:rPr lang="en-US" altLang="zh-CN" sz="2400" i="1">
                <a:ea typeface="SimSun" pitchFamily="2" charset="-122"/>
              </a:rPr>
              <a:t>T</a:t>
            </a:r>
            <a:r>
              <a:rPr lang="en-US" altLang="zh-CN" sz="2400">
                <a:ea typeface="SimSun" pitchFamily="2" charset="-122"/>
              </a:rPr>
              <a:t>[</a:t>
            </a:r>
            <a:r>
              <a:rPr lang="en-US" altLang="zh-CN" sz="2400" i="1">
                <a:ea typeface="SimSun" pitchFamily="2" charset="-122"/>
              </a:rPr>
              <a:t>j</a:t>
            </a:r>
            <a:r>
              <a:rPr lang="en-US" altLang="zh-CN" sz="2400">
                <a:ea typeface="SimSun" pitchFamily="2" charset="-122"/>
              </a:rPr>
              <a:t>] = NIL </a:t>
            </a:r>
            <a:r>
              <a:rPr lang="en-US" altLang="zh-CN" sz="2400" b="1">
                <a:ea typeface="SimSun" pitchFamily="2" charset="-122"/>
              </a:rPr>
              <a:t>or</a:t>
            </a:r>
            <a:r>
              <a:rPr lang="en-US" altLang="zh-CN" sz="2400" i="1">
                <a:ea typeface="SimSun" pitchFamily="2" charset="-122"/>
              </a:rPr>
              <a:t> i = m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>
                <a:ea typeface="SimSun" pitchFamily="2" charset="-122"/>
              </a:rPr>
              <a:t>7.  </a:t>
            </a:r>
            <a:r>
              <a:rPr lang="en-US" altLang="zh-CN" sz="2400" b="1">
                <a:ea typeface="SimSun" pitchFamily="2" charset="-122"/>
              </a:rPr>
              <a:t>return</a:t>
            </a:r>
            <a:r>
              <a:rPr lang="en-US" altLang="zh-CN" sz="2400">
                <a:ea typeface="SimSun" pitchFamily="2" charset="-122"/>
              </a:rPr>
              <a:t> NIL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8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C550756-2D01-46A0-9B64-1F8CD8A86DBA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143000"/>
            <a:ext cx="78486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kern="0" dirty="0">
                <a:ea typeface="SimSun" pitchFamily="2" charset="-122"/>
              </a:rPr>
              <a:t>Example:</a:t>
            </a:r>
          </a:p>
          <a:p>
            <a:pPr lvl="1"/>
            <a:r>
              <a:rPr lang="en-US" altLang="zh-CN" b="1" i="1" kern="0" dirty="0">
                <a:ea typeface="SimSun" pitchFamily="2" charset="-122"/>
              </a:rPr>
              <a:t>h'</a:t>
            </a:r>
            <a:r>
              <a:rPr lang="en-US" altLang="zh-CN" kern="0" dirty="0">
                <a:ea typeface="SimSun" pitchFamily="2" charset="-122"/>
              </a:rPr>
              <a:t>(</a:t>
            </a:r>
            <a:r>
              <a:rPr lang="en-US" altLang="zh-CN" b="1" i="1" kern="0" dirty="0">
                <a:ea typeface="SimSun" pitchFamily="2" charset="-122"/>
              </a:rPr>
              <a:t>k</a:t>
            </a:r>
            <a:r>
              <a:rPr lang="en-US" altLang="zh-CN" kern="0" dirty="0">
                <a:ea typeface="SimSun" pitchFamily="2" charset="-122"/>
              </a:rPr>
              <a:t>) </a:t>
            </a:r>
            <a:r>
              <a:rPr lang="en-US" altLang="zh-CN" kern="0" dirty="0">
                <a:latin typeface="Symbol" pitchFamily="18" charset="2"/>
                <a:ea typeface="SimSun" pitchFamily="2" charset="-122"/>
              </a:rPr>
              <a:t>=</a:t>
            </a:r>
            <a:r>
              <a:rPr lang="en-US" altLang="zh-CN" b="1" i="1" kern="0" dirty="0">
                <a:ea typeface="SimSun" pitchFamily="2" charset="-122"/>
              </a:rPr>
              <a:t> k </a:t>
            </a:r>
            <a:r>
              <a:rPr lang="en-US" altLang="zh-CN" kern="0" dirty="0">
                <a:ea typeface="SimSun" pitchFamily="2" charset="-122"/>
              </a:rPr>
              <a:t>mod</a:t>
            </a:r>
            <a:r>
              <a:rPr lang="en-US" altLang="zh-CN" b="1" i="1" kern="0" dirty="0">
                <a:ea typeface="SimSun" pitchFamily="2" charset="-122"/>
              </a:rPr>
              <a:t> </a:t>
            </a:r>
            <a:r>
              <a:rPr lang="en-US" altLang="zh-CN" kern="0" dirty="0">
                <a:ea typeface="SimSun" pitchFamily="2" charset="-122"/>
              </a:rPr>
              <a:t>13</a:t>
            </a:r>
          </a:p>
          <a:p>
            <a:pPr lvl="1"/>
            <a:r>
              <a:rPr lang="en-US" altLang="zh-CN" i="1" kern="0" dirty="0">
                <a:ea typeface="SimSun" pitchFamily="2" charset="-122"/>
              </a:rPr>
              <a:t>h</a:t>
            </a:r>
            <a:r>
              <a:rPr lang="en-US" altLang="zh-CN" kern="0" dirty="0">
                <a:ea typeface="SimSun" pitchFamily="2" charset="-122"/>
              </a:rPr>
              <a:t>(</a:t>
            </a:r>
            <a:r>
              <a:rPr lang="en-US" altLang="zh-CN" i="1" kern="0" dirty="0">
                <a:ea typeface="SimSun" pitchFamily="2" charset="-122"/>
              </a:rPr>
              <a:t>k</a:t>
            </a:r>
            <a:r>
              <a:rPr lang="en-US" altLang="zh-CN" kern="0" dirty="0">
                <a:ea typeface="SimSun" pitchFamily="2" charset="-122"/>
              </a:rPr>
              <a:t>, </a:t>
            </a:r>
            <a:r>
              <a:rPr lang="en-US" altLang="zh-CN" i="1" kern="0" dirty="0" err="1">
                <a:ea typeface="SimSun" pitchFamily="2" charset="-122"/>
              </a:rPr>
              <a:t>i</a:t>
            </a:r>
            <a:r>
              <a:rPr lang="en-US" altLang="zh-CN" kern="0" dirty="0">
                <a:ea typeface="SimSun" pitchFamily="2" charset="-122"/>
              </a:rPr>
              <a:t>) = (</a:t>
            </a:r>
            <a:r>
              <a:rPr lang="en-US" altLang="zh-CN" b="1" i="1" kern="0" dirty="0">
                <a:ea typeface="SimSun" pitchFamily="2" charset="-122"/>
              </a:rPr>
              <a:t>h'</a:t>
            </a:r>
            <a:r>
              <a:rPr lang="en-US" altLang="zh-CN" kern="0" dirty="0">
                <a:ea typeface="SimSun" pitchFamily="2" charset="-122"/>
              </a:rPr>
              <a:t>(</a:t>
            </a:r>
            <a:r>
              <a:rPr lang="en-US" altLang="zh-CN" b="1" i="1" kern="0" dirty="0">
                <a:ea typeface="SimSun" pitchFamily="2" charset="-122"/>
              </a:rPr>
              <a:t>k</a:t>
            </a:r>
            <a:r>
              <a:rPr lang="en-US" altLang="zh-CN" kern="0" dirty="0">
                <a:ea typeface="SimSun" pitchFamily="2" charset="-122"/>
              </a:rPr>
              <a:t>) +</a:t>
            </a:r>
            <a:r>
              <a:rPr lang="en-US" altLang="zh-CN" i="1" kern="0" dirty="0">
                <a:ea typeface="SimSun" pitchFamily="2" charset="-122"/>
              </a:rPr>
              <a:t> </a:t>
            </a:r>
            <a:r>
              <a:rPr lang="en-US" altLang="zh-CN" i="1" kern="0" dirty="0" err="1">
                <a:ea typeface="SimSun" pitchFamily="2" charset="-122"/>
              </a:rPr>
              <a:t>i</a:t>
            </a:r>
            <a:r>
              <a:rPr lang="en-US" altLang="zh-CN" kern="0" dirty="0">
                <a:ea typeface="SimSun" pitchFamily="2" charset="-122"/>
              </a:rPr>
              <a:t>) mod 13</a:t>
            </a:r>
          </a:p>
          <a:p>
            <a:pPr lvl="1"/>
            <a:r>
              <a:rPr lang="en-US" altLang="zh-CN" kern="0" dirty="0">
                <a:ea typeface="SimSun" pitchFamily="2" charset="-122"/>
              </a:rPr>
              <a:t>Some elements are already in the table</a:t>
            </a:r>
          </a:p>
          <a:p>
            <a:pPr lvl="1"/>
            <a:r>
              <a:rPr lang="en-US" altLang="zh-CN" kern="0" dirty="0">
                <a:ea typeface="SimSun" pitchFamily="2" charset="-122"/>
              </a:rPr>
              <a:t>Insert keys 17,30,43,  in this order; </a:t>
            </a:r>
          </a:p>
          <a:p>
            <a:pPr lvl="1"/>
            <a:r>
              <a:rPr lang="en-US" altLang="zh-CN" kern="0" dirty="0">
                <a:ea typeface="SimSun" pitchFamily="2" charset="-122"/>
              </a:rPr>
              <a:t>search 27, 30, 26, 14</a:t>
            </a:r>
          </a:p>
          <a:p>
            <a:pPr lvl="1"/>
            <a:r>
              <a:rPr lang="en-US" altLang="zh-CN" kern="0" dirty="0">
                <a:ea typeface="SimSun" pitchFamily="2" charset="-122"/>
              </a:rPr>
              <a:t>delete 30; search 43;</a:t>
            </a:r>
          </a:p>
          <a:p>
            <a:pPr lvl="1"/>
            <a:endParaRPr lang="en-US" altLang="zh-CN" kern="0" dirty="0">
              <a:ea typeface="SimSun" pitchFamily="2" charset="-122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5476"/>
              </p:ext>
            </p:extLst>
          </p:nvPr>
        </p:nvGraphicFramePr>
        <p:xfrm>
          <a:off x="1560513" y="4365104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1F5813C-5720-BA31-E5B0-F7C47A2DD8F3}"/>
                  </a:ext>
                </a:extLst>
              </p14:cNvPr>
              <p14:cNvContentPartPr/>
              <p14:nvPr/>
            </p14:nvContentPartPr>
            <p14:xfrm>
              <a:off x="1995120" y="2476080"/>
              <a:ext cx="1543320" cy="1446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1F5813C-5720-BA31-E5B0-F7C47A2DD8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85760" y="2466720"/>
                <a:ext cx="1562040" cy="146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8730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itchFamily="2" charset="-122"/>
              </a:rPr>
              <a:t>Deletion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</p:spPr>
        <p:txBody>
          <a:bodyPr/>
          <a:lstStyle/>
          <a:p>
            <a:r>
              <a:rPr lang="en-US" altLang="zh-CN" sz="2800" dirty="0">
                <a:ea typeface="SimSun" pitchFamily="2" charset="-122"/>
              </a:rPr>
              <a:t>Cannot just turn the slot containing the key we want to delete to contain NIL. </a:t>
            </a:r>
            <a:r>
              <a:rPr lang="en-US" altLang="zh-CN" sz="2800" u="sng" dirty="0">
                <a:solidFill>
                  <a:srgbClr val="CC3300"/>
                </a:solidFill>
                <a:ea typeface="SimSun" pitchFamily="2" charset="-122"/>
              </a:rPr>
              <a:t>Why?</a:t>
            </a:r>
          </a:p>
          <a:p>
            <a:r>
              <a:rPr lang="en-US" altLang="zh-CN" sz="2800" dirty="0">
                <a:ea typeface="SimSun" pitchFamily="2" charset="-122"/>
              </a:rPr>
              <a:t>Use a special value </a:t>
            </a:r>
            <a:r>
              <a:rPr lang="en-US" altLang="zh-CN" sz="2800" dirty="0">
                <a:solidFill>
                  <a:schemeClr val="hlink"/>
                </a:solidFill>
                <a:ea typeface="SimSun" pitchFamily="2" charset="-122"/>
              </a:rPr>
              <a:t>DELETED</a:t>
            </a:r>
            <a:r>
              <a:rPr lang="en-US" altLang="zh-CN" sz="2800" dirty="0">
                <a:ea typeface="SimSun" pitchFamily="2" charset="-122"/>
              </a:rPr>
              <a:t> instead of NIL when marking a slot as empty during deletion.</a:t>
            </a:r>
          </a:p>
          <a:p>
            <a:pPr lvl="1"/>
            <a:r>
              <a:rPr lang="en-US" altLang="zh-CN" b="1" i="1" dirty="0">
                <a:solidFill>
                  <a:srgbClr val="CC3300"/>
                </a:solidFill>
                <a:ea typeface="SimSun" pitchFamily="2" charset="-122"/>
              </a:rPr>
              <a:t>Search</a:t>
            </a:r>
            <a:r>
              <a:rPr lang="en-US" altLang="zh-CN" dirty="0">
                <a:ea typeface="SimSun" pitchFamily="2" charset="-122"/>
              </a:rPr>
              <a:t> should treat DELETED as though the slot holds a key that does not match the one being searched for.</a:t>
            </a:r>
          </a:p>
          <a:p>
            <a:pPr lvl="1"/>
            <a:r>
              <a:rPr lang="en-US" altLang="zh-CN" b="1" i="1" dirty="0">
                <a:solidFill>
                  <a:srgbClr val="CC3300"/>
                </a:solidFill>
                <a:ea typeface="SimSun" pitchFamily="2" charset="-122"/>
              </a:rPr>
              <a:t>Insert</a:t>
            </a:r>
            <a:r>
              <a:rPr lang="en-US" altLang="zh-CN" dirty="0">
                <a:ea typeface="SimSun" pitchFamily="2" charset="-122"/>
              </a:rPr>
              <a:t> should treat DELETED as though the slot were empty, so that it can be reused.</a:t>
            </a:r>
          </a:p>
          <a:p>
            <a:r>
              <a:rPr lang="en-US" altLang="zh-CN" sz="2800" b="1" dirty="0">
                <a:solidFill>
                  <a:srgbClr val="CC3300"/>
                </a:solidFill>
                <a:ea typeface="SimSun" pitchFamily="2" charset="-122"/>
              </a:rPr>
              <a:t>Disadvantage:</a:t>
            </a:r>
            <a:r>
              <a:rPr lang="en-US" altLang="zh-CN" sz="2800" dirty="0">
                <a:ea typeface="SimSun" pitchFamily="2" charset="-122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ea typeface="SimSun" pitchFamily="2" charset="-122"/>
              </a:rPr>
              <a:t>Search time is no longer dependent on </a:t>
            </a:r>
            <a:r>
              <a:rPr lang="en-US" altLang="zh-CN" sz="2800" dirty="0">
                <a:solidFill>
                  <a:schemeClr val="hlink"/>
                </a:solidFill>
                <a:ea typeface="SimSun" pitchFamily="2" charset="-122"/>
                <a:sym typeface="Symbol" pitchFamily="18" charset="2"/>
              </a:rPr>
              <a:t>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Hence, chaining is more common when keys have to be deleted.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Quadratic Probing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1066800"/>
            <a:ext cx="8780462" cy="5029200"/>
          </a:xfrm>
        </p:spPr>
        <p:txBody>
          <a:bodyPr/>
          <a:lstStyle/>
          <a:p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k, 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i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=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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+ c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</a:rPr>
              <a:t>1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i + c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</a:rPr>
              <a:t>2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i</a:t>
            </a:r>
            <a:r>
              <a:rPr lang="en-US" altLang="zh-CN" sz="2800" baseline="30000" dirty="0">
                <a:solidFill>
                  <a:srgbClr val="CC3300"/>
                </a:solidFill>
                <a:ea typeface="SimSun" pitchFamily="2" charset="-122"/>
              </a:rPr>
              <a:t>2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mod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m    </a:t>
            </a:r>
            <a:r>
              <a:rPr lang="en-US" altLang="zh-CN" sz="2800" i="1" dirty="0">
                <a:solidFill>
                  <a:schemeClr val="hlink"/>
                </a:solidFill>
                <a:ea typeface="SimSun" pitchFamily="2" charset="-122"/>
              </a:rPr>
              <a:t>c</a:t>
            </a:r>
            <a:r>
              <a:rPr lang="en-US" altLang="zh-CN" sz="2800" baseline="-25000" dirty="0">
                <a:solidFill>
                  <a:schemeClr val="hlink"/>
                </a:solidFill>
                <a:ea typeface="SimSun" pitchFamily="2" charset="-122"/>
              </a:rPr>
              <a:t>1</a:t>
            </a:r>
            <a:r>
              <a:rPr lang="en-US" altLang="zh-CN" sz="2800" i="1" dirty="0">
                <a:solidFill>
                  <a:schemeClr val="hlink"/>
                </a:solidFill>
                <a:ea typeface="SimSun" pitchFamily="2" charset="-122"/>
                <a:sym typeface="Symbol" pitchFamily="18" charset="2"/>
              </a:rPr>
              <a:t></a:t>
            </a:r>
            <a:r>
              <a:rPr lang="en-US" altLang="zh-CN" sz="2800" i="1" dirty="0">
                <a:solidFill>
                  <a:schemeClr val="hlink"/>
                </a:solidFill>
                <a:ea typeface="SimSun" pitchFamily="2" charset="-122"/>
              </a:rPr>
              <a:t> c</a:t>
            </a:r>
            <a:r>
              <a:rPr lang="en-US" altLang="zh-CN" sz="2800" baseline="-25000" dirty="0">
                <a:solidFill>
                  <a:schemeClr val="hlink"/>
                </a:solidFill>
                <a:ea typeface="SimSun" pitchFamily="2" charset="-122"/>
              </a:rPr>
              <a:t>2</a:t>
            </a:r>
            <a:endParaRPr lang="en-US" altLang="zh-CN" sz="2800" i="1" dirty="0">
              <a:solidFill>
                <a:schemeClr val="hlink"/>
              </a:solidFill>
              <a:ea typeface="SimSun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800" i="1" dirty="0">
                <a:ea typeface="SimSun" pitchFamily="2" charset="-122"/>
              </a:rPr>
              <a:t>    </a:t>
            </a:r>
          </a:p>
          <a:p>
            <a:r>
              <a:rPr lang="en-US" altLang="zh-CN" sz="2800" dirty="0">
                <a:ea typeface="SimSun" pitchFamily="2" charset="-122"/>
              </a:rPr>
              <a:t>The initial probe position is</a:t>
            </a:r>
            <a:r>
              <a:rPr lang="en-US" altLang="zh-CN" sz="2800" i="1" dirty="0">
                <a:ea typeface="SimSun" pitchFamily="2" charset="-122"/>
              </a:rPr>
              <a:t> T</a:t>
            </a:r>
            <a:r>
              <a:rPr lang="en-US" altLang="zh-CN" sz="2800" dirty="0">
                <a:ea typeface="SimSun" pitchFamily="2" charset="-122"/>
              </a:rPr>
              <a:t>[</a:t>
            </a:r>
            <a:r>
              <a:rPr lang="en-US" altLang="zh-CN" sz="2800" i="1" dirty="0">
                <a:ea typeface="SimSun" pitchFamily="2" charset="-122"/>
              </a:rPr>
              <a:t>h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</a:t>
            </a:r>
            <a:r>
              <a:rPr lang="en-US" altLang="zh-CN" sz="2800" dirty="0">
                <a:ea typeface="SimSun" pitchFamily="2" charset="-122"/>
              </a:rPr>
              <a:t>(</a:t>
            </a:r>
            <a:r>
              <a:rPr lang="en-US" altLang="zh-CN" sz="2800" i="1" dirty="0">
                <a:ea typeface="SimSun" pitchFamily="2" charset="-122"/>
              </a:rPr>
              <a:t>k</a:t>
            </a:r>
            <a:r>
              <a:rPr lang="en-US" altLang="zh-CN" sz="2800" dirty="0">
                <a:ea typeface="SimSun" pitchFamily="2" charset="-122"/>
              </a:rPr>
              <a:t>)]</a:t>
            </a:r>
            <a:r>
              <a:rPr lang="en-US" altLang="zh-CN" sz="2800" i="1" dirty="0">
                <a:ea typeface="SimSun" pitchFamily="2" charset="-122"/>
              </a:rPr>
              <a:t>, </a:t>
            </a:r>
            <a:r>
              <a:rPr lang="en-US" altLang="zh-CN" sz="2800" dirty="0">
                <a:ea typeface="SimSun" pitchFamily="2" charset="-122"/>
              </a:rPr>
              <a:t>later probe positions are offset by amounts that depend on a quadratic function of the probe number</a:t>
            </a:r>
            <a:r>
              <a:rPr lang="en-US" altLang="zh-CN" sz="2800" i="1" dirty="0">
                <a:ea typeface="SimSun" pitchFamily="2" charset="-122"/>
              </a:rPr>
              <a:t> </a:t>
            </a:r>
            <a:r>
              <a:rPr lang="en-US" altLang="zh-CN" sz="2800" i="1" dirty="0" err="1">
                <a:ea typeface="SimSun" pitchFamily="2" charset="-122"/>
              </a:rPr>
              <a:t>i</a:t>
            </a:r>
            <a:r>
              <a:rPr lang="en-US" altLang="zh-CN" sz="2800" i="1" dirty="0">
                <a:ea typeface="SimSun" pitchFamily="2" charset="-122"/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altLang="zh-CN" sz="1000" i="1" dirty="0">
              <a:ea typeface="SimSun" pitchFamily="2" charset="-122"/>
            </a:endParaRPr>
          </a:p>
          <a:p>
            <a:r>
              <a:rPr lang="en-US" altLang="zh-CN" sz="2800" dirty="0">
                <a:ea typeface="SimSun" pitchFamily="2" charset="-122"/>
              </a:rPr>
              <a:t>Must </a:t>
            </a:r>
            <a:r>
              <a:rPr lang="en-US" altLang="zh-CN" sz="2800" dirty="0">
                <a:solidFill>
                  <a:schemeClr val="hlink"/>
                </a:solidFill>
                <a:ea typeface="SimSun" pitchFamily="2" charset="-122"/>
              </a:rPr>
              <a:t>constrain</a:t>
            </a:r>
            <a:r>
              <a:rPr lang="en-US" altLang="zh-CN" sz="2800" dirty="0">
                <a:ea typeface="SimSun" pitchFamily="2" charset="-122"/>
              </a:rPr>
              <a:t> 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c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</a:rPr>
              <a:t>1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,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c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</a:rPr>
              <a:t>2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, and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m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 </a:t>
            </a:r>
            <a:r>
              <a:rPr lang="en-US" altLang="zh-CN" sz="2800" dirty="0">
                <a:ea typeface="SimSun" pitchFamily="2" charset="-122"/>
              </a:rPr>
              <a:t>to ensure that we get a full permutation of 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0, 1,…,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 m</a:t>
            </a:r>
            <a:r>
              <a:rPr lang="en-US" altLang="zh-CN" sz="2400" i="1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000" dirty="0">
                <a:ea typeface="SimSun" pitchFamily="2" charset="-122"/>
                <a:sym typeface="Symbol" pitchFamily="18" charset="2"/>
              </a:rPr>
              <a:t>–</a:t>
            </a:r>
            <a:r>
              <a:rPr lang="en-US" altLang="zh-CN" sz="1200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1.</a:t>
            </a:r>
            <a:endParaRPr lang="en-US" altLang="zh-CN" sz="2800" dirty="0">
              <a:ea typeface="SimSun" pitchFamily="2" charset="-122"/>
            </a:endParaRPr>
          </a:p>
          <a:p>
            <a:r>
              <a:rPr lang="en-US" altLang="zh-CN" sz="2800" dirty="0">
                <a:ea typeface="SimSun" pitchFamily="2" charset="-122"/>
              </a:rPr>
              <a:t>Can suffer from </a:t>
            </a:r>
            <a:r>
              <a:rPr lang="en-US" altLang="zh-CN" sz="2800" b="1" i="1" dirty="0">
                <a:solidFill>
                  <a:srgbClr val="CC3300"/>
                </a:solidFill>
                <a:ea typeface="SimSun" pitchFamily="2" charset="-122"/>
              </a:rPr>
              <a:t>secondary clustering</a:t>
            </a:r>
            <a:r>
              <a:rPr lang="en-US" altLang="zh-CN" sz="2800" dirty="0">
                <a:ea typeface="SimSun" pitchFamily="2" charset="-122"/>
              </a:rPr>
              <a:t>: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If two keys have the same initial probe position, then their probe sequences are the same.</a:t>
            </a:r>
            <a:endParaRPr lang="en-US" altLang="zh-CN" i="1" dirty="0">
              <a:ea typeface="SimSun" pitchFamily="2" charset="-122"/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76225" y="1600200"/>
            <a:ext cx="55086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key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914400" y="1600200"/>
            <a:ext cx="16144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Probe number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590800" y="1600200"/>
            <a:ext cx="27432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Auxiliary hash function</a:t>
            </a:r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flipV="1">
            <a:off x="685800" y="1447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 flipH="1" flipV="1">
            <a:off x="1306513" y="14478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 flipH="1" flipV="1">
            <a:off x="2133600" y="1447800"/>
            <a:ext cx="1524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Primary </a:t>
            </a:r>
            <a:r>
              <a:rPr lang="en-US" altLang="zh-CN" dirty="0" err="1">
                <a:ea typeface="SimSun" pitchFamily="2" charset="-122"/>
              </a:rPr>
              <a:t>vs</a:t>
            </a:r>
            <a:r>
              <a:rPr lang="en-US" altLang="zh-CN" dirty="0">
                <a:ea typeface="SimSun" pitchFamily="2" charset="-122"/>
              </a:rPr>
              <a:t> Secondary Clustering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343400"/>
          </a:xfrm>
        </p:spPr>
        <p:txBody>
          <a:bodyPr/>
          <a:lstStyle/>
          <a:p>
            <a:r>
              <a:rPr lang="en-US" dirty="0"/>
              <a:t>Primary clustering happens when multiple keys hash to the same location. </a:t>
            </a:r>
          </a:p>
          <a:p>
            <a:r>
              <a:rPr lang="en-US" dirty="0"/>
              <a:t>Secondary clustering happens when keys hash to different locations, but the collision-resolution has resulted in new collisions.</a:t>
            </a:r>
          </a:p>
        </p:txBody>
      </p:sp>
    </p:spTree>
    <p:extLst>
      <p:ext uri="{BB962C8B-B14F-4D97-AF65-F5344CB8AC3E}">
        <p14:creationId xmlns:p14="http://schemas.microsoft.com/office/powerpoint/2010/main" val="4146612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8A47-E07C-4CA4-970E-63123454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Quadratic Probing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8F09CB-3278-48E9-9162-5C329DAA3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513"/>
                <a:ext cx="8229600" cy="2664519"/>
              </a:xfrm>
            </p:spPr>
            <p:txBody>
              <a:bodyPr/>
              <a:lstStyle/>
              <a:p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h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k, </a:t>
                </a:r>
                <a:r>
                  <a:rPr lang="en-US" altLang="zh-CN" sz="2400" i="1" dirty="0" err="1">
                    <a:solidFill>
                      <a:srgbClr val="CC3300"/>
                    </a:solidFill>
                    <a:ea typeface="SimSun" pitchFamily="2" charset="-122"/>
                  </a:rPr>
                  <a:t>i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)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= 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h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  <a:sym typeface="Symbol" pitchFamily="18" charset="2"/>
                  </a:rPr>
                  <a:t>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k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)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+i</a:t>
                </a:r>
                <a:r>
                  <a:rPr lang="en-US" altLang="zh-CN" sz="2400" baseline="30000" dirty="0">
                    <a:solidFill>
                      <a:srgbClr val="CC3300"/>
                    </a:solidFill>
                    <a:ea typeface="SimSun" pitchFamily="2" charset="-122"/>
                  </a:rPr>
                  <a:t>2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)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mod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7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h</m:t>
                    </m:r>
                    <m:r>
                      <a:rPr lang="en-US" altLang="zh-CN" sz="24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  <a:sym typeface="Symbol" pitchFamily="18" charset="2"/>
                      </a:rPr>
                      <m:t>(</m:t>
                    </m:r>
                    <m:r>
                      <a:rPr lang="en-US" altLang="zh-CN" sz="24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  <a:sym typeface="Symbol" pitchFamily="18" charset="2"/>
                      </a:rPr>
                      <m:t>𝑘</m:t>
                    </m:r>
                    <m:r>
                      <a:rPr lang="en-US" altLang="zh-CN" sz="24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  <a:sym typeface="Symbol" pitchFamily="18" charset="2"/>
                      </a:rPr>
                      <m:t>)=</m:t>
                    </m:r>
                    <m:r>
                      <a:rPr lang="en-US" altLang="zh-CN" sz="24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  <a:sym typeface="Symbol" pitchFamily="18" charset="2"/>
                      </a:rPr>
                      <m:t>𝑘</m:t>
                    </m:r>
                    <m:r>
                      <a:rPr lang="en-US" altLang="zh-CN" sz="24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  <a:sym typeface="Symbol" pitchFamily="18" charset="2"/>
                      </a:rPr>
                      <m:t>%7</m:t>
                    </m:r>
                  </m:oMath>
                </a14:m>
                <a:endParaRPr lang="en-US" sz="2400" i="1" dirty="0"/>
              </a:p>
              <a:p>
                <a:r>
                  <a:rPr lang="en-US" sz="2400" i="1" dirty="0"/>
                  <a:t>insert keys: 76, 40, 48, 5, 55</a:t>
                </a:r>
              </a:p>
              <a:p>
                <a:endParaRPr lang="en-US" sz="2400" i="1" dirty="0"/>
              </a:p>
              <a:p>
                <a:endParaRPr lang="en-US" sz="2400" i="1" dirty="0"/>
              </a:p>
              <a:p>
                <a:endParaRPr lang="en-US" sz="2400" i="1" dirty="0"/>
              </a:p>
              <a:p>
                <a:r>
                  <a:rPr lang="en-US" sz="2400" i="1" dirty="0"/>
                  <a:t>insert keys: 76, 40, 48, delete key 76 (replace with NIL), search 48</a:t>
                </a:r>
              </a:p>
              <a:p>
                <a:pPr lvl="1"/>
                <a:r>
                  <a:rPr lang="en-US" sz="2200" i="1" dirty="0"/>
                  <a:t>not found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8F09CB-3278-48E9-9162-5C329DAA3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513"/>
                <a:ext cx="8229600" cy="2664519"/>
              </a:xfrm>
              <a:blipFill>
                <a:blip r:embed="rId2"/>
                <a:stretch>
                  <a:fillRect l="-815" t="-2059" b="-49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0F5899-2FD8-426E-A81D-F70170CD0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563359"/>
              </p:ext>
            </p:extLst>
          </p:nvPr>
        </p:nvGraphicFramePr>
        <p:xfrm>
          <a:off x="1403648" y="2564904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88211327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23461925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75884237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67481905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278703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597111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61038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1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6055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522757-3873-4C08-A916-24B44FBFE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807869"/>
              </p:ext>
            </p:extLst>
          </p:nvPr>
        </p:nvGraphicFramePr>
        <p:xfrm>
          <a:off x="1403647" y="5063807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88211327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23461925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75884237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67481905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278703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597111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61038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1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76</a:t>
                      </a:r>
                      <a:r>
                        <a:rPr lang="en-US" strike="noStrike" dirty="0"/>
                        <a:t>NIL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60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383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Double Hashing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1066800"/>
            <a:ext cx="8932862" cy="5314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k,i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=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+ 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i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h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</a:rPr>
              <a:t>2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mod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m  </a:t>
            </a:r>
          </a:p>
          <a:p>
            <a:pPr>
              <a:lnSpc>
                <a:spcPct val="90000"/>
              </a:lnSpc>
            </a:pPr>
            <a:endParaRPr lang="en-US" altLang="zh-CN" sz="2800" i="1" dirty="0">
              <a:solidFill>
                <a:srgbClr val="CC3300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rgbClr val="CC3300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Two auxiliary hash functions</a:t>
            </a:r>
            <a:r>
              <a:rPr lang="en-US" altLang="zh-CN" sz="2800" dirty="0">
                <a:ea typeface="SimSun" pitchFamily="2" charset="-122"/>
              </a:rPr>
              <a:t>.</a:t>
            </a:r>
            <a:r>
              <a:rPr lang="en-US" altLang="zh-CN" sz="2800" i="1" dirty="0">
                <a:ea typeface="SimSun" pitchFamily="2" charset="-122"/>
              </a:rPr>
              <a:t>  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baseline="-25000" dirty="0">
                <a:ea typeface="SimSun" pitchFamily="2" charset="-122"/>
              </a:rPr>
              <a:t>1</a:t>
            </a:r>
            <a:r>
              <a:rPr lang="en-US" altLang="zh-CN" dirty="0">
                <a:ea typeface="SimSun" pitchFamily="2" charset="-122"/>
              </a:rPr>
              <a:t> gives the initial probe.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baseline="-25000" dirty="0">
                <a:ea typeface="SimSun" pitchFamily="2" charset="-122"/>
              </a:rPr>
              <a:t>2</a:t>
            </a:r>
            <a:r>
              <a:rPr lang="en-US" altLang="zh-CN" dirty="0">
                <a:ea typeface="SimSun" pitchFamily="2" charset="-122"/>
              </a:rPr>
              <a:t> gives the remaining probes </a:t>
            </a:r>
            <a:r>
              <a:rPr lang="en-US" dirty="0"/>
              <a:t>to ensure that subsequent probes do not follow a fixed pattern, helping to reduce clustering</a:t>
            </a:r>
          </a:p>
          <a:p>
            <a:pPr marL="514350" indent="-457200">
              <a:lnSpc>
                <a:spcPct val="90000"/>
              </a:lnSpc>
            </a:pPr>
            <a:r>
              <a:rPr lang="en-US" sz="2000" dirty="0"/>
              <a:t>For double hashing to work effectively, </a:t>
            </a:r>
            <a:r>
              <a:rPr lang="en-US" altLang="zh-CN" sz="2000" i="1" dirty="0">
                <a:ea typeface="SimSun" pitchFamily="2" charset="-122"/>
              </a:rPr>
              <a:t>h</a:t>
            </a:r>
            <a:r>
              <a:rPr lang="en-US" altLang="zh-CN" sz="2000" baseline="-25000" dirty="0">
                <a:ea typeface="SimSun" pitchFamily="2" charset="-122"/>
              </a:rPr>
              <a:t>1</a:t>
            </a:r>
            <a:r>
              <a:rPr lang="en-US" altLang="zh-CN" sz="2000" dirty="0">
                <a:ea typeface="SimSun" pitchFamily="2" charset="-122"/>
              </a:rPr>
              <a:t>(</a:t>
            </a:r>
            <a:r>
              <a:rPr lang="en-US" altLang="zh-CN" sz="2000" i="1" dirty="0">
                <a:ea typeface="SimSun" pitchFamily="2" charset="-122"/>
              </a:rPr>
              <a:t>k</a:t>
            </a:r>
            <a:r>
              <a:rPr lang="en-US" altLang="zh-CN" sz="2000" dirty="0">
                <a:ea typeface="SimSun" pitchFamily="2" charset="-122"/>
              </a:rPr>
              <a:t>) and </a:t>
            </a:r>
            <a:r>
              <a:rPr lang="en-US" altLang="zh-CN" sz="2000" i="1" dirty="0">
                <a:ea typeface="SimSun" pitchFamily="2" charset="-122"/>
              </a:rPr>
              <a:t>h</a:t>
            </a:r>
            <a:r>
              <a:rPr lang="en-US" altLang="zh-CN" sz="2000" baseline="-25000" dirty="0">
                <a:ea typeface="SimSun" pitchFamily="2" charset="-122"/>
              </a:rPr>
              <a:t>2</a:t>
            </a:r>
            <a:r>
              <a:rPr lang="en-US" altLang="zh-CN" sz="2000" dirty="0">
                <a:ea typeface="SimSun" pitchFamily="2" charset="-122"/>
              </a:rPr>
              <a:t>(</a:t>
            </a:r>
            <a:r>
              <a:rPr lang="en-US" altLang="zh-CN" sz="2000" i="1" dirty="0">
                <a:ea typeface="SimSun" pitchFamily="2" charset="-122"/>
              </a:rPr>
              <a:t>k</a:t>
            </a:r>
            <a:r>
              <a:rPr lang="en-US" altLang="zh-CN" sz="2000" dirty="0">
                <a:ea typeface="SimSun" pitchFamily="2" charset="-122"/>
              </a:rPr>
              <a:t>) </a:t>
            </a:r>
            <a:r>
              <a:rPr lang="en-US" sz="2000" dirty="0"/>
              <a:t>must be </a:t>
            </a:r>
            <a:r>
              <a:rPr lang="en-US" sz="2000" b="1" dirty="0"/>
              <a:t>relatively prime</a:t>
            </a:r>
            <a:r>
              <a:rPr lang="en-US" sz="2000" dirty="0"/>
              <a:t> to the size of the hash table m. This ensures that the probe sequence covers the entire hash table without repetition, meaning every slot in the table is eventually probed.</a:t>
            </a:r>
            <a:endParaRPr lang="en-US" altLang="zh-CN" sz="2000" dirty="0">
              <a:ea typeface="SimSun" pitchFamily="2" charset="-122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23850" y="1600200"/>
            <a:ext cx="55086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key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914400" y="1600200"/>
            <a:ext cx="16144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Probe number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590800" y="1600200"/>
            <a:ext cx="33496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Auxiliary hash functions</a:t>
            </a:r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685800" y="1447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 flipH="1" flipV="1">
            <a:off x="1219200" y="14478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 flipH="1" flipV="1">
            <a:off x="2209800" y="1447800"/>
            <a:ext cx="1524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 flipH="1" flipV="1">
            <a:off x="3581400" y="1447800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Why Relatively Prime in Double Hashing?</a:t>
            </a:r>
            <a:endParaRPr lang="en-US" altLang="zh-CN" sz="2800" b="1" dirty="0">
              <a:ea typeface="SimSun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1066800"/>
            <a:ext cx="7961262" cy="531495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ea typeface="SimSun" pitchFamily="2" charset="-122"/>
              </a:rPr>
              <a:t>In double hashing, having </a:t>
            </a:r>
            <a:r>
              <a:rPr lang="en-US" altLang="zh-CN" sz="2400" i="1" dirty="0">
                <a:ea typeface="SimSun" pitchFamily="2" charset="-122"/>
              </a:rPr>
              <a:t>h</a:t>
            </a:r>
            <a:r>
              <a:rPr lang="en-US" altLang="zh-CN" sz="2400" baseline="-25000" dirty="0">
                <a:ea typeface="SimSun" pitchFamily="2" charset="-122"/>
              </a:rPr>
              <a:t>2</a:t>
            </a:r>
            <a:r>
              <a:rPr lang="en-US" altLang="zh-CN" sz="2400" dirty="0">
                <a:ea typeface="SimSun" pitchFamily="2" charset="-122"/>
              </a:rPr>
              <a:t>(</a:t>
            </a:r>
            <a:r>
              <a:rPr lang="en-US" altLang="zh-CN" sz="2400" i="1" dirty="0">
                <a:ea typeface="SimSun" pitchFamily="2" charset="-122"/>
              </a:rPr>
              <a:t>k</a:t>
            </a:r>
            <a:r>
              <a:rPr lang="en-US" altLang="zh-CN" sz="2400" dirty="0">
                <a:ea typeface="SimSun" pitchFamily="2" charset="-122"/>
              </a:rPr>
              <a:t>)  and the table size m be relatively prime ensures that the entire table can be probed. This prevents probing from revisiting the same set of locations (cycles), which would happen if </a:t>
            </a:r>
            <a:r>
              <a:rPr lang="en-US" altLang="zh-CN" sz="2400" i="1" dirty="0">
                <a:ea typeface="SimSun" pitchFamily="2" charset="-122"/>
              </a:rPr>
              <a:t>h</a:t>
            </a:r>
            <a:r>
              <a:rPr lang="en-US" altLang="zh-CN" sz="2400" baseline="-25000" dirty="0">
                <a:ea typeface="SimSun" pitchFamily="2" charset="-122"/>
              </a:rPr>
              <a:t>2</a:t>
            </a:r>
            <a:r>
              <a:rPr lang="en-US" altLang="zh-CN" sz="2400" dirty="0">
                <a:ea typeface="SimSun" pitchFamily="2" charset="-122"/>
              </a:rPr>
              <a:t>(</a:t>
            </a:r>
            <a:r>
              <a:rPr lang="en-US" altLang="zh-CN" sz="2400" i="1" dirty="0">
                <a:ea typeface="SimSun" pitchFamily="2" charset="-122"/>
              </a:rPr>
              <a:t>k</a:t>
            </a:r>
            <a:r>
              <a:rPr lang="en-US" altLang="zh-CN" sz="2400" dirty="0">
                <a:ea typeface="SimSun" pitchFamily="2" charset="-122"/>
              </a:rPr>
              <a:t>)  shared a factor with m.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5712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Why Relatively Prime in Double Hashing?</a:t>
            </a:r>
            <a:endParaRPr lang="en-US" altLang="zh-CN" sz="2800" b="1" dirty="0">
              <a:ea typeface="SimSun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1066800"/>
            <a:ext cx="8475662" cy="531495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ea typeface="SimSun" pitchFamily="2" charset="-122"/>
              </a:rPr>
              <a:t>Let's assume the hash table size m is 10. Here are two cases: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1772816"/>
            <a:ext cx="8555280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23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Why Relatively Prime in Double Hashing?</a:t>
            </a:r>
            <a:endParaRPr lang="en-US" altLang="zh-CN" sz="2800" b="1" dirty="0">
              <a:ea typeface="SimSun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1066800"/>
            <a:ext cx="8475662" cy="531495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ea typeface="SimSun" pitchFamily="2" charset="-122"/>
              </a:rPr>
              <a:t>Let's assume the hash table size m is 10. Here are two cases: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38" y="1851762"/>
            <a:ext cx="8249294" cy="45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97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Double Hashing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1066800"/>
            <a:ext cx="8932862" cy="5314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k,i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=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+ 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i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h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</a:rPr>
              <a:t>2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mod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m  </a:t>
            </a:r>
          </a:p>
          <a:p>
            <a:pPr>
              <a:lnSpc>
                <a:spcPct val="90000"/>
              </a:lnSpc>
            </a:pPr>
            <a:endParaRPr lang="en-US" altLang="zh-CN" sz="2800" i="1" dirty="0">
              <a:solidFill>
                <a:srgbClr val="CC3300"/>
              </a:solidFill>
              <a:ea typeface="SimSun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800" i="1" dirty="0">
              <a:solidFill>
                <a:srgbClr val="CC3300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SimSun" pitchFamily="2" charset="-122"/>
              </a:rPr>
              <a:t>Must have </a:t>
            </a:r>
            <a:r>
              <a:rPr lang="en-US" altLang="zh-CN" sz="2800" i="1" dirty="0">
                <a:ea typeface="SimSun" pitchFamily="2" charset="-122"/>
              </a:rPr>
              <a:t>h</a:t>
            </a:r>
            <a:r>
              <a:rPr lang="en-US" altLang="zh-CN" sz="2800" baseline="-25000" dirty="0">
                <a:ea typeface="SimSun" pitchFamily="2" charset="-122"/>
              </a:rPr>
              <a:t>2</a:t>
            </a:r>
            <a:r>
              <a:rPr lang="en-US" altLang="zh-CN" sz="2800" dirty="0">
                <a:ea typeface="SimSun" pitchFamily="2" charset="-122"/>
              </a:rPr>
              <a:t>(</a:t>
            </a:r>
            <a:r>
              <a:rPr lang="en-US" altLang="zh-CN" sz="2800" i="1" dirty="0">
                <a:ea typeface="SimSun" pitchFamily="2" charset="-122"/>
              </a:rPr>
              <a:t>k</a:t>
            </a:r>
            <a:r>
              <a:rPr lang="en-US" altLang="zh-CN" sz="2800" dirty="0">
                <a:ea typeface="SimSun" pitchFamily="2" charset="-122"/>
              </a:rPr>
              <a:t>) relatively prime to </a:t>
            </a:r>
            <a:r>
              <a:rPr lang="en-US" altLang="zh-CN" sz="2800" i="1" dirty="0">
                <a:ea typeface="SimSun" pitchFamily="2" charset="-122"/>
              </a:rPr>
              <a:t>m</a:t>
            </a:r>
            <a:r>
              <a:rPr lang="en-US" altLang="zh-CN" sz="2800" dirty="0">
                <a:ea typeface="SimSun" pitchFamily="2" charset="-122"/>
              </a:rPr>
              <a:t>, so that the probe sequence is a full permutation of 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0, 1,…,</a:t>
            </a:r>
            <a:r>
              <a:rPr lang="en-US" altLang="zh-CN" sz="2800" i="1" dirty="0">
                <a:ea typeface="SimSun" pitchFamily="2" charset="-122"/>
                <a:sym typeface="Symbol" pitchFamily="18" charset="2"/>
              </a:rPr>
              <a:t> m</a:t>
            </a:r>
            <a:r>
              <a:rPr lang="en-US" altLang="zh-CN" sz="2400" i="1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000" dirty="0">
                <a:ea typeface="SimSun" pitchFamily="2" charset="-122"/>
                <a:sym typeface="Symbol" pitchFamily="18" charset="2"/>
              </a:rPr>
              <a:t>–</a:t>
            </a:r>
            <a:r>
              <a:rPr lang="en-US" altLang="zh-CN" sz="1200" dirty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1.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Choose 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 to be a power of 2 and have 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baseline="-25000" dirty="0">
                <a:ea typeface="SimSun" pitchFamily="2" charset="-122"/>
              </a:rPr>
              <a:t>2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 always return an odd number. Or,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Let 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 be prime, and have 1 &lt; 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baseline="-25000" dirty="0">
                <a:ea typeface="SimSun" pitchFamily="2" charset="-122"/>
              </a:rPr>
              <a:t>2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 &lt; 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.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23850" y="1600200"/>
            <a:ext cx="55086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key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914400" y="1600200"/>
            <a:ext cx="16144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Probe number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590800" y="1600200"/>
            <a:ext cx="33496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Auxiliary hash functions</a:t>
            </a:r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685800" y="1447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 flipH="1" flipV="1">
            <a:off x="1219200" y="14478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 flipH="1" flipV="1">
            <a:off x="2209800" y="1447800"/>
            <a:ext cx="1524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 flipH="1" flipV="1">
            <a:off x="3581400" y="1447800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528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Double Hashing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8" y="1066800"/>
            <a:ext cx="8475662" cy="5314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k,i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=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h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+ </a:t>
            </a:r>
            <a:r>
              <a:rPr lang="en-US" altLang="zh-CN" sz="2800" i="1" dirty="0" err="1">
                <a:solidFill>
                  <a:srgbClr val="CC3300"/>
                </a:solidFill>
                <a:ea typeface="SimSun" pitchFamily="2" charset="-122"/>
              </a:rPr>
              <a:t>i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h</a:t>
            </a:r>
            <a:r>
              <a:rPr lang="en-US" altLang="zh-CN" sz="2800" baseline="-25000" dirty="0">
                <a:solidFill>
                  <a:srgbClr val="CC3300"/>
                </a:solidFill>
                <a:ea typeface="SimSun" pitchFamily="2" charset="-122"/>
              </a:rPr>
              <a:t>2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k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))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</a:rPr>
              <a:t>mod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</a:rPr>
              <a:t> m  </a:t>
            </a:r>
          </a:p>
          <a:p>
            <a:pPr>
              <a:lnSpc>
                <a:spcPct val="90000"/>
              </a:lnSpc>
            </a:pPr>
            <a:endParaRPr lang="en-US" altLang="zh-CN" sz="2800" i="1" dirty="0">
              <a:solidFill>
                <a:srgbClr val="CC3300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rgbClr val="CC3300"/>
              </a:solidFill>
              <a:ea typeface="SimSun" pitchFamily="2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(</a:t>
            </a:r>
            <a:r>
              <a:rPr lang="en-US" altLang="zh-CN" sz="2800" i="1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m</a:t>
            </a:r>
            <a:r>
              <a:rPr lang="en-US" altLang="zh-CN" sz="2800" baseline="300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800" dirty="0">
                <a:solidFill>
                  <a:srgbClr val="CC3300"/>
                </a:solidFill>
                <a:ea typeface="SimSun" pitchFamily="2" charset="-122"/>
                <a:sym typeface="Symbol" pitchFamily="18" charset="2"/>
              </a:rPr>
              <a:t>) different probe sequences</a:t>
            </a:r>
            <a:r>
              <a:rPr lang="en-US" altLang="zh-CN" sz="2800" dirty="0">
                <a:ea typeface="SimSun" pitchFamily="2" charset="-122"/>
                <a:sym typeface="Symbol" pitchFamily="18" charset="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Each sequence is defined by a different combination of 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baseline="-25000" dirty="0">
                <a:ea typeface="SimSun" pitchFamily="2" charset="-122"/>
              </a:rPr>
              <a:t>1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 and </a:t>
            </a:r>
            <a:r>
              <a:rPr lang="en-US" altLang="zh-CN" i="1" dirty="0">
                <a:ea typeface="SimSun" pitchFamily="2" charset="-122"/>
              </a:rPr>
              <a:t>h</a:t>
            </a:r>
            <a:r>
              <a:rPr lang="en-US" altLang="zh-CN" baseline="-25000" dirty="0">
                <a:ea typeface="SimSun" pitchFamily="2" charset="-122"/>
              </a:rPr>
              <a:t>2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k</a:t>
            </a:r>
            <a:r>
              <a:rPr lang="en-US" altLang="zh-CN" dirty="0">
                <a:ea typeface="SimSun" pitchFamily="2" charset="-122"/>
              </a:rPr>
              <a:t>), meaning that for each key, the collision resolution follows a distinct pattern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Double hashing closely approximates the behavior of ideal uniform hashing, where each key would hash uniformly over all slots. This is because the combination of h</a:t>
            </a:r>
            <a:r>
              <a:rPr lang="en-US" baseline="-25000" dirty="0"/>
              <a:t>1</a:t>
            </a:r>
            <a:r>
              <a:rPr lang="en-US" dirty="0"/>
              <a:t>​ and h</a:t>
            </a:r>
            <a:r>
              <a:rPr lang="en-US" baseline="-25000" dirty="0"/>
              <a:t>2</a:t>
            </a:r>
            <a:r>
              <a:rPr lang="en-US" dirty="0"/>
              <a:t>​ gives a unique probing sequence for each key, minimizing clustering and increasing efficiency.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23850" y="1600200"/>
            <a:ext cx="55086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key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914400" y="1600200"/>
            <a:ext cx="16144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Probe number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590800" y="1600200"/>
            <a:ext cx="33496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hlink"/>
                </a:solidFill>
                <a:ea typeface="SimSun" pitchFamily="2" charset="-122"/>
              </a:rPr>
              <a:t>Auxiliary hash functions</a:t>
            </a:r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685800" y="1447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 flipH="1" flipV="1">
            <a:off x="1219200" y="14478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 flipH="1" flipV="1">
            <a:off x="2209800" y="1447800"/>
            <a:ext cx="1524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 flipH="1" flipV="1">
            <a:off x="3581400" y="1447800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47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E072-2C99-4739-9DAE-27EB3E14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Double Hashing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D4B2E-2843-49DC-88F0-B7F496286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23387"/>
                <a:ext cx="8229600" cy="3172526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h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2400" i="1" dirty="0" err="1">
                    <a:solidFill>
                      <a:srgbClr val="CC3300"/>
                    </a:solidFill>
                    <a:ea typeface="SimSun" pitchFamily="2" charset="-122"/>
                  </a:rPr>
                  <a:t>k,i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)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= 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h</a:t>
                </a:r>
                <a:r>
                  <a:rPr lang="en-US" altLang="zh-CN" sz="2400" baseline="-25000" dirty="0">
                    <a:solidFill>
                      <a:srgbClr val="CC3300"/>
                    </a:solidFill>
                    <a:ea typeface="SimSun" pitchFamily="2" charset="-122"/>
                    <a:sym typeface="Symbol" pitchFamily="18" charset="2"/>
                  </a:rPr>
                  <a:t>1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k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)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+ </a:t>
                </a:r>
                <a:r>
                  <a:rPr lang="en-US" altLang="zh-CN" sz="2400" i="1" dirty="0" err="1">
                    <a:solidFill>
                      <a:srgbClr val="CC3300"/>
                    </a:solidFill>
                    <a:ea typeface="SimSun" pitchFamily="2" charset="-122"/>
                  </a:rPr>
                  <a:t>i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h</a:t>
                </a:r>
                <a:r>
                  <a:rPr lang="en-US" altLang="zh-CN" sz="2400" baseline="-25000" dirty="0">
                    <a:solidFill>
                      <a:srgbClr val="CC3300"/>
                    </a:solidFill>
                    <a:ea typeface="SimSun" pitchFamily="2" charset="-122"/>
                  </a:rPr>
                  <a:t>2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k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))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</a:t>
                </a:r>
                <a:r>
                  <a:rPr lang="en-US" altLang="zh-CN" sz="2400" dirty="0">
                    <a:solidFill>
                      <a:srgbClr val="CC3300"/>
                    </a:solidFill>
                    <a:ea typeface="SimSun" pitchFamily="2" charset="-122"/>
                  </a:rPr>
                  <a:t>mod</a:t>
                </a:r>
                <a:r>
                  <a:rPr lang="en-US" altLang="zh-CN" sz="2400" i="1" dirty="0">
                    <a:solidFill>
                      <a:srgbClr val="CC3300"/>
                    </a:solidFill>
                    <a:ea typeface="SimSun" pitchFamily="2" charset="-122"/>
                  </a:rPr>
                  <a:t> 7 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𝑘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=</m:t>
                    </m:r>
                    <m:r>
                      <a:rPr lang="en-US" altLang="zh-CN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𝑘</m:t>
                    </m:r>
                    <m:r>
                      <a:rPr lang="en-US" altLang="zh-CN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%7, </m:t>
                    </m:r>
                  </m:oMath>
                </a14:m>
                <a:endParaRPr lang="en-US" altLang="zh-CN" sz="2400" b="0" i="1" dirty="0">
                  <a:solidFill>
                    <a:srgbClr val="CC3300"/>
                  </a:solidFill>
                  <a:latin typeface="Cambria Math" panose="02040503050406030204" pitchFamily="18" charset="0"/>
                  <a:ea typeface="SimSun" pitchFamily="2" charset="-122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4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𝑘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=5−(</m:t>
                    </m:r>
                    <m:r>
                      <a:rPr lang="en-US" altLang="zh-CN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𝑘</m:t>
                    </m:r>
                    <m:r>
                      <a:rPr lang="en-US" altLang="zh-CN" sz="24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%5)</m:t>
                    </m:r>
                  </m:oMath>
                </a14:m>
                <a:endParaRPr lang="en-US" altLang="zh-CN" sz="2400" i="1" dirty="0">
                  <a:solidFill>
                    <a:srgbClr val="CC3300"/>
                  </a:solidFill>
                  <a:ea typeface="SimSun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2400" i="1" dirty="0">
                    <a:ea typeface="SimSun" pitchFamily="2" charset="-122"/>
                  </a:rPr>
                  <a:t>keys: 76, 40, 47, 55, 10, 93,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D4B2E-2843-49DC-88F0-B7F496286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23387"/>
                <a:ext cx="8229600" cy="3172526"/>
              </a:xfrm>
              <a:blipFill>
                <a:blip r:embed="rId2"/>
                <a:stretch>
                  <a:fillRect l="-815" t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F542A30-CBDA-4A34-BFA9-2D9A35A94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812" y="908720"/>
            <a:ext cx="5452375" cy="81021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C2B4A9-34D1-4E89-A5F7-359EEB8B6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578519"/>
              </p:ext>
            </p:extLst>
          </p:nvPr>
        </p:nvGraphicFramePr>
        <p:xfrm>
          <a:off x="1403647" y="5063807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88211327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23461925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75884237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67481905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278703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597111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61038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1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60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7615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632F-BF21-268A-4873-3A08EA49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74EF-72CF-B766-CB7F-21C54586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Double Hashing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2F61B-63B9-A09A-B776-A28A24098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836712"/>
                <a:ext cx="8229600" cy="1656184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h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1800" i="1" dirty="0" err="1">
                    <a:solidFill>
                      <a:srgbClr val="CC3300"/>
                    </a:solidFill>
                    <a:ea typeface="SimSun" pitchFamily="2" charset="-122"/>
                  </a:rPr>
                  <a:t>k,i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)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 = 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h</a:t>
                </a:r>
                <a:r>
                  <a:rPr lang="en-US" altLang="zh-CN" sz="1800" baseline="-25000" dirty="0">
                    <a:solidFill>
                      <a:srgbClr val="CC3300"/>
                    </a:solidFill>
                    <a:ea typeface="SimSun" pitchFamily="2" charset="-122"/>
                    <a:sym typeface="Symbol" pitchFamily="18" charset="2"/>
                  </a:rPr>
                  <a:t>1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k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)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 + </a:t>
                </a:r>
                <a:r>
                  <a:rPr lang="en-US" altLang="zh-CN" sz="1800" i="1" dirty="0" err="1">
                    <a:solidFill>
                      <a:srgbClr val="CC3300"/>
                    </a:solidFill>
                    <a:ea typeface="SimSun" pitchFamily="2" charset="-122"/>
                  </a:rPr>
                  <a:t>i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 h</a:t>
                </a:r>
                <a:r>
                  <a:rPr lang="en-US" altLang="zh-CN" sz="1800" baseline="-25000" dirty="0">
                    <a:solidFill>
                      <a:srgbClr val="CC3300"/>
                    </a:solidFill>
                    <a:ea typeface="SimSun" pitchFamily="2" charset="-122"/>
                  </a:rPr>
                  <a:t>2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(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k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))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 </a:t>
                </a:r>
                <a:r>
                  <a:rPr lang="en-US" altLang="zh-CN" sz="1800" dirty="0">
                    <a:solidFill>
                      <a:srgbClr val="CC3300"/>
                    </a:solidFill>
                    <a:ea typeface="SimSun" pitchFamily="2" charset="-122"/>
                  </a:rPr>
                  <a:t>mod</a:t>
                </a:r>
                <a:r>
                  <a:rPr lang="en-US" altLang="zh-CN" sz="1800" i="1" dirty="0">
                    <a:solidFill>
                      <a:srgbClr val="CC3300"/>
                    </a:solidFill>
                    <a:ea typeface="SimSun" pitchFamily="2" charset="-122"/>
                  </a:rPr>
                  <a:t> 7 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18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18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dPr>
                      <m:e>
                        <m:r>
                          <a:rPr lang="en-US" altLang="zh-CN" sz="180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𝑘</m:t>
                        </m:r>
                      </m:e>
                    </m:d>
                    <m:r>
                      <a:rPr lang="en-US" altLang="zh-CN" sz="18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=</m:t>
                    </m:r>
                    <m:r>
                      <a:rPr lang="en-US" altLang="zh-CN" sz="18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𝑘</m:t>
                    </m:r>
                    <m:r>
                      <a:rPr lang="en-US" altLang="zh-CN" sz="18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%7, </m:t>
                    </m:r>
                  </m:oMath>
                </a14:m>
                <a:endParaRPr lang="en-US" altLang="zh-CN" sz="1800" b="0" i="1" dirty="0">
                  <a:solidFill>
                    <a:srgbClr val="CC3300"/>
                  </a:solidFill>
                  <a:latin typeface="Cambria Math" panose="02040503050406030204" pitchFamily="18" charset="0"/>
                  <a:ea typeface="SimSun" pitchFamily="2" charset="-122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sSubPr>
                      <m:e>
                        <m:r>
                          <a:rPr lang="en-US" altLang="zh-CN" sz="18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18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SimSun" pitchFamily="2" charset="-122"/>
                          </a:rPr>
                          <m:t>𝑘</m:t>
                        </m:r>
                      </m:e>
                    </m:d>
                    <m:r>
                      <a:rPr lang="en-US" altLang="zh-CN" sz="18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=5−(</m:t>
                    </m:r>
                    <m:r>
                      <a:rPr lang="en-US" altLang="zh-CN" sz="18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𝑘</m:t>
                    </m:r>
                    <m:r>
                      <a:rPr lang="en-US" altLang="zh-CN" sz="1800" b="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SimSun" pitchFamily="2" charset="-122"/>
                      </a:rPr>
                      <m:t>%5)</m:t>
                    </m:r>
                  </m:oMath>
                </a14:m>
                <a:endParaRPr lang="en-US" altLang="zh-CN" sz="1800" i="1" dirty="0">
                  <a:solidFill>
                    <a:srgbClr val="CC3300"/>
                  </a:solidFill>
                  <a:ea typeface="SimSun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800" i="1" dirty="0">
                    <a:ea typeface="SimSun" pitchFamily="2" charset="-122"/>
                  </a:rPr>
                  <a:t>keys: 76, 40, 47, 55, 10, 93,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2F61B-63B9-A09A-B776-A28A24098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36712"/>
                <a:ext cx="8229600" cy="1656184"/>
              </a:xfrm>
              <a:blipFill>
                <a:blip r:embed="rId2"/>
                <a:stretch>
                  <a:fillRect l="-222" t="-3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A32F07-DD33-01A7-61A3-288C94382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990049"/>
              </p:ext>
            </p:extLst>
          </p:nvPr>
        </p:nvGraphicFramePr>
        <p:xfrm>
          <a:off x="3563888" y="1124744"/>
          <a:ext cx="5205263" cy="1008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3609">
                  <a:extLst>
                    <a:ext uri="{9D8B030D-6E8A-4147-A177-3AD203B41FA5}">
                      <a16:colId xmlns:a16="http://schemas.microsoft.com/office/drawing/2014/main" val="3882113276"/>
                    </a:ext>
                  </a:extLst>
                </a:gridCol>
                <a:gridCol w="743609">
                  <a:extLst>
                    <a:ext uri="{9D8B030D-6E8A-4147-A177-3AD203B41FA5}">
                      <a16:colId xmlns:a16="http://schemas.microsoft.com/office/drawing/2014/main" val="1234619252"/>
                    </a:ext>
                  </a:extLst>
                </a:gridCol>
                <a:gridCol w="743609">
                  <a:extLst>
                    <a:ext uri="{9D8B030D-6E8A-4147-A177-3AD203B41FA5}">
                      <a16:colId xmlns:a16="http://schemas.microsoft.com/office/drawing/2014/main" val="758842371"/>
                    </a:ext>
                  </a:extLst>
                </a:gridCol>
                <a:gridCol w="743609">
                  <a:extLst>
                    <a:ext uri="{9D8B030D-6E8A-4147-A177-3AD203B41FA5}">
                      <a16:colId xmlns:a16="http://schemas.microsoft.com/office/drawing/2014/main" val="674819054"/>
                    </a:ext>
                  </a:extLst>
                </a:gridCol>
                <a:gridCol w="743609">
                  <a:extLst>
                    <a:ext uri="{9D8B030D-6E8A-4147-A177-3AD203B41FA5}">
                      <a16:colId xmlns:a16="http://schemas.microsoft.com/office/drawing/2014/main" val="3527870328"/>
                    </a:ext>
                  </a:extLst>
                </a:gridCol>
                <a:gridCol w="743609">
                  <a:extLst>
                    <a:ext uri="{9D8B030D-6E8A-4147-A177-3AD203B41FA5}">
                      <a16:colId xmlns:a16="http://schemas.microsoft.com/office/drawing/2014/main" val="3159711101"/>
                    </a:ext>
                  </a:extLst>
                </a:gridCol>
                <a:gridCol w="743609">
                  <a:extLst>
                    <a:ext uri="{9D8B030D-6E8A-4147-A177-3AD203B41FA5}">
                      <a16:colId xmlns:a16="http://schemas.microsoft.com/office/drawing/2014/main" val="2361038217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1609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60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075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E072-2C99-4739-9DAE-27EB3E14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Double Hashing</a:t>
            </a:r>
            <a:endParaRPr lang="en-US" dirty="0"/>
          </a:p>
        </p:txBody>
      </p:sp>
      <p:pic>
        <p:nvPicPr>
          <p:cNvPr id="102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72816"/>
            <a:ext cx="478155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57200" y="3419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Consider an open addressing hash table as shown below with the following items added beforehand.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function uses the following hash function to manage collisions: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b="1" dirty="0"/>
              <a:t>ℎ(𝑘, 𝑖) = (ℎ</a:t>
            </a:r>
            <a:r>
              <a:rPr lang="en-US" sz="2000" b="1" baseline="-25000" dirty="0"/>
              <a:t>1</a:t>
            </a:r>
            <a:r>
              <a:rPr lang="en-US" sz="2000" b="1" dirty="0"/>
              <a:t>(𝑘) + 𝑖 ℎ</a:t>
            </a:r>
            <a:r>
              <a:rPr lang="en-US" sz="2000" b="1" baseline="-25000" dirty="0"/>
              <a:t>2</a:t>
            </a:r>
            <a:r>
              <a:rPr lang="en-US" sz="2000" b="1" dirty="0"/>
              <a:t>(𝑘)) 𝑚𝑜𝑑 10 </a:t>
            </a:r>
          </a:p>
          <a:p>
            <a:pPr marL="0" indent="0">
              <a:buNone/>
            </a:pPr>
            <a:r>
              <a:rPr lang="en-US" sz="2000" b="1" dirty="0"/>
              <a:t>Where,  ℎ</a:t>
            </a:r>
            <a:r>
              <a:rPr lang="en-US" sz="2000" b="1" baseline="-25000" dirty="0"/>
              <a:t>1</a:t>
            </a:r>
            <a:r>
              <a:rPr lang="en-US" sz="2000" b="1" dirty="0"/>
              <a:t>(𝑘) = (3𝑘 + 5) 𝑚𝑜𝑑 10 and </a:t>
            </a:r>
          </a:p>
          <a:p>
            <a:pPr marL="0" indent="0">
              <a:buNone/>
            </a:pPr>
            <a:r>
              <a:rPr lang="en-US" sz="2000" b="1" dirty="0"/>
              <a:t>	ℎ</a:t>
            </a:r>
            <a:r>
              <a:rPr lang="en-US" sz="2000" b="1" baseline="-25000" dirty="0"/>
              <a:t>2</a:t>
            </a:r>
            <a:r>
              <a:rPr lang="en-US" sz="2000" b="1" dirty="0"/>
              <a:t>(𝑘) =(2𝑘 + 3) 𝑚𝑜𝑑 10 </a:t>
            </a:r>
          </a:p>
          <a:p>
            <a:pPr marL="0" indent="0">
              <a:buNone/>
            </a:pPr>
            <a:r>
              <a:rPr lang="en-US" sz="2000" dirty="0"/>
              <a:t>Now, show calculations for the following operations and redraw the given hash table after the insertions. </a:t>
            </a:r>
          </a:p>
          <a:p>
            <a:pPr marL="457200" lvl="1" indent="0">
              <a:buNone/>
            </a:pPr>
            <a:r>
              <a:rPr lang="en-US" sz="2000" dirty="0" err="1"/>
              <a:t>i</a:t>
            </a:r>
            <a:r>
              <a:rPr lang="en-US" sz="2000" dirty="0"/>
              <a:t>) Insert 72 </a:t>
            </a:r>
          </a:p>
          <a:p>
            <a:pPr marL="457200" lvl="1" indent="0">
              <a:buNone/>
            </a:pPr>
            <a:r>
              <a:rPr lang="en-US" sz="2000" dirty="0"/>
              <a:t>ii) Insert 64 </a:t>
            </a:r>
          </a:p>
          <a:p>
            <a:pPr marL="457200" lvl="1" indent="0">
              <a:buNone/>
            </a:pPr>
            <a:r>
              <a:rPr lang="en-US" sz="2000" dirty="0"/>
              <a:t>iii) Search 44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41811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933" y="0"/>
            <a:ext cx="8229600" cy="882576"/>
          </a:xfrm>
        </p:spPr>
        <p:txBody>
          <a:bodyPr/>
          <a:lstStyle/>
          <a:p>
            <a:r>
              <a:rPr lang="en-US" dirty="0"/>
              <a:t>Chaining Vs Open Addressing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933" y="940556"/>
            <a:ext cx="4040188" cy="319881"/>
          </a:xfrm>
        </p:spPr>
        <p:txBody>
          <a:bodyPr/>
          <a:lstStyle/>
          <a:p>
            <a:r>
              <a:rPr lang="en-US" dirty="0"/>
              <a:t>Chaining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12776"/>
            <a:ext cx="4040188" cy="4713387"/>
          </a:xfrm>
        </p:spPr>
        <p:txBody>
          <a:bodyPr/>
          <a:lstStyle/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If number of elements grow unpredictably, chaining allows flexible handling of collision</a:t>
            </a:r>
          </a:p>
          <a:p>
            <a:pPr lvl="1"/>
            <a:r>
              <a:rPr lang="en-US" dirty="0"/>
              <a:t>Chaining works well even when the load factor (number of elements / table size) exceeds 1.</a:t>
            </a:r>
          </a:p>
          <a:p>
            <a:pPr lvl="1"/>
            <a:r>
              <a:rPr lang="en-US" dirty="0"/>
              <a:t>Handles deletion properly</a:t>
            </a:r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Storing pointers to next element in the chain requires additional memory usage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75121" y="895351"/>
            <a:ext cx="4041775" cy="365086"/>
          </a:xfrm>
        </p:spPr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12776"/>
            <a:ext cx="4041775" cy="4713387"/>
          </a:xfrm>
        </p:spPr>
        <p:txBody>
          <a:bodyPr/>
          <a:lstStyle/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Good for fixed or predictable number of elements.</a:t>
            </a:r>
          </a:p>
          <a:p>
            <a:pPr lvl="1"/>
            <a:r>
              <a:rPr lang="en-US" dirty="0"/>
              <a:t>Avoids extra memory requirement for additional information</a:t>
            </a:r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Deletion is complex </a:t>
            </a:r>
          </a:p>
          <a:p>
            <a:pPr lvl="1"/>
            <a:r>
              <a:rPr lang="en-US" dirty="0"/>
              <a:t>When the table becomes too full, probing sequences grow longer, significantly slowing down insertions and lookups.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3123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5792-F804-4090-B0C2-6AAFCDC6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Exercise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AD2A3-2944-423D-827E-07B851118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Consider an open-addressing hash table as shown below. Assume that collisions are handled by the hash function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1" dirty="0" err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p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𝒊𝒉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sz="2000" b="1" i="1" dirty="0" smtClean="0">
                            <a:latin typeface="Cambria Math"/>
                          </a:rPr>
                          <m:t>  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en-US" sz="2000" dirty="0"/>
                  <a:t>, where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sz="2000" b="1" i="1" dirty="0" smtClean="0">
                        <a:latin typeface="Cambria Math"/>
                      </a:rPr>
                      <m:t> 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/>
                      </a:rPr>
                      <m:t>  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i="1" dirty="0">
                    <a:solidFill>
                      <a:srgbClr val="FF0000"/>
                    </a:solidFill>
                  </a:rPr>
                  <a:t>By showing calculations</a:t>
                </a:r>
                <a:r>
                  <a:rPr lang="en-US" sz="2000" i="1" dirty="0"/>
                  <a:t>, redraw the table </a:t>
                </a:r>
                <a:r>
                  <a:rPr lang="en-US" sz="2000" dirty="0"/>
                  <a:t>after </a:t>
                </a:r>
              </a:p>
              <a:p>
                <a:pPr lvl="1"/>
                <a:r>
                  <a:rPr lang="en-US" sz="2000" dirty="0"/>
                  <a:t>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insert 90, 83, 7 ,18 </a:t>
                </a:r>
              </a:p>
              <a:p>
                <a:r>
                  <a:rPr lang="en-US" sz="2000" dirty="0"/>
                  <a:t>What is collision? </a:t>
                </a:r>
              </a:p>
              <a:p>
                <a:r>
                  <a:rPr lang="en-US" sz="2000" dirty="0"/>
                  <a:t>Chaining vs Open Addressing; pros cons</a:t>
                </a:r>
                <a:br>
                  <a:rPr lang="en-US" sz="200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21AD2A3-2944-423D-827E-07B851118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568852"/>
      </p:ext>
    </p:extLst>
  </p:cSld>
  <p:clrMapOvr>
    <a:masterClrMapping/>
  </p:clrMapOvr>
</p:sld>
</file>

<file path=ppt/theme/theme1.xml><?xml version="1.0" encoding="utf-8"?>
<a:theme xmlns:a="http://schemas.openxmlformats.org/drawingml/2006/main" name="1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1_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17681</TotalTime>
  <Words>3579</Words>
  <Application>Microsoft Office PowerPoint</Application>
  <PresentationFormat>On-screen Show (4:3)</PresentationFormat>
  <Paragraphs>604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SimSun</vt:lpstr>
      <vt:lpstr>Arial</vt:lpstr>
      <vt:lpstr>Arial Narrow</vt:lpstr>
      <vt:lpstr>Cambria Math</vt:lpstr>
      <vt:lpstr>Courier New</vt:lpstr>
      <vt:lpstr>Monotype Sorts</vt:lpstr>
      <vt:lpstr>Symbol</vt:lpstr>
      <vt:lpstr>Tahoma</vt:lpstr>
      <vt:lpstr>Times New Roman</vt:lpstr>
      <vt:lpstr>Wingdings</vt:lpstr>
      <vt:lpstr>1_computer-bunny.blue</vt:lpstr>
      <vt:lpstr>1_Default Design</vt:lpstr>
      <vt:lpstr>Hash Tables</vt:lpstr>
      <vt:lpstr>Why Hash table is important?</vt:lpstr>
      <vt:lpstr>Direct-Address Tables </vt:lpstr>
      <vt:lpstr>PowerPoint Presentation</vt:lpstr>
      <vt:lpstr>PowerPoint Presentation</vt:lpstr>
      <vt:lpstr>Hash Tables</vt:lpstr>
      <vt:lpstr>Hash Tables</vt:lpstr>
      <vt:lpstr>Hashing</vt:lpstr>
      <vt:lpstr>Hashing</vt:lpstr>
      <vt:lpstr>Issues with Hashing</vt:lpstr>
      <vt:lpstr>Methods of Resolution</vt:lpstr>
      <vt:lpstr>Collision Resolution by Chaining</vt:lpstr>
      <vt:lpstr>Collision Resolution by Chaining</vt:lpstr>
      <vt:lpstr>Chaining</vt:lpstr>
      <vt:lpstr>Chaining</vt:lpstr>
      <vt:lpstr>Chaining</vt:lpstr>
      <vt:lpstr>Chaining Example</vt:lpstr>
      <vt:lpstr>Chaining Example</vt:lpstr>
      <vt:lpstr>Chaining Example</vt:lpstr>
      <vt:lpstr>Analysis of Chaining</vt:lpstr>
      <vt:lpstr>Analysis of Chaining</vt:lpstr>
      <vt:lpstr>Analysis of Chaining</vt:lpstr>
      <vt:lpstr>Analysis of Chaining</vt:lpstr>
      <vt:lpstr>Analysis of Chaining</vt:lpstr>
      <vt:lpstr>Open Addressing</vt:lpstr>
      <vt:lpstr>Probe Sequence</vt:lpstr>
      <vt:lpstr>Computing Probe Sequences</vt:lpstr>
      <vt:lpstr>Linear Probing</vt:lpstr>
      <vt:lpstr>Ex: Linear Probing</vt:lpstr>
      <vt:lpstr>Operation Insert</vt:lpstr>
      <vt:lpstr>Pseudo-code for Search</vt:lpstr>
      <vt:lpstr>PowerPoint Presentation</vt:lpstr>
      <vt:lpstr>Deletion</vt:lpstr>
      <vt:lpstr>Quadratic Probing</vt:lpstr>
      <vt:lpstr>Primary vs Secondary Clustering</vt:lpstr>
      <vt:lpstr>Quadratic Probing</vt:lpstr>
      <vt:lpstr>Double Hashing</vt:lpstr>
      <vt:lpstr>Why Relatively Prime in Double Hashing?</vt:lpstr>
      <vt:lpstr>Why Relatively Prime in Double Hashing?</vt:lpstr>
      <vt:lpstr>Why Relatively Prime in Double Hashing?</vt:lpstr>
      <vt:lpstr>Double Hashing</vt:lpstr>
      <vt:lpstr>Double Hashing</vt:lpstr>
      <vt:lpstr>Double Hashing</vt:lpstr>
      <vt:lpstr>Double Hashing</vt:lpstr>
      <vt:lpstr>Double Hashing</vt:lpstr>
      <vt:lpstr>Chaining Vs Open Addressing</vt:lpstr>
      <vt:lpstr>Exercise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1705040 - Umama Rahman</cp:lastModifiedBy>
  <cp:revision>1889</cp:revision>
  <dcterms:created xsi:type="dcterms:W3CDTF">2002-01-21T02:22:10Z</dcterms:created>
  <dcterms:modified xsi:type="dcterms:W3CDTF">2025-06-20T16:32:58Z</dcterms:modified>
</cp:coreProperties>
</file>