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7" r:id="rId1"/>
  </p:sldMasterIdLst>
  <p:notesMasterIdLst>
    <p:notesMasterId r:id="rId40"/>
  </p:notesMasterIdLst>
  <p:sldIdLst>
    <p:sldId id="256" r:id="rId2"/>
    <p:sldId id="258" r:id="rId3"/>
    <p:sldId id="259" r:id="rId4"/>
    <p:sldId id="364" r:id="rId5"/>
    <p:sldId id="261" r:id="rId6"/>
    <p:sldId id="262" r:id="rId7"/>
    <p:sldId id="263" r:id="rId8"/>
    <p:sldId id="264" r:id="rId9"/>
    <p:sldId id="271" r:id="rId10"/>
    <p:sldId id="272" r:id="rId11"/>
    <p:sldId id="273" r:id="rId12"/>
    <p:sldId id="274" r:id="rId13"/>
    <p:sldId id="276" r:id="rId14"/>
    <p:sldId id="277" r:id="rId15"/>
    <p:sldId id="278" r:id="rId16"/>
    <p:sldId id="279" r:id="rId17"/>
    <p:sldId id="294" r:id="rId18"/>
    <p:sldId id="286" r:id="rId19"/>
    <p:sldId id="280" r:id="rId20"/>
    <p:sldId id="317" r:id="rId21"/>
    <p:sldId id="349" r:id="rId22"/>
    <p:sldId id="318" r:id="rId23"/>
    <p:sldId id="328" r:id="rId24"/>
    <p:sldId id="329" r:id="rId25"/>
    <p:sldId id="331" r:id="rId26"/>
    <p:sldId id="326" r:id="rId27"/>
    <p:sldId id="327" r:id="rId28"/>
    <p:sldId id="343" r:id="rId29"/>
    <p:sldId id="332" r:id="rId30"/>
    <p:sldId id="359" r:id="rId31"/>
    <p:sldId id="362" r:id="rId32"/>
    <p:sldId id="361" r:id="rId33"/>
    <p:sldId id="363" r:id="rId34"/>
    <p:sldId id="330" r:id="rId35"/>
    <p:sldId id="295" r:id="rId36"/>
    <p:sldId id="281" r:id="rId37"/>
    <p:sldId id="287" r:id="rId38"/>
    <p:sldId id="299" r:id="rId39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528" y="36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043CF-4F4B-4167-BE15-C3812E50623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D2572-77F5-4011-A24A-005DC3293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7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35843A-51DB-4808-8836-AB2703081CBF}" type="slidenum">
              <a:rPr lang="en-US" altLang="en-US" sz="1200" i="0">
                <a:latin typeface="Times New Roman" panose="02020603050405020304" pitchFamily="18" charset="0"/>
              </a:rPr>
              <a:pPr/>
              <a:t>19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39939" name="Rectangle 7"/>
          <p:cNvSpPr txBox="1">
            <a:spLocks noGrp="1" noChangeArrowheads="1"/>
          </p:cNvSpPr>
          <p:nvPr/>
        </p:nvSpPr>
        <p:spPr bwMode="auto">
          <a:xfrm>
            <a:off x="5180068" y="6513685"/>
            <a:ext cx="3961843" cy="343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55" tIns="46227" rIns="92455" bIns="46227" anchor="b"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8B0D1D7-3B46-47B5-B597-B52E6D84EC12}" type="slidenum">
              <a:rPr lang="en-US" altLang="en-US" sz="1200" i="0">
                <a:ea typeface="ＭＳ Ｐゴシック" panose="020B0600070205080204" pitchFamily="34" charset="-128"/>
              </a:rPr>
              <a:pPr algn="r" eaLnBrk="1" hangingPunct="1"/>
              <a:t>19</a:t>
            </a:fld>
            <a:endParaRPr lang="en-US" altLang="en-US" sz="1200" i="0">
              <a:ea typeface="ＭＳ Ｐゴシック" panose="020B0600070205080204" pitchFamily="34" charset="-128"/>
            </a:endParaRPr>
          </a:p>
        </p:txBody>
      </p:sp>
      <p:sp>
        <p:nvSpPr>
          <p:cNvPr id="3994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3994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5236" y="3258022"/>
            <a:ext cx="7313528" cy="308586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07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79091-3782-4E7F-9CE6-16C46FC42E8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27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7D37-1109-4BC2-B6F0-D141E1F0C07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4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0505-67D4-4363-925D-8DF4CF42C5DB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9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1225-AEE4-4F73-805A-58C72A51F87D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42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95C2-6348-4B14-AA53-E349ACC8CC8E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60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DEA0D-6215-417C-BA2E-B92B2FF41B89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9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2617-3D26-4DD2-B0FF-471B815A67F2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5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6370F5F-E950-439F-9359-2E883B9949A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5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C68A-7C19-498D-AA1D-84E3FB067F9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39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D7390-5D1A-4B2C-A011-1B5520C98C3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02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23DB3-406B-40C4-B201-6A4A5E453B1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96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14400"/>
            <a:ext cx="10972800" cy="5257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87261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41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55784" y="3829053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6CB809-252D-0F45-87A6-C62F59719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393D8-714B-4D62-AF9E-A7A84971FD16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9BFDE0-5E28-FDE4-A608-106B926A19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49B36-DF34-419F-B758-3715D07254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36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31E39A-7F9C-4E17-9AB6-885276FC366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1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1.bin"/><Relationship Id="rId26" Type="http://schemas.openxmlformats.org/officeDocument/2006/relationships/image" Target="../media/image19.png"/><Relationship Id="rId3" Type="http://schemas.openxmlformats.org/officeDocument/2006/relationships/image" Target="../media/image8.wmf"/><Relationship Id="rId21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5.wmf"/><Relationship Id="rId25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4.bin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18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20.wmf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26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5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orange and white logo">
            <a:extLst>
              <a:ext uri="{FF2B5EF4-FFF2-40B4-BE49-F238E27FC236}">
                <a16:creationId xmlns:a16="http://schemas.microsoft.com/office/drawing/2014/main" id="{45BC1B21-A1AF-B9DB-511B-1F52F241C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188136"/>
            <a:ext cx="1371556" cy="13715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4800" y="4396311"/>
            <a:ext cx="34321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/>
              <a:t>Charles Aunkan Gomes</a:t>
            </a:r>
          </a:p>
          <a:p>
            <a:r>
              <a:rPr lang="en-US" sz="2000" dirty="0"/>
              <a:t>Lecturer, Dept. of CSE</a:t>
            </a:r>
          </a:p>
          <a:p>
            <a:r>
              <a:rPr lang="en-US" sz="2000" dirty="0"/>
              <a:t>United International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02C04-3C85-7143-002D-E146E763A49A}"/>
              </a:ext>
            </a:extLst>
          </p:cNvPr>
          <p:cNvSpPr txBox="1"/>
          <p:nvPr/>
        </p:nvSpPr>
        <p:spPr>
          <a:xfrm>
            <a:off x="1600200" y="1407981"/>
            <a:ext cx="886135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kern="0" spc="-5" dirty="0">
                <a:latin typeface="Lucida Sans Typewriter" panose="020B0509030504030204" pitchFamily="49" charset="0"/>
                <a:cs typeface="Arial"/>
              </a:rPr>
              <a:t>Introduction to Asymptotic Analysis</a:t>
            </a:r>
            <a:br>
              <a:rPr lang="en-US" sz="3600" dirty="0">
                <a:latin typeface="Lucida Sans Typewriter" panose="020B0509030504030204" pitchFamily="49" charset="0"/>
              </a:rPr>
            </a:br>
            <a:endParaRPr lang="en-US" sz="3600" b="1" dirty="0">
              <a:latin typeface="Lucida Sans Typewriter" panose="020B0509030504030204" pitchFamily="49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CF2B0-B29E-7168-20BB-20E5A236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ptos ExtraBold" panose="020F0502020204030204" pitchFamily="34" charset="0"/>
              </a:rPr>
              <a:t>Charles Aunkan Gomes (Lecturer, Dept of CSE, UIU)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55FE0-EECE-06D4-CF40-3DF48CB66AAE}"/>
              </a:ext>
            </a:extLst>
          </p:cNvPr>
          <p:cNvSpPr txBox="1"/>
          <p:nvPr/>
        </p:nvSpPr>
        <p:spPr>
          <a:xfrm>
            <a:off x="8382000" y="4963133"/>
            <a:ext cx="269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Courtesy: Umama Rahman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79" y="275135"/>
            <a:ext cx="10058400" cy="1450757"/>
          </a:xfrm>
        </p:spPr>
        <p:txBody>
          <a:bodyPr/>
          <a:lstStyle/>
          <a:p>
            <a:r>
              <a:rPr lang="en-US" altLang="en-US" dirty="0">
                <a:latin typeface="Lucida Sans Typewriter" panose="020B0509030504030204" pitchFamily="49" charset="0"/>
              </a:rPr>
              <a:t>DSA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828800"/>
            <a:ext cx="7886700" cy="4114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Introduction to Algorithms (Third edition) </a:t>
            </a:r>
            <a:endParaRPr lang="en-US" dirty="0"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Cormen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Leiserson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Rivest, and Stein </a:t>
            </a:r>
            <a:endParaRPr lang="en-US" dirty="0"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An excellent reference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you should own </a:t>
            </a: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in C++</a:t>
            </a:r>
            <a:endParaRPr lang="en-US" dirty="0"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Goodrich,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Tamassia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and Mount </a:t>
            </a:r>
            <a:endParaRPr lang="en-US" dirty="0"/>
          </a:p>
          <a:p>
            <a:pPr marL="0" indent="0">
              <a:buNone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	      	</a:t>
            </a:r>
          </a:p>
        </p:txBody>
      </p:sp>
      <p:pic>
        <p:nvPicPr>
          <p:cNvPr id="922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96116"/>
            <a:ext cx="176212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3204E-57E5-AD49-9DA2-4599F37B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F9680-E241-246F-BA56-6FD77853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</a:t>
            </a:fld>
            <a:endParaRPr lang="en-US" dirty="0"/>
          </a:p>
        </p:txBody>
      </p:sp>
      <p:pic>
        <p:nvPicPr>
          <p:cNvPr id="2" name="Google Shape;118;p2" descr="Data Structures and Algorithms in C++, 2nd Edition | Wiley">
            <a:extLst>
              <a:ext uri="{FF2B5EF4-FFF2-40B4-BE49-F238E27FC236}">
                <a16:creationId xmlns:a16="http://schemas.microsoft.com/office/drawing/2014/main" id="{1267EA7A-B363-7FF6-A644-671AB5F005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800" y="4038600"/>
            <a:ext cx="1762125" cy="207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48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What is an Algorithm?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1036569" y="2093976"/>
            <a:ext cx="10287000" cy="33924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An algorithm is a sequence of computational steps that solves a well-specified computational problem.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</a:rPr>
              <a:t>An algorithm is said to be </a:t>
            </a:r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correct </a:t>
            </a:r>
            <a:r>
              <a:rPr lang="en-US" altLang="en-US" sz="2000" dirty="0">
                <a:latin typeface="Lucida Sans Typewriter" panose="020B0509030504030204" pitchFamily="49" charset="0"/>
              </a:rPr>
              <a:t>if, for every input instance, it halts with the correct output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</a:rPr>
              <a:t>An </a:t>
            </a:r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incorrect </a:t>
            </a:r>
            <a:r>
              <a:rPr lang="en-US" altLang="en-US" sz="2000" dirty="0">
                <a:latin typeface="Lucida Sans Typewriter" panose="020B0509030504030204" pitchFamily="49" charset="0"/>
              </a:rPr>
              <a:t>algorithm might not halt at all on some input instances, or it might halt with other than the desired output.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313B7-1301-83EC-D74C-08E2E0E9C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D0F92-0411-9B6B-9BB8-566E37DE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80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8B98-0E20-2DF7-4ADC-59176EB9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2A180A0C-8847-D6D9-5927-112A6C6A6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altLang="en-US" sz="4000" dirty="0">
                <a:solidFill>
                  <a:schemeClr val="tx1"/>
                </a:solidFill>
                <a:latin typeface="Lucida Sans Typewriter" panose="020B0509030504030204" pitchFamily="49" charset="0"/>
              </a:rPr>
              <a:t>What is a </a:t>
            </a:r>
            <a:r>
              <a:rPr lang="en-US" altLang="en-US" sz="4000" dirty="0">
                <a:solidFill>
                  <a:schemeClr val="tx1"/>
                </a:solidFill>
                <a:latin typeface="Lucida Sans Typewriter" panose="020B0509030504030204" pitchFamily="49" charset="0"/>
              </a:rPr>
              <a:t>P</a:t>
            </a:r>
            <a:r>
              <a:rPr lang="th-TH" altLang="en-US" sz="4000" dirty="0">
                <a:solidFill>
                  <a:schemeClr val="tx1"/>
                </a:solidFill>
                <a:latin typeface="Lucida Sans Typewriter" panose="020B0509030504030204" pitchFamily="49" charset="0"/>
              </a:rPr>
              <a:t>rogram?</a:t>
            </a:r>
            <a:endParaRPr lang="en-US" alt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8158766C-85B8-6836-1AB5-90C82C81E0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6569" y="2093976"/>
            <a:ext cx="10287000" cy="33924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th-TH" altLang="en-US" dirty="0">
                <a:latin typeface="Lucida Sans Typewriter" panose="020B0509030504030204" pitchFamily="49" charset="0"/>
              </a:rPr>
              <a:t>A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 program 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is the expression of an algorithm in a programming language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A</a:t>
            </a:r>
            <a:r>
              <a:rPr lang="th-TH" altLang="en-US" dirty="0">
                <a:latin typeface="Lucida Sans Typewriter" panose="020B0509030504030204" pitchFamily="49" charset="0"/>
              </a:rPr>
              <a:t> 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set of instructions 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which the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 computer will follow</a:t>
            </a:r>
            <a:r>
              <a:rPr lang="en-GB" altLang="en-US" dirty="0">
                <a:latin typeface="Lucida Sans Typewriter" panose="020B0509030504030204" pitchFamily="49" charset="0"/>
              </a:rPr>
              <a:t> </a:t>
            </a:r>
            <a:r>
              <a:rPr lang="th-TH" altLang="en-US" dirty="0">
                <a:latin typeface="Lucida Sans Typewriter" panose="020B0509030504030204" pitchFamily="49" charset="0"/>
              </a:rPr>
              <a:t> to solve a problem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92AE9-808D-B760-3420-56C57D79C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Charles Aunkan Gomes (Lecturer, Dept of CSE, UIU)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456AC51-B135-911B-7B1C-7FE3F9D7A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516975"/>
              </p:ext>
            </p:extLst>
          </p:nvPr>
        </p:nvGraphicFramePr>
        <p:xfrm>
          <a:off x="4960937" y="3761613"/>
          <a:ext cx="22701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251240" imgH="4570200" progId="MS_ClipArt_Gallery.2">
                  <p:embed/>
                </p:oleObj>
              </mc:Choice>
              <mc:Fallback>
                <p:oleObj name="Clip" r:id="rId2" imgW="4251240" imgH="4570200" progId="MS_ClipArt_Gallery.2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7" y="3761613"/>
                        <a:ext cx="2270125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6764-6609-1700-F1C3-19DEEB54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4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5"/>
          <p:cNvSpPr>
            <a:spLocks noGrp="1"/>
          </p:cNvSpPr>
          <p:nvPr>
            <p:ph type="title"/>
          </p:nvPr>
        </p:nvSpPr>
        <p:spPr>
          <a:xfrm>
            <a:off x="874776" y="488131"/>
            <a:ext cx="10442448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en-US" sz="4000" dirty="0">
                <a:latin typeface="Lucida Sans Typewriter" panose="020B0509030504030204" pitchFamily="49" charset="0"/>
              </a:rPr>
              <a:t>Define a Problem, and Solve It</a:t>
            </a:r>
            <a:endParaRPr lang="en-US" alt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12292" name="Content Placeholder 6"/>
          <p:cNvSpPr>
            <a:spLocks noGrp="1"/>
          </p:cNvSpPr>
          <p:nvPr>
            <p:ph idx="1"/>
          </p:nvPr>
        </p:nvSpPr>
        <p:spPr>
          <a:xfrm>
            <a:off x="874776" y="1981200"/>
            <a:ext cx="10591800" cy="393954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Problem</a:t>
            </a:r>
            <a:r>
              <a:rPr lang="en-US" altLang="en-US" dirty="0">
                <a:latin typeface="Lucida Sans Typewriter" panose="020B0509030504030204" pitchFamily="49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Description of Input-Output relationship</a:t>
            </a:r>
          </a:p>
          <a:p>
            <a:pPr algn="just"/>
            <a:r>
              <a:rPr lang="en-US" altLang="en-US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Algorithm</a:t>
            </a:r>
            <a:r>
              <a:rPr lang="en-US" altLang="en-US" dirty="0">
                <a:latin typeface="Lucida Sans Typewriter" panose="020B0509030504030204" pitchFamily="49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A sequence of computational steps that transform the input into the output.</a:t>
            </a:r>
          </a:p>
          <a:p>
            <a:pPr algn="just"/>
            <a:r>
              <a:rPr lang="en-US" altLang="en-US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Data Structure:</a:t>
            </a:r>
            <a:r>
              <a:rPr lang="en-US" altLang="en-US" dirty="0">
                <a:latin typeface="Lucida Sans Typewriter" panose="020B0509030504030204" pitchFamily="49" charset="0"/>
                <a:cs typeface="Arial" panose="020B0604020202020204" pitchFamily="34" charset="0"/>
              </a:rPr>
              <a:t> </a:t>
            </a:r>
          </a:p>
          <a:p>
            <a:pPr lvl="1" algn="just"/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An organized method of storing and retrieving data.</a:t>
            </a:r>
            <a:endParaRPr lang="en-US" altLang="en-US" sz="2000" b="1" dirty="0">
              <a:latin typeface="Lucida Sans Typewriter" panose="020B0509030504030204" pitchFamily="49" charset="0"/>
              <a:cs typeface="Arial" panose="020B0604020202020204" pitchFamily="34" charset="0"/>
            </a:endParaRPr>
          </a:p>
          <a:p>
            <a:pPr algn="just"/>
            <a:r>
              <a:rPr lang="en-US" altLang="en-US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Our Task: </a:t>
            </a:r>
          </a:p>
          <a:p>
            <a:pPr lvl="1" algn="just"/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Given a problem, design a </a:t>
            </a:r>
            <a:r>
              <a:rPr lang="en-US" altLang="en-US" sz="2000" b="1" i="1" dirty="0">
                <a:latin typeface="Lucida Sans Typewriter" panose="020B0509030504030204" pitchFamily="49" charset="0"/>
                <a:cs typeface="Arial" panose="020B0604020202020204" pitchFamily="34" charset="0"/>
              </a:rPr>
              <a:t>correct </a:t>
            </a:r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and </a:t>
            </a:r>
            <a:r>
              <a:rPr lang="en-US" altLang="en-US" sz="2000" b="1" i="1" dirty="0">
                <a:latin typeface="Lucida Sans Typewriter" panose="020B0509030504030204" pitchFamily="49" charset="0"/>
                <a:cs typeface="Arial" panose="020B0604020202020204" pitchFamily="34" charset="0"/>
              </a:rPr>
              <a:t>good</a:t>
            </a:r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 algorithm that solves it. </a:t>
            </a:r>
            <a:endParaRPr lang="en-US" altLang="en-US" sz="2000" b="1" dirty="0">
              <a:latin typeface="Lucida Sans Typewriter" panose="020B0509030504030204" pitchFamily="49" charset="0"/>
              <a:cs typeface="Arial" panose="020B0604020202020204" pitchFamily="34" charset="0"/>
            </a:endParaRPr>
          </a:p>
          <a:p>
            <a:pPr algn="just"/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1B93C-EDB8-F5CB-1923-05901BF3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A9E24-5B86-350D-8EC3-ED1F2FBA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Line 3"/>
          <p:cNvSpPr>
            <a:spLocks noChangeShapeType="1"/>
          </p:cNvSpPr>
          <p:nvPr/>
        </p:nvSpPr>
        <p:spPr bwMode="auto">
          <a:xfrm>
            <a:off x="3949700" y="4005263"/>
            <a:ext cx="546101" cy="0"/>
          </a:xfrm>
          <a:prstGeom prst="line">
            <a:avLst/>
          </a:prstGeom>
          <a:ln w="28575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latin typeface="Lucida Sans Typewriter" panose="020B0509030504030204" pitchFamily="49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7578687" y="4041537"/>
            <a:ext cx="762000" cy="0"/>
          </a:xfrm>
          <a:prstGeom prst="line">
            <a:avLst/>
          </a:prstGeom>
          <a:ln w="28575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latin typeface="Lucida Sans Typewriter" panose="020B0509030504030204" pitchFamily="49" charset="0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696886" y="3840818"/>
            <a:ext cx="32528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25, 90, 53, 23, 11, 34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575837" y="2879805"/>
            <a:ext cx="881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 dirty="0">
                <a:solidFill>
                  <a:srgbClr val="FF0000"/>
                </a:solidFill>
                <a:latin typeface="Lucida Sans Typewriter" panose="020B0509030504030204" pitchFamily="49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8255477" y="2879397"/>
            <a:ext cx="10214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 dirty="0">
                <a:solidFill>
                  <a:srgbClr val="FF0000"/>
                </a:solidFill>
                <a:latin typeface="Lucida Sans Typewriter" panose="020B0509030504030204" pitchFamily="49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366644" y="3343530"/>
            <a:ext cx="13003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>
                <a:latin typeface="Lucida Sans Typewriter" panose="020B0509030504030204" pitchFamily="49" charset="0"/>
                <a:cs typeface="Arial" panose="020B0604020202020204" pitchFamily="34" charset="0"/>
              </a:rPr>
              <a:t>instance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8534400" y="3856871"/>
            <a:ext cx="463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5364163" y="2877512"/>
            <a:ext cx="14398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 dirty="0">
                <a:solidFill>
                  <a:srgbClr val="FF0000"/>
                </a:solidFill>
                <a:latin typeface="Lucida Sans Typewriter" panose="020B0509030504030204" pitchFamily="49" charset="0"/>
                <a:cs typeface="Arial" panose="020B0604020202020204" pitchFamily="34" charset="0"/>
              </a:rPr>
              <a:t>Algorithm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160963" y="4303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th-TH" altLang="en-US" sz="1800" i="0">
              <a:latin typeface="Lucida Sans Typewriter" panose="020B0509030504030204" pitchFamily="49" charset="0"/>
              <a:cs typeface="Arial" panose="020B0604020202020204" pitchFamily="34" charset="0"/>
            </a:endParaRP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4495801" y="3429002"/>
            <a:ext cx="3082886" cy="1169551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m:= a[1];</a:t>
            </a:r>
          </a:p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for i:=2 to size of input</a:t>
            </a:r>
          </a:p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      if  m &gt; a[</a:t>
            </a:r>
            <a:r>
              <a:rPr lang="en-US" altLang="en-US" sz="1400" i="0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i</a:t>
            </a:r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]  then</a:t>
            </a:r>
          </a:p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            m:=a[i]; </a:t>
            </a:r>
          </a:p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return m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5465763" y="51419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th-TH" altLang="en-US" sz="1800" i="0">
              <a:latin typeface="Lucida Sans Typewriter" panose="020B0509030504030204" pitchFamily="49" charset="0"/>
              <a:cs typeface="Arial" panose="020B0604020202020204" pitchFamily="34" charset="0"/>
            </a:endParaRP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7032625" y="5516563"/>
            <a:ext cx="2137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0">
                <a:latin typeface="Lucida Sans Typewriter" panose="020B0509030504030204" pitchFamily="49" charset="0"/>
                <a:cs typeface="Arial" panose="020B0604020202020204" pitchFamily="34" charset="0"/>
              </a:rPr>
              <a:t>Data-Structure</a:t>
            </a:r>
          </a:p>
        </p:txBody>
      </p:sp>
      <p:sp>
        <p:nvSpPr>
          <p:cNvPr id="13327" name="Freeform 15"/>
          <p:cNvSpPr>
            <a:spLocks/>
          </p:cNvSpPr>
          <p:nvPr/>
        </p:nvSpPr>
        <p:spPr bwMode="auto">
          <a:xfrm>
            <a:off x="5943600" y="4586288"/>
            <a:ext cx="635000" cy="685800"/>
          </a:xfrm>
          <a:custGeom>
            <a:avLst/>
            <a:gdLst>
              <a:gd name="T0" fmla="*/ 2147483647 w 400"/>
              <a:gd name="T1" fmla="*/ 0 h 432"/>
              <a:gd name="T2" fmla="*/ 2147483647 w 400"/>
              <a:gd name="T3" fmla="*/ 2147483647 h 432"/>
              <a:gd name="T4" fmla="*/ 2147483647 w 400"/>
              <a:gd name="T5" fmla="*/ 2147483647 h 432"/>
              <a:gd name="T6" fmla="*/ 2147483647 w 400"/>
              <a:gd name="T7" fmla="*/ 2147483647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400"/>
              <a:gd name="T13" fmla="*/ 0 h 432"/>
              <a:gd name="T14" fmla="*/ 400 w 400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0" h="432">
                <a:moveTo>
                  <a:pt x="176" y="0"/>
                </a:moveTo>
                <a:cubicBezTo>
                  <a:pt x="88" y="72"/>
                  <a:pt x="0" y="144"/>
                  <a:pt x="32" y="192"/>
                </a:cubicBezTo>
                <a:cubicBezTo>
                  <a:pt x="64" y="240"/>
                  <a:pt x="336" y="248"/>
                  <a:pt x="368" y="288"/>
                </a:cubicBezTo>
                <a:cubicBezTo>
                  <a:pt x="400" y="328"/>
                  <a:pt x="248" y="408"/>
                  <a:pt x="224" y="432"/>
                </a:cubicBezTo>
              </a:path>
            </a:pathLst>
          </a:custGeom>
          <a:ln w="19050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latin typeface="Lucida Sans Typewriter" panose="020B0509030504030204" pitchFamily="49" charset="0"/>
            </a:endParaRP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5562601" y="5486401"/>
            <a:ext cx="1261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0">
                <a:latin typeface="Lucida Sans Typewriter" panose="020B0509030504030204" pitchFamily="49" charset="0"/>
                <a:cs typeface="Arial" panose="020B0604020202020204" pitchFamily="34" charset="0"/>
              </a:rPr>
              <a:t>m, </a:t>
            </a:r>
            <a:r>
              <a:rPr lang="en-US" altLang="en-US" i="0">
                <a:latin typeface="Lucida Sans Typewriter" panose="020B0509030504030204" pitchFamily="49" charset="0"/>
              </a:rPr>
              <a:t>a[i]</a:t>
            </a:r>
            <a:endParaRPr lang="en-US" altLang="en-US">
              <a:latin typeface="Lucida Sans Typewriter" panose="020B0509030504030204" pitchFamily="49" charset="0"/>
            </a:endParaRPr>
          </a:p>
        </p:txBody>
      </p:sp>
      <p:sp>
        <p:nvSpPr>
          <p:cNvPr id="13329" name="Oval 17"/>
          <p:cNvSpPr>
            <a:spLocks noChangeArrowheads="1"/>
          </p:cNvSpPr>
          <p:nvPr/>
        </p:nvSpPr>
        <p:spPr bwMode="auto">
          <a:xfrm>
            <a:off x="5257800" y="5257800"/>
            <a:ext cx="1600200" cy="838200"/>
          </a:xfrm>
          <a:prstGeom prst="ellips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 i="0">
              <a:latin typeface="Lucida Sans Typewriter" panose="020B0509030504030204" pitchFamily="49" charset="0"/>
            </a:endParaRPr>
          </a:p>
        </p:txBody>
      </p:sp>
      <p:sp>
        <p:nvSpPr>
          <p:cNvPr id="13331" name="Title 5"/>
          <p:cNvSpPr>
            <a:spLocks/>
          </p:cNvSpPr>
          <p:nvPr/>
        </p:nvSpPr>
        <p:spPr bwMode="auto">
          <a:xfrm>
            <a:off x="2590800" y="206375"/>
            <a:ext cx="723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3600" i="0" dirty="0">
              <a:solidFill>
                <a:schemeClr val="tx2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963" y="133340"/>
            <a:ext cx="10058400" cy="139053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Lucida Sans Typewriter" panose="020B0509030504030204" pitchFamily="49" charset="0"/>
              </a:rPr>
              <a:t>Define a Problem, and Solve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969963" y="1734188"/>
            <a:ext cx="10252074" cy="116955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u="sng" dirty="0">
                <a:latin typeface="Lucida Sans Typewriter" panose="020B0509030504030204" pitchFamily="49" charset="0"/>
                <a:cs typeface="Arial" panose="020B0604020202020204" pitchFamily="34" charset="0"/>
              </a:rPr>
              <a:t>Problem</a:t>
            </a:r>
            <a:r>
              <a:rPr lang="en-US" altLang="en-US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:</a:t>
            </a:r>
            <a:r>
              <a:rPr lang="en-US" altLang="en-US" dirty="0">
                <a:latin typeface="Lucida Sans Typewriter" panose="020B0509030504030204" pitchFamily="49" charset="0"/>
                <a:cs typeface="Arial" panose="020B0604020202020204" pitchFamily="34" charset="0"/>
              </a:rPr>
              <a:t>  Input is a sequence of integers stored in an array.</a:t>
            </a:r>
          </a:p>
          <a:p>
            <a:pPr marL="0" indent="0"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Arial" panose="020B0604020202020204" pitchFamily="34" charset="0"/>
              </a:rPr>
              <a:t>           Output the minimum. 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F0F04-C16E-D3E1-30D2-03CFC1A4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580EF-DBA7-5555-703B-061DAB5C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58147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10058400" cy="14507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altLang="en-US" sz="4000" dirty="0">
                <a:latin typeface="Lucida Sans Typewriter" panose="020B0509030504030204" pitchFamily="49" charset="0"/>
              </a:rPr>
              <a:t>What do we </a:t>
            </a:r>
            <a:r>
              <a:rPr lang="en-US" altLang="en-US" sz="4000" dirty="0">
                <a:latin typeface="Lucida Sans Typewriter" panose="020B0509030504030204" pitchFamily="49" charset="0"/>
              </a:rPr>
              <a:t>A</a:t>
            </a:r>
            <a:r>
              <a:rPr lang="th-TH" altLang="en-US" sz="4000" dirty="0">
                <a:latin typeface="Lucida Sans Typewriter" panose="020B0509030504030204" pitchFamily="49" charset="0"/>
              </a:rPr>
              <a:t>nalyze? 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1076325" y="1905000"/>
            <a:ext cx="10664952" cy="4154984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Font typeface="Courier New" pitchFamily="49" charset="0"/>
              <a:buChar char="o"/>
            </a:pPr>
            <a:r>
              <a:rPr lang="th-TH" altLang="en-US" dirty="0">
                <a:latin typeface="Lucida Sans Typewriter" panose="020B0509030504030204" pitchFamily="49" charset="0"/>
              </a:rPr>
              <a:t>Correctness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th-TH" altLang="en-US" sz="2000" dirty="0">
                <a:latin typeface="Lucida Sans Typewriter" panose="020B0509030504030204" pitchFamily="49" charset="0"/>
              </a:rPr>
              <a:t>Does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the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input/output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relation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match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algorithm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th-TH" altLang="en-US" sz="2000" dirty="0">
                <a:latin typeface="Lucida Sans Typewriter" panose="020B0509030504030204" pitchFamily="49" charset="0"/>
              </a:rPr>
              <a:t>requirement?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th-TH" altLang="en-US" dirty="0">
                <a:latin typeface="Lucida Sans Typewriter" panose="020B0509030504030204" pitchFamily="49" charset="0"/>
              </a:rPr>
              <a:t>Amount of work done (complexity) 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th-TH" altLang="en-US" sz="2000" dirty="0">
                <a:latin typeface="Lucida Sans Typewriter" panose="020B0509030504030204" pitchFamily="49" charset="0"/>
              </a:rPr>
              <a:t>Basic operations to do task 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th-TH" altLang="en-US" dirty="0">
                <a:latin typeface="Lucida Sans Typewriter" panose="020B0509030504030204" pitchFamily="49" charset="0"/>
              </a:rPr>
              <a:t>Amount of space used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th-TH" altLang="en-US" sz="2000" dirty="0">
                <a:latin typeface="Lucida Sans Typewriter" panose="020B0509030504030204" pitchFamily="49" charset="0"/>
              </a:rPr>
              <a:t>Memory used </a:t>
            </a:r>
            <a:endParaRPr lang="en-US" altLang="en-US" sz="2000" dirty="0">
              <a:latin typeface="Lucida Sans Typewriter" panose="020B0509030504030204" pitchFamily="49" charset="0"/>
              <a:cs typeface="Arial" pitchFamily="34" charset="0"/>
            </a:endParaRPr>
          </a:p>
          <a:p>
            <a:pPr marL="342900" indent="-342900" algn="just">
              <a:buFont typeface="Courier New" pitchFamily="49" charset="0"/>
              <a:buChar char="o"/>
            </a:pPr>
            <a:r>
              <a:rPr lang="th-TH" altLang="en-US" dirty="0">
                <a:latin typeface="Lucida Sans Typewriter" panose="020B0509030504030204" pitchFamily="49" charset="0"/>
              </a:rPr>
              <a:t>Simplicity, clarity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th-TH" altLang="en-US" sz="2000" dirty="0">
                <a:latin typeface="Lucida Sans Typewriter" panose="020B0509030504030204" pitchFamily="49" charset="0"/>
              </a:rPr>
              <a:t>Verification and implementation. 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th-TH" altLang="en-US" dirty="0">
                <a:latin typeface="Lucida Sans Typewriter" panose="020B0509030504030204" pitchFamily="49" charset="0"/>
              </a:rPr>
              <a:t>Optimality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th-TH" altLang="en-US" sz="2000" dirty="0">
                <a:latin typeface="Lucida Sans Typewriter" panose="020B0509030504030204" pitchFamily="49" charset="0"/>
              </a:rPr>
              <a:t>Is it impossible to do better?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A4308-0B93-9DF7-2BA9-79550267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CC7C-2072-2B4F-D823-81038EDB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73426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106805" y="22860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Running Time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Lucida Sans Typewriter" panose="020B0509030504030204" pitchFamily="49" charset="0"/>
              </a:rPr>
              <a:t>Number of primitive steps that are executed</a:t>
            </a:r>
          </a:p>
          <a:p>
            <a:pPr lvl="1"/>
            <a:r>
              <a:rPr lang="en-US" altLang="en-US" sz="2000" dirty="0">
                <a:latin typeface="Lucida Sans Typewriter" panose="020B0509030504030204" pitchFamily="49" charset="0"/>
              </a:rPr>
              <a:t>Except for time of executing a function call most statements roughly require the same amount of time</a:t>
            </a:r>
          </a:p>
          <a:p>
            <a:pPr lvl="2"/>
            <a:r>
              <a:rPr lang="en-US" altLang="en-US" sz="2000" dirty="0">
                <a:latin typeface="Lucida Sans Typewriter" panose="020B0509030504030204" pitchFamily="49" charset="0"/>
              </a:rPr>
              <a:t>y = m * x + b</a:t>
            </a:r>
          </a:p>
          <a:p>
            <a:pPr lvl="2"/>
            <a:r>
              <a:rPr lang="en-US" altLang="en-US" sz="2000" dirty="0">
                <a:latin typeface="Lucida Sans Typewriter" panose="020B0509030504030204" pitchFamily="49" charset="0"/>
              </a:rPr>
              <a:t>c = 5 / 9 * (t - 32 )</a:t>
            </a:r>
          </a:p>
          <a:p>
            <a:pPr lvl="2"/>
            <a:r>
              <a:rPr lang="en-US" altLang="en-US" sz="2000" dirty="0">
                <a:latin typeface="Lucida Sans Typewriter" panose="020B0509030504030204" pitchFamily="49" charset="0"/>
              </a:rPr>
              <a:t>z = f(x) + g(y)</a:t>
            </a:r>
          </a:p>
          <a:p>
            <a:r>
              <a:rPr lang="en-US" altLang="en-US" dirty="0">
                <a:latin typeface="Lucida Sans Typewriter" panose="020B0509030504030204" pitchFamily="49" charset="0"/>
              </a:rPr>
              <a:t>We can be more exact if need to be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02FAA-473E-AD69-A21E-84434CB9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7A45C-ED92-B584-1D1D-7E1A261E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3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10058400" cy="14507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Asymptotic Performance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455701"/>
            <a:ext cx="10744200" cy="23083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dirty="0">
                <a:latin typeface="Lucida Sans Typewriter" panose="020B0509030504030204" pitchFamily="49" charset="0"/>
              </a:rPr>
              <a:t>We care most about </a:t>
            </a:r>
            <a:r>
              <a:rPr lang="en-US" altLang="en-US" i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asymptotic performance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</a:rPr>
              <a:t>How does the algorithm behave as the problem size gets very large?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Running time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Memory/storage requirements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Bandwidth/power requirements/logic gates/etc.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C37A9-18CE-52DC-F364-A3E8216C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86726-0EE6-5210-082A-918BB91A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82180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965" y="15240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Asymptotic Analysis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097965" y="1982483"/>
            <a:ext cx="9074023" cy="3693319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Worst case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Provides an upper bound on running time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An absolute guarantee of required resources</a:t>
            </a:r>
          </a:p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Average case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Provides the expected running time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Very useful, but treat with care: what is “average”?</a:t>
            </a:r>
          </a:p>
          <a:p>
            <a:pPr marL="1200150" lvl="2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Random (equally likely) inputs</a:t>
            </a:r>
          </a:p>
          <a:p>
            <a:pPr marL="1200150" lvl="2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Real-life inputs</a:t>
            </a:r>
          </a:p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Best case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altLang="en-US" sz="2000" dirty="0">
                <a:latin typeface="Lucida Sans Typewriter" panose="020B0509030504030204" pitchFamily="49" charset="0"/>
              </a:rPr>
              <a:t>Provides a lower bound on running time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6324C13-6E1A-4B85-1E41-5DCA07533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731" y="5571644"/>
            <a:ext cx="7202487" cy="6445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67A13D65-3452-E04B-F279-13454F019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787232"/>
              </p:ext>
            </p:extLst>
          </p:nvPr>
        </p:nvGraphicFramePr>
        <p:xfrm>
          <a:off x="2148824" y="5654375"/>
          <a:ext cx="69723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700" imgH="203200" progId="Equation.DSMT4">
                  <p:embed/>
                </p:oleObj>
              </mc:Choice>
              <mc:Fallback>
                <p:oleObj name="Equation" r:id="rId2" imgW="2806700" imgH="203200" progId="Equation.DSMT4">
                  <p:embed/>
                  <p:pic>
                    <p:nvPicPr>
                      <p:cNvPr id="6149" name="Object 7">
                        <a:extLst>
                          <a:ext uri="{FF2B5EF4-FFF2-40B4-BE49-F238E27FC236}">
                            <a16:creationId xmlns:a16="http://schemas.microsoft.com/office/drawing/2014/main" id="{86E82F40-E074-9848-ECB4-083F6ACE2A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824" y="5654375"/>
                        <a:ext cx="69723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7AFE1-6636-A11C-C3D7-B4132D09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9587E-7E51-D924-D734-69B5039D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0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Upper Bound Notation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093978"/>
            <a:ext cx="9677400" cy="4154422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We say Insertion Sort's run time is </a:t>
            </a:r>
            <a:r>
              <a:rPr lang="en-US" altLang="en-US" i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O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en-US" baseline="30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sz="2000" dirty="0">
                <a:latin typeface="Lucida Sans Typewriter" panose="020B0509030504030204" pitchFamily="49" charset="0"/>
              </a:rPr>
              <a:t>Properly we should say run time is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in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sz="2000" dirty="0">
                <a:latin typeface="Lucida Sans Typewriter" panose="020B0509030504030204" pitchFamily="49" charset="0"/>
              </a:rPr>
              <a:t>Read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</a:rPr>
              <a:t> as “Big-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Oh</a:t>
            </a:r>
            <a:r>
              <a:rPr lang="en-US" altLang="en-US" sz="2000" dirty="0">
                <a:latin typeface="Lucida Sans Typewriter" panose="020B0509030504030204" pitchFamily="49" charset="0"/>
              </a:rPr>
              <a:t>” (you’ll also hear it as “order”)</a:t>
            </a:r>
          </a:p>
          <a:p>
            <a:pPr marL="201168" lvl="1" indent="0">
              <a:buNone/>
            </a:pPr>
            <a:endParaRPr lang="en-US" altLang="en-US" sz="2000" dirty="0">
              <a:latin typeface="Lucida Sans Typewriter" panose="020B0509030504030204" pitchFamily="49" charset="0"/>
            </a:endParaRPr>
          </a:p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In general a function</a:t>
            </a:r>
          </a:p>
          <a:p>
            <a:pPr lvl="1"/>
            <a:r>
              <a:rPr lang="en-US" altLang="en-US" sz="2000" i="1" dirty="0">
                <a:latin typeface="Lucida Sans Typewriter" panose="020B0509030504030204" pitchFamily="49" charset="0"/>
              </a:rPr>
              <a:t>f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 is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g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)) if there exist positive constants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c</a:t>
            </a:r>
            <a:r>
              <a:rPr lang="en-US" altLang="en-US" sz="2000" dirty="0">
                <a:latin typeface="Lucida Sans Typewriter" panose="020B0509030504030204" pitchFamily="49" charset="0"/>
              </a:rPr>
              <a:t> and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i="1" baseline="-25000" dirty="0">
                <a:latin typeface="Lucida Sans Typewriter" panose="020B0509030504030204" pitchFamily="49" charset="0"/>
              </a:rPr>
              <a:t>0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 </a:t>
            </a:r>
            <a:r>
              <a:rPr lang="en-US" altLang="en-US" sz="2000" dirty="0">
                <a:latin typeface="Lucida Sans Typewriter" panose="020B0509030504030204" pitchFamily="49" charset="0"/>
              </a:rPr>
              <a:t>such that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 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 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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for all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i="1" baseline="-25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</a:p>
          <a:p>
            <a:pPr lvl="1"/>
            <a:endParaRPr lang="en-US" altLang="en-US" sz="2000" i="1" dirty="0">
              <a:solidFill>
                <a:srgbClr val="FF0000"/>
              </a:solidFill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Formally</a:t>
            </a:r>
          </a:p>
          <a:p>
            <a:pPr lvl="1"/>
            <a:r>
              <a:rPr lang="en-US" altLang="en-US" sz="2000" i="1" dirty="0">
                <a:latin typeface="Lucida Sans Typewriter" panose="020B0509030504030204" pitchFamily="49" charset="0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g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)) = {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f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):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 positive constants </a:t>
            </a:r>
            <a:r>
              <a:rPr lang="en-US" altLang="en-US" sz="2000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and </a:t>
            </a:r>
            <a:r>
              <a:rPr lang="en-US" altLang="en-US" sz="2000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i="1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sz="2000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such that </a:t>
            </a:r>
          </a:p>
          <a:p>
            <a:pPr marL="274320" lvl="1" indent="0">
              <a:buNone/>
            </a:pPr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          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 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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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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i="1" baseline="-25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 </a:t>
            </a:r>
            <a:r>
              <a:rPr lang="en-US" altLang="en-US" sz="2000" dirty="0">
                <a:latin typeface="Lucida Sans Typewriter" panose="020B05090305040302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5096C-C2C4-B468-4F42-D92A89FB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46E81-0C5D-BF65-8895-A3C97AF4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7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3121151" y="2024506"/>
            <a:ext cx="1" cy="2824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 flipV="1">
            <a:off x="3121152" y="4849368"/>
            <a:ext cx="541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740151" y="1658350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8388477" y="4640446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V="1">
            <a:off x="4565904" y="3846670"/>
            <a:ext cx="0" cy="100269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4187952" y="4833494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  <a:r>
              <a:rPr lang="en-US" altLang="en-US" sz="1800" baseline="-25000">
                <a:latin typeface="Lucida Sans Typewriter" panose="020B0509030504030204" pitchFamily="49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9705" name="Freeform 9"/>
          <p:cNvSpPr>
            <a:spLocks/>
          </p:cNvSpPr>
          <p:nvPr/>
        </p:nvSpPr>
        <p:spPr bwMode="auto">
          <a:xfrm>
            <a:off x="3121152" y="2925920"/>
            <a:ext cx="5486400" cy="1841500"/>
          </a:xfrm>
          <a:custGeom>
            <a:avLst/>
            <a:gdLst>
              <a:gd name="T0" fmla="*/ 0 w 3456"/>
              <a:gd name="T1" fmla="*/ 2056447428 h 1160"/>
              <a:gd name="T2" fmla="*/ 483870062 w 3456"/>
              <a:gd name="T3" fmla="*/ 1572577235 h 1160"/>
              <a:gd name="T4" fmla="*/ 1209675055 w 3456"/>
              <a:gd name="T5" fmla="*/ 2147483647 h 1160"/>
              <a:gd name="T6" fmla="*/ 1693545315 w 3456"/>
              <a:gd name="T7" fmla="*/ 725804893 h 1160"/>
              <a:gd name="T8" fmla="*/ 2147483647 w 3456"/>
              <a:gd name="T9" fmla="*/ 1693545081 h 1160"/>
              <a:gd name="T10" fmla="*/ 2147483647 w 3456"/>
              <a:gd name="T11" fmla="*/ 2147483647 h 1160"/>
              <a:gd name="T12" fmla="*/ 2147483647 w 3456"/>
              <a:gd name="T13" fmla="*/ 0 h 11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6"/>
              <a:gd name="T22" fmla="*/ 0 h 1160"/>
              <a:gd name="T23" fmla="*/ 3456 w 3456"/>
              <a:gd name="T24" fmla="*/ 1160 h 11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6" h="1160">
                <a:moveTo>
                  <a:pt x="0" y="816"/>
                </a:moveTo>
                <a:cubicBezTo>
                  <a:pt x="56" y="696"/>
                  <a:pt x="112" y="576"/>
                  <a:pt x="192" y="624"/>
                </a:cubicBezTo>
                <a:cubicBezTo>
                  <a:pt x="272" y="672"/>
                  <a:pt x="400" y="1160"/>
                  <a:pt x="480" y="1104"/>
                </a:cubicBezTo>
                <a:cubicBezTo>
                  <a:pt x="560" y="1048"/>
                  <a:pt x="584" y="360"/>
                  <a:pt x="672" y="288"/>
                </a:cubicBezTo>
                <a:cubicBezTo>
                  <a:pt x="760" y="216"/>
                  <a:pt x="864" y="560"/>
                  <a:pt x="1008" y="672"/>
                </a:cubicBezTo>
                <a:cubicBezTo>
                  <a:pt x="1152" y="784"/>
                  <a:pt x="1128" y="1072"/>
                  <a:pt x="1536" y="960"/>
                </a:cubicBezTo>
                <a:cubicBezTo>
                  <a:pt x="1944" y="848"/>
                  <a:pt x="3136" y="160"/>
                  <a:pt x="345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29706" name="Freeform 10"/>
          <p:cNvSpPr>
            <a:spLocks/>
          </p:cNvSpPr>
          <p:nvPr/>
        </p:nvSpPr>
        <p:spPr bwMode="auto">
          <a:xfrm>
            <a:off x="3121152" y="2024506"/>
            <a:ext cx="5486400" cy="2438400"/>
          </a:xfrm>
          <a:custGeom>
            <a:avLst/>
            <a:gdLst>
              <a:gd name="T0" fmla="*/ 0 w 3456"/>
              <a:gd name="T1" fmla="*/ 2147483647 h 1536"/>
              <a:gd name="T2" fmla="*/ 967740123 w 3456"/>
              <a:gd name="T3" fmla="*/ 2147483647 h 1536"/>
              <a:gd name="T4" fmla="*/ 1572577453 w 3456"/>
              <a:gd name="T5" fmla="*/ 2147483647 h 1536"/>
              <a:gd name="T6" fmla="*/ 2147483647 w 3456"/>
              <a:gd name="T7" fmla="*/ 2147483647 h 1536"/>
              <a:gd name="T8" fmla="*/ 2147483647 w 3456"/>
              <a:gd name="T9" fmla="*/ 2147483647 h 1536"/>
              <a:gd name="T10" fmla="*/ 2147483647 w 3456"/>
              <a:gd name="T11" fmla="*/ 1209675012 h 1536"/>
              <a:gd name="T12" fmla="*/ 2147483647 w 3456"/>
              <a:gd name="T13" fmla="*/ 0 h 1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6"/>
              <a:gd name="T22" fmla="*/ 0 h 1536"/>
              <a:gd name="T23" fmla="*/ 3456 w 3456"/>
              <a:gd name="T24" fmla="*/ 1536 h 1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6" h="153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8607552" y="2689336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f(n)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8388477" y="1757806"/>
            <a:ext cx="1520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c</a:t>
            </a:r>
            <a:r>
              <a:rPr lang="en-US" altLang="en-US" sz="1800" b="1" i="0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.</a:t>
            </a:r>
            <a:r>
              <a:rPr lang="en-US" altLang="en-US" sz="1800" b="1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g</a:t>
            </a: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(n)</a:t>
            </a:r>
          </a:p>
        </p:txBody>
      </p:sp>
      <p:sp>
        <p:nvSpPr>
          <p:cNvPr id="29709" name="Rectangle 15"/>
          <p:cNvSpPr>
            <a:spLocks noGrp="1" noChangeArrowheads="1"/>
          </p:cNvSpPr>
          <p:nvPr>
            <p:ph type="title"/>
          </p:nvPr>
        </p:nvSpPr>
        <p:spPr>
          <a:xfrm>
            <a:off x="1057139" y="988963"/>
            <a:ext cx="10058400" cy="592269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400" dirty="0">
                <a:latin typeface="Lucida Sans Typewriter" panose="020B0509030504030204" pitchFamily="49" charset="0"/>
              </a:rPr>
              <a:t>Upper Bound Notation</a:t>
            </a:r>
          </a:p>
        </p:txBody>
      </p:sp>
      <p:sp>
        <p:nvSpPr>
          <p:cNvPr id="29710" name="Rectangle 16"/>
          <p:cNvSpPr>
            <a:spLocks noChangeArrowheads="1"/>
          </p:cNvSpPr>
          <p:nvPr/>
        </p:nvSpPr>
        <p:spPr bwMode="auto">
          <a:xfrm>
            <a:off x="2001756" y="5547551"/>
            <a:ext cx="7725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i="0" dirty="0">
                <a:latin typeface="Lucida Sans Typewriter" panose="020B0509030504030204" pitchFamily="49" charset="0"/>
              </a:rPr>
              <a:t>We say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g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 is an </a:t>
            </a:r>
            <a:r>
              <a:rPr kumimoji="1"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asymptotic upper bound</a:t>
            </a:r>
            <a:r>
              <a:rPr kumimoji="1" lang="en-US" altLang="en-US" i="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for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f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BD4D4-BB65-0D2C-126A-24351810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2622E-112E-2F54-7826-BE6E732D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0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2860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Lower Bound Notation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2133600"/>
            <a:ext cx="10896600" cy="3886200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Lucida Sans Typewriter" panose="020B0509030504030204" pitchFamily="49" charset="0"/>
              </a:rPr>
              <a:t>We say </a:t>
            </a:r>
            <a:r>
              <a:rPr lang="en-US" altLang="en-US" dirty="0" err="1">
                <a:latin typeface="Lucida Sans Typewriter" panose="020B0509030504030204" pitchFamily="49" charset="0"/>
              </a:rPr>
              <a:t>InsertionSort’s</a:t>
            </a:r>
            <a:r>
              <a:rPr lang="en-US" altLang="en-US" dirty="0">
                <a:latin typeface="Lucida Sans Typewriter" panose="020B0509030504030204" pitchFamily="49" charset="0"/>
              </a:rPr>
              <a:t> run time is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(n) (big-omega or just omega)</a:t>
            </a:r>
          </a:p>
          <a:p>
            <a:r>
              <a:rPr lang="en-US" altLang="en-US" dirty="0">
                <a:latin typeface="Lucida Sans Typewriter" panose="020B0509030504030204" pitchFamily="49" charset="0"/>
              </a:rPr>
              <a:t>In general a function</a:t>
            </a:r>
          </a:p>
          <a:p>
            <a:pPr lvl="1"/>
            <a:r>
              <a:rPr lang="en-US" altLang="en-US" sz="2000" i="1" dirty="0">
                <a:latin typeface="Lucida Sans Typewriter" panose="020B0509030504030204" pitchFamily="49" charset="0"/>
              </a:rPr>
              <a:t>f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 is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g</a:t>
            </a:r>
            <a:r>
              <a:rPr lang="en-US" altLang="en-US" sz="2000" dirty="0">
                <a:latin typeface="Lucida Sans Typewriter" panose="020B0509030504030204" pitchFamily="49" charset="0"/>
              </a:rPr>
              <a:t>(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dirty="0">
                <a:latin typeface="Lucida Sans Typewriter" panose="020B0509030504030204" pitchFamily="49" charset="0"/>
              </a:rPr>
              <a:t>)) if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</a:t>
            </a:r>
            <a:r>
              <a:rPr lang="en-US" altLang="en-US" sz="2000" dirty="0">
                <a:latin typeface="Lucida Sans Typewriter" panose="020B0509030504030204" pitchFamily="49" charset="0"/>
              </a:rPr>
              <a:t> positive constants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c</a:t>
            </a:r>
            <a:r>
              <a:rPr lang="en-US" altLang="en-US" sz="2000" dirty="0">
                <a:latin typeface="Lucida Sans Typewriter" panose="020B0509030504030204" pitchFamily="49" charset="0"/>
              </a:rPr>
              <a:t> and 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n</a:t>
            </a:r>
            <a:r>
              <a:rPr lang="en-US" altLang="en-US" sz="2000" i="1" baseline="-25000" dirty="0">
                <a:latin typeface="Lucida Sans Typewriter" panose="020B0509030504030204" pitchFamily="49" charset="0"/>
              </a:rPr>
              <a:t>0</a:t>
            </a:r>
            <a:r>
              <a:rPr lang="en-US" altLang="en-US" sz="2000" i="1" dirty="0">
                <a:latin typeface="Lucida Sans Typewriter" panose="020B0509030504030204" pitchFamily="49" charset="0"/>
              </a:rPr>
              <a:t> </a:t>
            </a:r>
            <a:r>
              <a:rPr lang="en-US" altLang="en-US" sz="2000" dirty="0">
                <a:latin typeface="Lucida Sans Typewriter" panose="020B0509030504030204" pitchFamily="49" charset="0"/>
              </a:rPr>
              <a:t>such that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0 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 </a:t>
            </a:r>
            <a:r>
              <a:rPr lang="en-US" altLang="en-US" sz="2000" i="1" dirty="0" err="1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cg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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 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i="1" baseline="-25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</a:p>
          <a:p>
            <a:pPr lvl="1"/>
            <a:endParaRPr lang="en-US" altLang="en-US" sz="2000" i="1" dirty="0">
              <a:solidFill>
                <a:srgbClr val="FF0000"/>
              </a:solidFill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r>
              <a:rPr lang="en-US" altLang="en-US" dirty="0">
                <a:latin typeface="Lucida Sans Typewriter" panose="020B0509030504030204" pitchFamily="49" charset="0"/>
              </a:rPr>
              <a:t>Proof:</a:t>
            </a:r>
          </a:p>
          <a:p>
            <a:pPr lvl="1"/>
            <a:r>
              <a:rPr lang="en-US" altLang="en-US" sz="2000" dirty="0">
                <a:latin typeface="Lucida Sans Typewriter" panose="020B0509030504030204" pitchFamily="49" charset="0"/>
              </a:rPr>
              <a:t>Suppose run time is an + b</a:t>
            </a:r>
          </a:p>
          <a:p>
            <a:pPr lvl="2"/>
            <a:r>
              <a:rPr lang="en-US" altLang="en-US" sz="2000" dirty="0">
                <a:latin typeface="Lucida Sans Typewriter" panose="020B0509030504030204" pitchFamily="49" charset="0"/>
              </a:rPr>
              <a:t>Assume a and b are positive</a:t>
            </a:r>
          </a:p>
          <a:p>
            <a:pPr lvl="1"/>
            <a:r>
              <a:rPr lang="en-US" altLang="en-US" sz="2000" dirty="0">
                <a:latin typeface="Lucida Sans Typewriter" panose="020B0509030504030204" pitchFamily="49" charset="0"/>
              </a:rPr>
              <a:t>an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 an + b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09B00-7D1B-C8D4-A284-3C28EAA1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22EBA-C4BF-F6AE-5700-A5D47170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96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3124200" y="2209800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 flipV="1">
            <a:off x="3124200" y="5105400"/>
            <a:ext cx="541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2684318" y="1821379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8382000" y="4876800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flipV="1">
            <a:off x="4495800" y="4343399"/>
            <a:ext cx="0" cy="761999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4191000" y="5089526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  <a:r>
              <a:rPr lang="en-US" altLang="en-US" sz="1800" baseline="-25000">
                <a:latin typeface="Lucida Sans Typewriter" panose="020B0509030504030204" pitchFamily="49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2777" name="Freeform 9"/>
          <p:cNvSpPr>
            <a:spLocks/>
          </p:cNvSpPr>
          <p:nvPr/>
        </p:nvSpPr>
        <p:spPr bwMode="auto">
          <a:xfrm>
            <a:off x="3124200" y="2837896"/>
            <a:ext cx="5011881" cy="2038904"/>
          </a:xfrm>
          <a:custGeom>
            <a:avLst/>
            <a:gdLst>
              <a:gd name="T0" fmla="*/ 0 w 3456"/>
              <a:gd name="T1" fmla="*/ 2147483647 h 1536"/>
              <a:gd name="T2" fmla="*/ 967740123 w 3456"/>
              <a:gd name="T3" fmla="*/ 2147483647 h 1536"/>
              <a:gd name="T4" fmla="*/ 1572577453 w 3456"/>
              <a:gd name="T5" fmla="*/ 2147483647 h 1536"/>
              <a:gd name="T6" fmla="*/ 2147483647 w 3456"/>
              <a:gd name="T7" fmla="*/ 2147483647 h 1536"/>
              <a:gd name="T8" fmla="*/ 2147483647 w 3456"/>
              <a:gd name="T9" fmla="*/ 2147483647 h 1536"/>
              <a:gd name="T10" fmla="*/ 2147483647 w 3456"/>
              <a:gd name="T11" fmla="*/ 1209675012 h 1536"/>
              <a:gd name="T12" fmla="*/ 2147483647 w 3456"/>
              <a:gd name="T13" fmla="*/ 0 h 1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6"/>
              <a:gd name="T22" fmla="*/ 0 h 1536"/>
              <a:gd name="T23" fmla="*/ 3456 w 3456"/>
              <a:gd name="T24" fmla="*/ 1536 h 1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6" h="153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8000988" y="2643705"/>
            <a:ext cx="137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c</a:t>
            </a:r>
            <a:r>
              <a:rPr lang="en-US" altLang="en-US" sz="1800" b="1" i="0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.</a:t>
            </a:r>
            <a:r>
              <a:rPr lang="en-US" altLang="en-US" sz="1800" b="1" dirty="0" err="1">
                <a:latin typeface="Lucida Sans Typewriter" panose="020B0509030504030204" pitchFamily="49" charset="0"/>
                <a:cs typeface="Arial" panose="020B0604020202020204" pitchFamily="34" charset="0"/>
              </a:rPr>
              <a:t>g</a:t>
            </a: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(n)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8039100" y="2042043"/>
            <a:ext cx="990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f(n)</a:t>
            </a:r>
          </a:p>
        </p:txBody>
      </p:sp>
      <p:sp>
        <p:nvSpPr>
          <p:cNvPr id="32780" name="Freeform 13"/>
          <p:cNvSpPr>
            <a:spLocks/>
          </p:cNvSpPr>
          <p:nvPr/>
        </p:nvSpPr>
        <p:spPr bwMode="auto">
          <a:xfrm>
            <a:off x="3352799" y="2286000"/>
            <a:ext cx="4648189" cy="2819399"/>
          </a:xfrm>
          <a:custGeom>
            <a:avLst/>
            <a:gdLst>
              <a:gd name="T0" fmla="*/ 0 w 3216"/>
              <a:gd name="T1" fmla="*/ 2147483647 h 2304"/>
              <a:gd name="T2" fmla="*/ 241935026 w 3216"/>
              <a:gd name="T3" fmla="*/ 2147483647 h 2304"/>
              <a:gd name="T4" fmla="*/ 1209675030 w 3216"/>
              <a:gd name="T5" fmla="*/ 2147483647 h 2304"/>
              <a:gd name="T6" fmla="*/ 2056447669 w 3216"/>
              <a:gd name="T7" fmla="*/ 2147483647 h 2304"/>
              <a:gd name="T8" fmla="*/ 2147483647 w 3216"/>
              <a:gd name="T9" fmla="*/ 2147483647 h 2304"/>
              <a:gd name="T10" fmla="*/ 2147483647 w 3216"/>
              <a:gd name="T11" fmla="*/ 0 h 2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16"/>
              <a:gd name="T19" fmla="*/ 0 h 2304"/>
              <a:gd name="T20" fmla="*/ 3216 w 3216"/>
              <a:gd name="T21" fmla="*/ 2304 h 23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16" h="2304">
                <a:moveTo>
                  <a:pt x="0" y="2304"/>
                </a:moveTo>
                <a:cubicBezTo>
                  <a:pt x="8" y="2032"/>
                  <a:pt x="16" y="1760"/>
                  <a:pt x="96" y="1728"/>
                </a:cubicBezTo>
                <a:cubicBezTo>
                  <a:pt x="176" y="1696"/>
                  <a:pt x="360" y="2128"/>
                  <a:pt x="480" y="2112"/>
                </a:cubicBezTo>
                <a:cubicBezTo>
                  <a:pt x="600" y="2096"/>
                  <a:pt x="704" y="1792"/>
                  <a:pt x="816" y="1632"/>
                </a:cubicBezTo>
                <a:cubicBezTo>
                  <a:pt x="928" y="1472"/>
                  <a:pt x="752" y="1424"/>
                  <a:pt x="1152" y="1152"/>
                </a:cubicBezTo>
                <a:cubicBezTo>
                  <a:pt x="1552" y="880"/>
                  <a:pt x="2384" y="440"/>
                  <a:pt x="321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2781" name="Rectangle 15"/>
          <p:cNvSpPr>
            <a:spLocks noGrp="1" noChangeArrowheads="1"/>
          </p:cNvSpPr>
          <p:nvPr>
            <p:ph type="title"/>
          </p:nvPr>
        </p:nvSpPr>
        <p:spPr>
          <a:xfrm>
            <a:off x="1069848" y="484634"/>
            <a:ext cx="10058400" cy="875301"/>
          </a:xfrm>
          <a:noFill/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Lower Bound Notation</a:t>
            </a:r>
          </a:p>
        </p:txBody>
      </p:sp>
      <p:sp>
        <p:nvSpPr>
          <p:cNvPr id="32782" name="Rectangle 16"/>
          <p:cNvSpPr>
            <a:spLocks noChangeArrowheads="1"/>
          </p:cNvSpPr>
          <p:nvPr/>
        </p:nvSpPr>
        <p:spPr bwMode="auto">
          <a:xfrm>
            <a:off x="2042904" y="5652534"/>
            <a:ext cx="7725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i="0" dirty="0">
                <a:latin typeface="Lucida Sans Typewriter" panose="020B0509030504030204" pitchFamily="49" charset="0"/>
              </a:rPr>
              <a:t>We say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g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 is an </a:t>
            </a:r>
            <a:r>
              <a:rPr kumimoji="1"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asymptotic lower bound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 for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f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7924B-E37A-9CD2-EDB9-C574912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9C18F-F29E-7754-B172-22032750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90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Asymptotic Tight Bound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209800"/>
            <a:ext cx="10134600" cy="2895600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Lucida Sans Typewriter" panose="020B0509030504030204" pitchFamily="49" charset="0"/>
              </a:rPr>
              <a:t>A function </a:t>
            </a:r>
            <a:r>
              <a:rPr lang="en-US" altLang="en-US" i="1" dirty="0">
                <a:latin typeface="Lucida Sans Typewriter" panose="020B0509030504030204" pitchFamily="49" charset="0"/>
              </a:rPr>
              <a:t>f</a:t>
            </a:r>
            <a:r>
              <a:rPr lang="en-US" altLang="en-US" dirty="0">
                <a:latin typeface="Lucida Sans Typewriter" panose="020B0509030504030204" pitchFamily="49" charset="0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</a:rPr>
              <a:t>) is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)) if  positive constants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,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, and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such that </a:t>
            </a:r>
            <a:b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</a:b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	</a:t>
            </a:r>
            <a:b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</a:b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	 </a:t>
            </a:r>
            <a:r>
              <a:rPr lang="en-US" altLang="en-US" dirty="0">
                <a:latin typeface="Lucida Sans Typewriter" panose="020B0509030504030204" pitchFamily="49" charset="0"/>
              </a:rPr>
              <a:t>0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 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 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 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endParaRPr lang="en-US" altLang="en-US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endParaRPr lang="en-US" altLang="en-US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Theorem</a:t>
            </a:r>
          </a:p>
          <a:p>
            <a:pPr lvl="1"/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is (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)) </a:t>
            </a:r>
            <a:r>
              <a:rPr lang="en-US" altLang="en-US" sz="2000" dirty="0" err="1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iff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is both 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O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)) and (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olidFill>
                  <a:srgbClr val="FF0000"/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5D140-0B2B-049F-9FF5-8FF88F3B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767F6-7F9C-A170-2213-D02B61AB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30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Line 3"/>
          <p:cNvSpPr>
            <a:spLocks noChangeShapeType="1"/>
          </p:cNvSpPr>
          <p:nvPr/>
        </p:nvSpPr>
        <p:spPr bwMode="auto">
          <a:xfrm>
            <a:off x="3200400" y="2060250"/>
            <a:ext cx="0" cy="342614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20" name="Line 4"/>
          <p:cNvSpPr>
            <a:spLocks noChangeShapeType="1"/>
          </p:cNvSpPr>
          <p:nvPr/>
        </p:nvSpPr>
        <p:spPr bwMode="auto">
          <a:xfrm flipV="1">
            <a:off x="3200400" y="5486400"/>
            <a:ext cx="541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2771778" y="1667713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8485908" y="5257800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4641272" y="3428999"/>
            <a:ext cx="6927" cy="2069237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4267200" y="5470526"/>
            <a:ext cx="76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>
                <a:latin typeface="Lucida Sans Typewriter" panose="020B0509030504030204" pitchFamily="49" charset="0"/>
                <a:cs typeface="Arial" panose="020B0604020202020204" pitchFamily="34" charset="0"/>
              </a:rPr>
              <a:t>n</a:t>
            </a:r>
            <a:r>
              <a:rPr lang="en-US" altLang="en-US" sz="1800" baseline="-25000" dirty="0">
                <a:latin typeface="Lucida Sans Typewriter" panose="020B0509030504030204" pitchFamily="49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4825" name="Freeform 9"/>
          <p:cNvSpPr>
            <a:spLocks/>
          </p:cNvSpPr>
          <p:nvPr/>
        </p:nvSpPr>
        <p:spPr bwMode="auto">
          <a:xfrm>
            <a:off x="3200400" y="2971800"/>
            <a:ext cx="5029191" cy="2286000"/>
          </a:xfrm>
          <a:custGeom>
            <a:avLst/>
            <a:gdLst>
              <a:gd name="T0" fmla="*/ 0 w 3456"/>
              <a:gd name="T1" fmla="*/ 2147483647 h 1536"/>
              <a:gd name="T2" fmla="*/ 967740123 w 3456"/>
              <a:gd name="T3" fmla="*/ 2147483647 h 1536"/>
              <a:gd name="T4" fmla="*/ 1572577453 w 3456"/>
              <a:gd name="T5" fmla="*/ 2147483647 h 1536"/>
              <a:gd name="T6" fmla="*/ 2147483647 w 3456"/>
              <a:gd name="T7" fmla="*/ 2147483647 h 1536"/>
              <a:gd name="T8" fmla="*/ 2147483647 w 3456"/>
              <a:gd name="T9" fmla="*/ 2147483647 h 1536"/>
              <a:gd name="T10" fmla="*/ 2147483647 w 3456"/>
              <a:gd name="T11" fmla="*/ 1209675012 h 1536"/>
              <a:gd name="T12" fmla="*/ 2147483647 w 3456"/>
              <a:gd name="T13" fmla="*/ 0 h 1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56"/>
              <a:gd name="T22" fmla="*/ 0 h 1536"/>
              <a:gd name="T23" fmla="*/ 3456 w 3456"/>
              <a:gd name="T24" fmla="*/ 1536 h 1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56" h="153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8382000" y="2787134"/>
            <a:ext cx="114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c</a:t>
            </a:r>
            <a:r>
              <a:rPr lang="en-US" altLang="en-US" sz="1800" b="1" baseline="-25000" dirty="0">
                <a:latin typeface="Lucida Sans Typewriter" panose="020B0509030504030204" pitchFamily="49" charset="0"/>
                <a:cs typeface="Arial" panose="020B0604020202020204" pitchFamily="34" charset="0"/>
              </a:rPr>
              <a:t>1</a:t>
            </a: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.</a:t>
            </a: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g(n)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8239987" y="2229640"/>
            <a:ext cx="990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f(n)</a:t>
            </a:r>
          </a:p>
        </p:txBody>
      </p:sp>
      <p:sp>
        <p:nvSpPr>
          <p:cNvPr id="34828" name="Freeform 13"/>
          <p:cNvSpPr>
            <a:spLocks/>
          </p:cNvSpPr>
          <p:nvPr/>
        </p:nvSpPr>
        <p:spPr bwMode="auto">
          <a:xfrm>
            <a:off x="3429000" y="2438400"/>
            <a:ext cx="4800595" cy="3048000"/>
          </a:xfrm>
          <a:custGeom>
            <a:avLst/>
            <a:gdLst>
              <a:gd name="T0" fmla="*/ 0 w 3216"/>
              <a:gd name="T1" fmla="*/ 2147483647 h 2304"/>
              <a:gd name="T2" fmla="*/ 241935026 w 3216"/>
              <a:gd name="T3" fmla="*/ 2147483647 h 2304"/>
              <a:gd name="T4" fmla="*/ 1209675030 w 3216"/>
              <a:gd name="T5" fmla="*/ 2147483647 h 2304"/>
              <a:gd name="T6" fmla="*/ 2056447669 w 3216"/>
              <a:gd name="T7" fmla="*/ 2147483647 h 2304"/>
              <a:gd name="T8" fmla="*/ 2147483647 w 3216"/>
              <a:gd name="T9" fmla="*/ 2147483647 h 2304"/>
              <a:gd name="T10" fmla="*/ 2147483647 w 3216"/>
              <a:gd name="T11" fmla="*/ 0 h 2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16"/>
              <a:gd name="T19" fmla="*/ 0 h 2304"/>
              <a:gd name="T20" fmla="*/ 3216 w 3216"/>
              <a:gd name="T21" fmla="*/ 2304 h 23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16" h="2304">
                <a:moveTo>
                  <a:pt x="0" y="2304"/>
                </a:moveTo>
                <a:cubicBezTo>
                  <a:pt x="8" y="2032"/>
                  <a:pt x="16" y="1760"/>
                  <a:pt x="96" y="1728"/>
                </a:cubicBezTo>
                <a:cubicBezTo>
                  <a:pt x="176" y="1696"/>
                  <a:pt x="360" y="2128"/>
                  <a:pt x="480" y="2112"/>
                </a:cubicBezTo>
                <a:cubicBezTo>
                  <a:pt x="600" y="2096"/>
                  <a:pt x="704" y="1792"/>
                  <a:pt x="816" y="1632"/>
                </a:cubicBezTo>
                <a:cubicBezTo>
                  <a:pt x="928" y="1472"/>
                  <a:pt x="752" y="1424"/>
                  <a:pt x="1152" y="1152"/>
                </a:cubicBezTo>
                <a:cubicBezTo>
                  <a:pt x="1552" y="880"/>
                  <a:pt x="2384" y="440"/>
                  <a:pt x="321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29" name="Freeform 14"/>
          <p:cNvSpPr>
            <a:spLocks/>
          </p:cNvSpPr>
          <p:nvPr/>
        </p:nvSpPr>
        <p:spPr bwMode="auto">
          <a:xfrm>
            <a:off x="3179618" y="1911582"/>
            <a:ext cx="4662054" cy="3586652"/>
          </a:xfrm>
          <a:custGeom>
            <a:avLst/>
            <a:gdLst>
              <a:gd name="T0" fmla="*/ 0 w 3072"/>
              <a:gd name="T1" fmla="*/ 2147483647 h 2688"/>
              <a:gd name="T2" fmla="*/ 1209675012 w 3072"/>
              <a:gd name="T3" fmla="*/ 2147483647 h 2688"/>
              <a:gd name="T4" fmla="*/ 2147483647 w 3072"/>
              <a:gd name="T5" fmla="*/ 2147483647 h 2688"/>
              <a:gd name="T6" fmla="*/ 2147483647 w 3072"/>
              <a:gd name="T7" fmla="*/ 2056447547 h 2688"/>
              <a:gd name="T8" fmla="*/ 2147483647 w 3072"/>
              <a:gd name="T9" fmla="*/ 0 h 26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2"/>
              <a:gd name="T16" fmla="*/ 0 h 2688"/>
              <a:gd name="T17" fmla="*/ 3072 w 3072"/>
              <a:gd name="T18" fmla="*/ 2688 h 26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2" h="2688">
                <a:moveTo>
                  <a:pt x="0" y="2688"/>
                </a:moveTo>
                <a:cubicBezTo>
                  <a:pt x="168" y="2488"/>
                  <a:pt x="336" y="2288"/>
                  <a:pt x="480" y="2064"/>
                </a:cubicBezTo>
                <a:cubicBezTo>
                  <a:pt x="624" y="1840"/>
                  <a:pt x="728" y="1552"/>
                  <a:pt x="864" y="1344"/>
                </a:cubicBezTo>
                <a:cubicBezTo>
                  <a:pt x="1000" y="1136"/>
                  <a:pt x="928" y="1040"/>
                  <a:pt x="1296" y="816"/>
                </a:cubicBezTo>
                <a:cubicBezTo>
                  <a:pt x="1664" y="592"/>
                  <a:pt x="2368" y="296"/>
                  <a:pt x="3072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600">
              <a:latin typeface="Lucida Sans Typewriter" panose="020B0509030504030204" pitchFamily="49" charset="0"/>
            </a:endParaRPr>
          </a:p>
        </p:txBody>
      </p:sp>
      <p:sp>
        <p:nvSpPr>
          <p:cNvPr id="34830" name="Text Box 15"/>
          <p:cNvSpPr txBox="1">
            <a:spLocks noChangeArrowheads="1"/>
          </p:cNvSpPr>
          <p:nvPr/>
        </p:nvSpPr>
        <p:spPr bwMode="auto">
          <a:xfrm>
            <a:off x="7800109" y="1690919"/>
            <a:ext cx="13161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c</a:t>
            </a:r>
            <a:r>
              <a:rPr lang="en-US" altLang="en-US" sz="1800" b="1" baseline="-25000" dirty="0">
                <a:latin typeface="Lucida Sans Typewriter" panose="020B0509030504030204" pitchFamily="49" charset="0"/>
                <a:cs typeface="Arial" panose="020B0604020202020204" pitchFamily="34" charset="0"/>
              </a:rPr>
              <a:t>2</a:t>
            </a:r>
            <a:r>
              <a:rPr lang="en-US" altLang="en-US" sz="1800" b="1" i="0" dirty="0">
                <a:latin typeface="Lucida Sans Typewriter" panose="020B0509030504030204" pitchFamily="49" charset="0"/>
                <a:cs typeface="Arial" panose="020B0604020202020204" pitchFamily="34" charset="0"/>
              </a:rPr>
              <a:t>.</a:t>
            </a:r>
            <a:r>
              <a:rPr lang="en-US" altLang="en-US" sz="1800" b="1" dirty="0">
                <a:latin typeface="Lucida Sans Typewriter" panose="020B0509030504030204" pitchFamily="49" charset="0"/>
                <a:cs typeface="Arial" panose="020B0604020202020204" pitchFamily="34" charset="0"/>
              </a:rPr>
              <a:t>g(n)</a:t>
            </a:r>
          </a:p>
        </p:txBody>
      </p:sp>
      <p:sp>
        <p:nvSpPr>
          <p:cNvPr id="34831" name="Rectangle 17"/>
          <p:cNvSpPr>
            <a:spLocks noGrp="1" noChangeArrowheads="1"/>
          </p:cNvSpPr>
          <p:nvPr>
            <p:ph type="title"/>
          </p:nvPr>
        </p:nvSpPr>
        <p:spPr>
          <a:xfrm>
            <a:off x="1066800" y="899196"/>
            <a:ext cx="10058400" cy="654162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4400" dirty="0">
                <a:latin typeface="Lucida Sans Typewriter" panose="020B0509030504030204" pitchFamily="49" charset="0"/>
              </a:rPr>
              <a:t>Asymptotic Tight Bound</a:t>
            </a:r>
          </a:p>
        </p:txBody>
      </p:sp>
      <p:sp>
        <p:nvSpPr>
          <p:cNvPr id="34832" name="Rectangle 18"/>
          <p:cNvSpPr>
            <a:spLocks noChangeArrowheads="1"/>
          </p:cNvSpPr>
          <p:nvPr/>
        </p:nvSpPr>
        <p:spPr bwMode="auto">
          <a:xfrm>
            <a:off x="2233404" y="5902144"/>
            <a:ext cx="77251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i="0" dirty="0">
                <a:latin typeface="Lucida Sans Typewriter" panose="020B0509030504030204" pitchFamily="49" charset="0"/>
              </a:rPr>
              <a:t>We say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g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 is an </a:t>
            </a:r>
            <a:r>
              <a:rPr kumimoji="1"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asymptotic tight bound</a:t>
            </a:r>
            <a:r>
              <a:rPr kumimoji="1" lang="en-US" altLang="en-US" i="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</a:rPr>
              <a:t> 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for 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f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(</a:t>
            </a:r>
            <a:r>
              <a:rPr kumimoji="1" lang="en-US" altLang="en-US" dirty="0">
                <a:latin typeface="Lucida Sans Typewriter" panose="020B0509030504030204" pitchFamily="49" charset="0"/>
              </a:rPr>
              <a:t>n</a:t>
            </a:r>
            <a:r>
              <a:rPr kumimoji="1" lang="en-US" altLang="en-US" i="0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6CB7C-1DB1-8CE6-F8AA-89CE8E6C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AB605-11AC-AB61-811B-4CB4D30B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94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65BF-CE31-3349-6ECA-86B45459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6126"/>
            <a:ext cx="10058400" cy="145075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Lucida Sans Typewriter" panose="020B0509030504030204" pitchFamily="49" charset="0"/>
              </a:rPr>
              <a:t>Asymptotic Notation</a:t>
            </a: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28AD6-CCFC-AAB8-F383-FA4DD10E0BE0}"/>
              </a:ext>
            </a:extLst>
          </p:cNvPr>
          <p:cNvSpPr txBox="1"/>
          <p:nvPr/>
        </p:nvSpPr>
        <p:spPr>
          <a:xfrm>
            <a:off x="1219200" y="1737360"/>
            <a:ext cx="8991600" cy="4441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</a:rPr>
              <a:t>O notation: asymptotic “less than”: 		</a:t>
            </a:r>
          </a:p>
          <a:p>
            <a:pPr lvl="1" eaLnBrk="1" hangingPunct="1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f(n)=O(g(n)) implies:  f(n) “</a:t>
            </a:r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≤</a:t>
            </a:r>
            <a:r>
              <a:rPr lang="en-US" altLang="en-US" sz="2000" dirty="0">
                <a:latin typeface="Lucida Sans Typewriter" panose="020B0509030504030204" pitchFamily="49" charset="0"/>
              </a:rPr>
              <a:t>” g(n)</a:t>
            </a:r>
          </a:p>
          <a:p>
            <a:pPr lvl="1" eaLnBrk="1" hangingPunct="1">
              <a:lnSpc>
                <a:spcPct val="180000"/>
              </a:lnSpc>
            </a:pPr>
            <a:endParaRPr lang="en-US" altLang="en-US" sz="2000" dirty="0">
              <a:latin typeface="Lucida Sans Typewriter" panose="020B0509030504030204" pitchFamily="49" charset="0"/>
            </a:endParaRPr>
          </a:p>
          <a:p>
            <a:pPr marL="533400" indent="-5334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 notation: asymptotic “greater than”: 	</a:t>
            </a:r>
          </a:p>
          <a:p>
            <a:pPr lvl="1" eaLnBrk="1" hangingPunct="1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f(n)=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Lucida Sans Typewriter" panose="020B0509030504030204" pitchFamily="49" charset="0"/>
              </a:rPr>
              <a:t> (g(n)) implies: f(n) “</a:t>
            </a:r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≥</a:t>
            </a:r>
            <a:r>
              <a:rPr lang="en-US" altLang="en-US" sz="2000" dirty="0">
                <a:latin typeface="Lucida Sans Typewriter" panose="020B0509030504030204" pitchFamily="49" charset="0"/>
              </a:rPr>
              <a:t>” g(n)</a:t>
            </a:r>
          </a:p>
          <a:p>
            <a:pPr lvl="1" eaLnBrk="1" hangingPunct="1">
              <a:lnSpc>
                <a:spcPct val="180000"/>
              </a:lnSpc>
            </a:pPr>
            <a:endParaRPr lang="en-US" altLang="en-US" sz="2000" dirty="0">
              <a:latin typeface="Lucida Sans Typewriter" panose="020B0509030504030204" pitchFamily="49" charset="0"/>
            </a:endParaRPr>
          </a:p>
          <a:p>
            <a:pPr marL="533400" indent="-5334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 notation: asymptotic “equality”: 		</a:t>
            </a:r>
          </a:p>
          <a:p>
            <a:pPr lvl="1" eaLnBrk="1" hangingPunct="1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f(n)=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Lucida Sans Typewriter" panose="020B0509030504030204" pitchFamily="49" charset="0"/>
              </a:rPr>
              <a:t> (g(n)) implies: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f(n) “=” g(n)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AD40E-F491-E858-1C91-47978D72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1695D-C7BE-3B5F-9E3A-F6FF9384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20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0"/>
            <a:ext cx="10972800" cy="89129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Practical Complexity</a:t>
            </a:r>
          </a:p>
        </p:txBody>
      </p:sp>
      <p:graphicFrame>
        <p:nvGraphicFramePr>
          <p:cNvPr id="1331436" name="Group 23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772719219"/>
              </p:ext>
            </p:extLst>
          </p:nvPr>
        </p:nvGraphicFramePr>
        <p:xfrm>
          <a:off x="2324099" y="1905000"/>
          <a:ext cx="7543801" cy="4150678"/>
        </p:xfrm>
        <a:graphic>
          <a:graphicData uri="http://schemas.openxmlformats.org/drawingml/2006/table">
            <a:tbl>
              <a:tblPr/>
              <a:tblGrid>
                <a:gridCol w="2241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6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Function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Descriptor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Big-Oh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Constant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( 1 )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log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Logarithmic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log n 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Linear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 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n log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 log n 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Quadratic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2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)</a:t>
                      </a:r>
                      <a:endParaRPr kumimoji="0" lang="en-US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Cubic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3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Polynomial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k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2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Typewriter" panose="020B0509030504030204" pitchFamily="49" charset="0"/>
                        <a:ea typeface="Osaka" pitchFamily="-107" charset="-128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Exponential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( 2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n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    n!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Factorial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Typewriter" panose="020B0509030504030204" pitchFamily="49" charset="0"/>
                          <a:ea typeface="Osaka" pitchFamily="-107" charset="-128"/>
                        </a:rPr>
                        <a:t>( n! 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DAA157-8646-7ACC-5275-269B2F4881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346932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070" y="630447"/>
            <a:ext cx="10058400" cy="1450757"/>
          </a:xfrm>
        </p:spPr>
        <p:txBody>
          <a:bodyPr/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Practical Complexity</a:t>
            </a:r>
            <a:br>
              <a:rPr lang="en-US" altLang="en-US" sz="4000" dirty="0">
                <a:solidFill>
                  <a:schemeClr val="tx2"/>
                </a:solidFill>
                <a:latin typeface="Lucida Sans Typewriter" panose="020B0509030504030204" pitchFamily="49" charset="0"/>
              </a:rPr>
            </a:br>
            <a:endParaRPr 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5231"/>
            <a:ext cx="7969851" cy="40507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large input sizes, constant terms are insignificant</a:t>
            </a:r>
            <a:endParaRPr lang="en-US" altLang="en-US" sz="1600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Sans Typewriter" panose="020B0509030504030204" pitchFamily="49" charset="0"/>
              </a:rPr>
              <a:t>	Program </a:t>
            </a:r>
            <a:r>
              <a:rPr lang="en-US" altLang="en-US" sz="1800" i="1" dirty="0">
                <a:latin typeface="Lucida Sans Typewriter" panose="020B0509030504030204" pitchFamily="49" charset="0"/>
              </a:rPr>
              <a:t>A</a:t>
            </a:r>
            <a:r>
              <a:rPr lang="en-US" altLang="en-US" sz="1800" dirty="0">
                <a:latin typeface="Lucida Sans Typewriter" panose="020B0509030504030204" pitchFamily="49" charset="0"/>
              </a:rPr>
              <a:t> with running time </a:t>
            </a:r>
            <a:r>
              <a:rPr lang="en-US" altLang="en-US" sz="1800" i="1" dirty="0">
                <a:latin typeface="Lucida Sans Typewriter" panose="020B0509030504030204" pitchFamily="49" charset="0"/>
              </a:rPr>
              <a:t>T</a:t>
            </a:r>
            <a:r>
              <a:rPr lang="en-US" altLang="en-US" sz="1800" i="1" baseline="-25000" dirty="0">
                <a:latin typeface="Lucida Sans Typewriter" panose="020B0509030504030204" pitchFamily="49" charset="0"/>
              </a:rPr>
              <a:t>A</a:t>
            </a:r>
            <a:r>
              <a:rPr lang="en-US" altLang="en-US" sz="1800" dirty="0">
                <a:latin typeface="Lucida Sans Typewriter" panose="020B0509030504030204" pitchFamily="49" charset="0"/>
              </a:rPr>
              <a:t>(n)= 100n</a:t>
            </a:r>
          </a:p>
          <a:p>
            <a:pPr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1800" dirty="0">
                <a:latin typeface="Lucida Sans Typewriter" panose="020B0509030504030204" pitchFamily="49" charset="0"/>
              </a:rPr>
              <a:t>	Program </a:t>
            </a:r>
            <a:r>
              <a:rPr lang="en-US" altLang="en-US" sz="1800" i="1" dirty="0">
                <a:latin typeface="Lucida Sans Typewriter" panose="020B0509030504030204" pitchFamily="49" charset="0"/>
              </a:rPr>
              <a:t>B</a:t>
            </a:r>
            <a:r>
              <a:rPr lang="en-US" altLang="en-US" sz="1800" dirty="0">
                <a:latin typeface="Lucida Sans Typewriter" panose="020B0509030504030204" pitchFamily="49" charset="0"/>
              </a:rPr>
              <a:t> with running time </a:t>
            </a:r>
            <a:r>
              <a:rPr lang="en-US" altLang="en-US" sz="1800" i="1" dirty="0">
                <a:latin typeface="Lucida Sans Typewriter" panose="020B0509030504030204" pitchFamily="49" charset="0"/>
              </a:rPr>
              <a:t>T</a:t>
            </a:r>
            <a:r>
              <a:rPr lang="en-US" altLang="en-US" sz="1800" i="1" baseline="-25000" dirty="0">
                <a:latin typeface="Lucida Sans Typewriter" panose="020B0509030504030204" pitchFamily="49" charset="0"/>
              </a:rPr>
              <a:t>B</a:t>
            </a:r>
            <a:r>
              <a:rPr lang="en-US" altLang="en-US" sz="1800" dirty="0">
                <a:latin typeface="Lucida Sans Typewriter" panose="020B0509030504030204" pitchFamily="49" charset="0"/>
              </a:rPr>
              <a:t>(n)= 2n</a:t>
            </a:r>
            <a:r>
              <a:rPr lang="en-US" altLang="en-US" sz="1800" baseline="30000" dirty="0">
                <a:latin typeface="Lucida Sans Typewriter" panose="020B0509030504030204" pitchFamily="49" charset="0"/>
              </a:rPr>
              <a:t>2</a:t>
            </a:r>
          </a:p>
        </p:txBody>
      </p:sp>
      <p:sp>
        <p:nvSpPr>
          <p:cNvPr id="35844" name="Line 4"/>
          <p:cNvSpPr>
            <a:spLocks noChangeShapeType="1"/>
          </p:cNvSpPr>
          <p:nvPr/>
        </p:nvSpPr>
        <p:spPr bwMode="auto">
          <a:xfrm>
            <a:off x="2640013" y="3276600"/>
            <a:ext cx="0" cy="237172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2640013" y="5648325"/>
            <a:ext cx="698341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282826" y="2968823"/>
            <a:ext cx="686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T</a:t>
            </a:r>
            <a:r>
              <a:rPr lang="en-US" altLang="en-US" sz="1400" b="1" baseline="-250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</a:t>
            </a:r>
            <a:r>
              <a:rPr lang="en-US" altLang="en-US" sz="1400" b="1" i="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(n)</a:t>
            </a:r>
          </a:p>
        </p:txBody>
      </p:sp>
      <p:sp>
        <p:nvSpPr>
          <p:cNvPr id="35847" name="Line 8"/>
          <p:cNvSpPr>
            <a:spLocks noChangeShapeType="1"/>
          </p:cNvSpPr>
          <p:nvPr/>
        </p:nvSpPr>
        <p:spPr bwMode="auto">
          <a:xfrm flipV="1">
            <a:off x="2640017" y="4233865"/>
            <a:ext cx="6243632" cy="1414460"/>
          </a:xfrm>
          <a:prstGeom prst="line">
            <a:avLst/>
          </a:prstGeom>
          <a:noFill/>
          <a:ln w="3175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48" name="Text Box 9"/>
          <p:cNvSpPr txBox="1">
            <a:spLocks noChangeArrowheads="1"/>
          </p:cNvSpPr>
          <p:nvPr/>
        </p:nvSpPr>
        <p:spPr bwMode="auto">
          <a:xfrm>
            <a:off x="8910636" y="4079976"/>
            <a:ext cx="14382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rgbClr val="CC1F55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T</a:t>
            </a:r>
            <a:r>
              <a:rPr lang="en-US" altLang="en-US" sz="1400" baseline="-25000" dirty="0">
                <a:solidFill>
                  <a:srgbClr val="CC1F55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</a:t>
            </a:r>
            <a:r>
              <a:rPr lang="en-US" altLang="en-US" sz="1400" i="0" dirty="0">
                <a:solidFill>
                  <a:srgbClr val="CC1F55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(n) = 100n</a:t>
            </a:r>
            <a:endParaRPr lang="en-US" altLang="en-US" sz="1400" i="0" dirty="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5849" name="Arc 10"/>
          <p:cNvSpPr>
            <a:spLocks/>
          </p:cNvSpPr>
          <p:nvPr/>
        </p:nvSpPr>
        <p:spPr bwMode="auto">
          <a:xfrm flipV="1">
            <a:off x="2647950" y="2514600"/>
            <a:ext cx="6056918" cy="3036878"/>
          </a:xfrm>
          <a:custGeom>
            <a:avLst/>
            <a:gdLst>
              <a:gd name="T0" fmla="*/ 0 w 21142"/>
              <a:gd name="T1" fmla="*/ 0 h 21600"/>
              <a:gd name="T2" fmla="*/ 2147483647 w 21142"/>
              <a:gd name="T3" fmla="*/ 2147483647 h 21600"/>
              <a:gd name="T4" fmla="*/ 0 w 21142"/>
              <a:gd name="T5" fmla="*/ 2147483647 h 21600"/>
              <a:gd name="T6" fmla="*/ 0 60000 65536"/>
              <a:gd name="T7" fmla="*/ 0 60000 65536"/>
              <a:gd name="T8" fmla="*/ 0 60000 65536"/>
              <a:gd name="T9" fmla="*/ 0 w 21142"/>
              <a:gd name="T10" fmla="*/ 0 h 21600"/>
              <a:gd name="T11" fmla="*/ 21142 w 2114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42" h="21600" fill="none" extrusionOk="0">
                <a:moveTo>
                  <a:pt x="0" y="-1"/>
                </a:moveTo>
                <a:cubicBezTo>
                  <a:pt x="10225" y="-1"/>
                  <a:pt x="19050" y="7170"/>
                  <a:pt x="21142" y="17179"/>
                </a:cubicBezTo>
              </a:path>
              <a:path w="21142" h="21600" stroke="0" extrusionOk="0">
                <a:moveTo>
                  <a:pt x="0" y="-1"/>
                </a:moveTo>
                <a:cubicBezTo>
                  <a:pt x="10225" y="-1"/>
                  <a:pt x="19050" y="7170"/>
                  <a:pt x="21142" y="17179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3175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50" name="Text Box 11"/>
          <p:cNvSpPr txBox="1">
            <a:spLocks noChangeArrowheads="1"/>
          </p:cNvSpPr>
          <p:nvPr/>
        </p:nvSpPr>
        <p:spPr bwMode="auto">
          <a:xfrm>
            <a:off x="8883649" y="3025973"/>
            <a:ext cx="152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T</a:t>
            </a:r>
            <a:r>
              <a:rPr lang="en-US" altLang="en-US" sz="1400" baseline="-250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B</a:t>
            </a:r>
            <a:r>
              <a:rPr lang="en-US" altLang="en-US" sz="1400" i="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(n) = 2n</a:t>
            </a:r>
            <a:r>
              <a:rPr lang="en-US" altLang="en-US" sz="1400" i="0" baseline="300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2</a:t>
            </a:r>
            <a:endParaRPr lang="en-US" altLang="en-US" sz="1400" i="0" dirty="0">
              <a:solidFill>
                <a:schemeClr val="folHlink"/>
              </a:solidFill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5851" name="Line 12"/>
          <p:cNvSpPr>
            <a:spLocks noChangeShapeType="1"/>
          </p:cNvSpPr>
          <p:nvPr/>
        </p:nvSpPr>
        <p:spPr bwMode="auto">
          <a:xfrm>
            <a:off x="7086600" y="5486403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52" name="Text Box 13"/>
          <p:cNvSpPr txBox="1">
            <a:spLocks noChangeArrowheads="1"/>
          </p:cNvSpPr>
          <p:nvPr/>
        </p:nvSpPr>
        <p:spPr bwMode="auto">
          <a:xfrm>
            <a:off x="6858000" y="5943603"/>
            <a:ext cx="3994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i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50</a:t>
            </a:r>
          </a:p>
        </p:txBody>
      </p:sp>
      <p:sp>
        <p:nvSpPr>
          <p:cNvPr id="35853" name="Line 14"/>
          <p:cNvSpPr>
            <a:spLocks noChangeShapeType="1"/>
          </p:cNvSpPr>
          <p:nvPr/>
        </p:nvSpPr>
        <p:spPr bwMode="auto">
          <a:xfrm>
            <a:off x="2424113" y="4784725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>
              <a:latin typeface="Lucida Sans Typewriter" panose="020B0509030504030204" pitchFamily="49" charset="0"/>
            </a:endParaRPr>
          </a:p>
        </p:txBody>
      </p:sp>
      <p:sp>
        <p:nvSpPr>
          <p:cNvPr id="35854" name="Text Box 15"/>
          <p:cNvSpPr txBox="1">
            <a:spLocks noChangeArrowheads="1"/>
          </p:cNvSpPr>
          <p:nvPr/>
        </p:nvSpPr>
        <p:spPr bwMode="auto">
          <a:xfrm>
            <a:off x="1774827" y="4568828"/>
            <a:ext cx="6142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i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5000</a:t>
            </a:r>
          </a:p>
        </p:txBody>
      </p:sp>
      <p:sp>
        <p:nvSpPr>
          <p:cNvPr id="35855" name="Text Box 17"/>
          <p:cNvSpPr txBox="1">
            <a:spLocks noChangeArrowheads="1"/>
          </p:cNvSpPr>
          <p:nvPr/>
        </p:nvSpPr>
        <p:spPr bwMode="auto">
          <a:xfrm>
            <a:off x="9650408" y="5494436"/>
            <a:ext cx="14734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i="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Input Size </a:t>
            </a:r>
            <a:r>
              <a:rPr lang="en-US" altLang="en-US" sz="1400" b="1" i="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n</a:t>
            </a:r>
            <a:endParaRPr lang="en-US" altLang="en-US" sz="1400" i="0" dirty="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5856" name="Rectangle 18"/>
          <p:cNvSpPr>
            <a:spLocks noChangeArrowheads="1"/>
          </p:cNvSpPr>
          <p:nvPr/>
        </p:nvSpPr>
        <p:spPr bwMode="auto">
          <a:xfrm>
            <a:off x="1981200" y="152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i="0" dirty="0">
              <a:solidFill>
                <a:schemeClr val="tx2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1C861-CD74-65E4-A1EA-A5814817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3CB28-C40D-AAB5-6F03-366A9D40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5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nimBg="1"/>
      <p:bldP spid="35845" grpId="0" animBg="1"/>
      <p:bldP spid="35846" grpId="0"/>
      <p:bldP spid="35847" grpId="0" animBg="1"/>
      <p:bldP spid="35848" grpId="0"/>
      <p:bldP spid="35849" grpId="0" animBg="1"/>
      <p:bldP spid="35850" grpId="0"/>
      <p:bldP spid="35851" grpId="0" animBg="1"/>
      <p:bldP spid="35852" grpId="0"/>
      <p:bldP spid="35853" grpId="0" animBg="1"/>
      <p:bldP spid="35854" grpId="0"/>
      <p:bldP spid="358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B334F7C4-7DF4-2BAC-2B5B-534B0064B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1005840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Analysis of Algorithms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4EAB247F-89A0-4E1E-1D24-DECC8FF1C0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8225" y="2006075"/>
            <a:ext cx="10287000" cy="405079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What is the goal of analysis of algorithms?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To compare algorithms mainly in terms of running time but also in terms of other factors (e.g., memory requirements,</a:t>
            </a:r>
            <a:r>
              <a:rPr lang="en-US" altLang="en-US" sz="2000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programmer’s effort etc.)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</a:p>
          <a:p>
            <a:pPr lvl="1" eaLnBrk="1" hangingPunct="1">
              <a:lnSpc>
                <a:spcPct val="100000"/>
              </a:lnSpc>
            </a:pPr>
            <a:endParaRPr lang="en-US" altLang="en-US" sz="2000" dirty="0">
              <a:latin typeface="Lucida Sans Typewriter" panose="020B0509030504030204" pitchFamily="49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What do we mean by running time analysis?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Determine how running time increases as the </a:t>
            </a:r>
            <a:r>
              <a:rPr lang="en-US" altLang="en-US" sz="2000" b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size</a:t>
            </a:r>
            <a:r>
              <a:rPr lang="en-US" altLang="en-US" sz="2000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of the problem increases</a:t>
            </a:r>
            <a:r>
              <a:rPr lang="en-US" altLang="en-US" sz="2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100000"/>
              </a:lnSpc>
            </a:pPr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3A1A1D-B961-4A05-A1F8-E3ED2589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2A7C5-B3CF-3140-6249-ED4EC9A0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ED47561E-F3B1-4F91-C547-24E778B62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152400"/>
            <a:ext cx="1005840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Input Size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C50D108-3D16-72A8-B2E1-8D499CEB1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Input size (number of elements in the input)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size of an array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# of elements in a matrix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# of bits in the binary representation of the input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vertices and edges in a graph</a:t>
            </a:r>
          </a:p>
          <a:p>
            <a:pPr eaLnBrk="1" hangingPunct="1"/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F2FFDE-A561-64E1-5B80-4CC695A3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A5F24-522F-8A98-DDAC-A019B555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B8E3249F-69E5-5FED-3360-A2369F75D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1005840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How do we compare algorithms?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50C651A-BEF5-7F8F-154D-A2D7A7F3F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2057891"/>
            <a:ext cx="10058400" cy="402336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(1) Compare execution times? 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Not good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: times are specific to a particular computer !!</a:t>
            </a:r>
            <a:endParaRPr lang="en-US" altLang="en-US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 (2) Count the number of statements executed?  </a:t>
            </a:r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	</a:t>
            </a:r>
            <a:r>
              <a:rPr lang="en-US" altLang="en-US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Not good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: number of statements vary with 	the programming 	language 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as well as the style of the individual programmer.</a:t>
            </a:r>
            <a:endParaRPr lang="en-US" altLang="en-US" dirty="0">
              <a:latin typeface="Lucida Sans Typewriter" panose="020B05090305040302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D17B35-2420-C5D5-3527-5FE3407C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E70D0-1ED8-1FB2-E758-35391632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B58EFB6B-CA23-11F9-074E-42D0FE64E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Ideal Solution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E990EFD-7289-1713-F553-807163C61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6805" y="2073176"/>
            <a:ext cx="10561320" cy="4050792"/>
          </a:xfrm>
        </p:spPr>
        <p:txBody>
          <a:bodyPr>
            <a:normAutofit/>
          </a:bodyPr>
          <a:lstStyle/>
          <a:p>
            <a:pPr eaLnBrk="1" hangingPunct="1"/>
            <a:endParaRPr lang="en-US" altLang="en-US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Express running time as a function of the input size 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(i.e.,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f(n)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buNone/>
            </a:pPr>
            <a:endParaRPr lang="en-US" altLang="en-US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Compare different functions corresponding to running times.</a:t>
            </a:r>
          </a:p>
          <a:p>
            <a:pPr marL="0" indent="0" eaLnBrk="1" hangingPunct="1">
              <a:buNone/>
            </a:pPr>
            <a:endParaRPr lang="en-US" altLang="en-US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Such an analysis is independent of machine time, programming style, etc.</a:t>
            </a:r>
          </a:p>
          <a:p>
            <a:pPr eaLnBrk="1" hangingPunct="1"/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4A5EF-8D5D-B72E-7C18-72EFFC59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513A4-E335-3AB0-4C44-D6EF6CD6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63701879-A42D-0EE9-C954-5595DDBD0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152400"/>
            <a:ext cx="1005840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Rate of Growth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5E22723-D529-C4D1-A22E-A663978D7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330" y="2209800"/>
            <a:ext cx="10058400" cy="402336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The low order terms in a function are relatively insignificant for </a:t>
            </a:r>
            <a:r>
              <a:rPr lang="en-US" altLang="en-US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large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endParaRPr lang="en-US" altLang="en-US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	           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+ 100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+ 10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+ 50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~    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</a:p>
          <a:p>
            <a:pPr eaLnBrk="1" hangingPunct="1">
              <a:buFontTx/>
              <a:buNone/>
            </a:pPr>
            <a:endParaRPr lang="en-US" altLang="en-US" baseline="30000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i.e., 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we say that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+ 100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+ 10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+ 50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and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 have the same  </a:t>
            </a:r>
            <a:r>
              <a:rPr lang="en-US" altLang="en-US" b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rate of growth</a:t>
            </a:r>
            <a:r>
              <a:rPr lang="en-US" altLang="en-US" u="sng" dirty="0">
                <a:latin typeface="Lucida Sans Typewriter" panose="020B0509030504030204" pitchFamily="49" charset="0"/>
              </a:rPr>
              <a:t> </a:t>
            </a:r>
            <a:endParaRPr lang="en-US" altLang="en-US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C78366-3215-BC2E-08BF-EE545F40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869EB-27C1-EB4E-6592-758BDB39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541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E69C2851-F2CB-603F-A8F6-E87153724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1005840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4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Big-O Notation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B7C075E-9009-2FDA-31E1-7C389C0C71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1966706"/>
            <a:ext cx="10058400" cy="4343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We say </a:t>
            </a:r>
            <a:r>
              <a:rPr lang="en-US" altLang="ko-KR" i="1" dirty="0" err="1">
                <a:latin typeface="Lucida Sans Typewriter" panose="020B0509030504030204" pitchFamily="49" charset="0"/>
                <a:ea typeface="굴림" panose="020B0503020000020004" pitchFamily="34" charset="-127"/>
              </a:rPr>
              <a:t>f</a:t>
            </a:r>
            <a:r>
              <a:rPr lang="en-US" altLang="ko-KR" baseline="-25000" dirty="0" err="1">
                <a:latin typeface="Lucida Sans Typewriter" panose="020B0509030504030204" pitchFamily="49" charset="0"/>
                <a:ea typeface="굴림" panose="020B0503020000020004" pitchFamily="34" charset="-127"/>
              </a:rPr>
              <a:t>A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)=30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n+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8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 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is 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order n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, or O(n)  </a:t>
            </a:r>
            <a:b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</a:b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It is, at most, roughly 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proportional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 to 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i="1" dirty="0" err="1">
                <a:latin typeface="Lucida Sans Typewriter" panose="020B0509030504030204" pitchFamily="49" charset="0"/>
                <a:ea typeface="굴림" panose="020B0503020000020004" pitchFamily="34" charset="-127"/>
              </a:rPr>
              <a:t>f</a:t>
            </a:r>
            <a:r>
              <a:rPr lang="en-US" altLang="ko-KR" baseline="-25000" dirty="0" err="1">
                <a:latin typeface="Lucida Sans Typewriter" panose="020B0509030504030204" pitchFamily="49" charset="0"/>
                <a:ea typeface="굴림" panose="020B0503020000020004" pitchFamily="34" charset="-127"/>
              </a:rPr>
              <a:t>B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)=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baseline="30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2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+1 is 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order n</a:t>
            </a:r>
            <a:r>
              <a:rPr lang="en-US" altLang="ko-KR" baseline="30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2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, or O(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baseline="30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2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). It is, at most, roughly proportional to 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baseline="30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2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.</a:t>
            </a:r>
          </a:p>
          <a:p>
            <a:pPr eaLnBrk="1" hangingPunct="1">
              <a:lnSpc>
                <a:spcPct val="150000"/>
              </a:lnSpc>
            </a:pPr>
            <a:endParaRPr lang="en-US" altLang="ko-KR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In general, any O(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baseline="30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2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) function is faster- growing than any O(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n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) function.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en-US" altLang="ko-KR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F272BA-3EA0-B84A-A235-3201041E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211F0-3453-DE5A-9501-AFC3E4B0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47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C7778293-29B5-86FB-9BE8-E6E432662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838200"/>
            <a:ext cx="77724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Example</a:t>
            </a:r>
            <a:endParaRPr lang="en-US" alt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50F2D04-60C1-2126-DC4E-2E7C9C92D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5351" y="1828800"/>
            <a:ext cx="11277599" cy="4495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Associate a "cost" with each statement.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Find the "total cost“</a:t>
            </a:r>
            <a:r>
              <a:rPr lang="en-US" altLang="en-US" dirty="0">
                <a:latin typeface="Lucida Sans Typewriter" panose="020B050903050403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by finding the total number of times each statement is executed. </a:t>
            </a:r>
            <a:endParaRPr lang="en-US" altLang="en-US" sz="1800" b="1" i="1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65000"/>
              </a:lnSpc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      </a:t>
            </a:r>
            <a:r>
              <a:rPr lang="en-US" altLang="en-US" sz="1600" b="1" i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Algorithm 1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</a:t>
            </a:r>
            <a:r>
              <a:rPr lang="en-US" altLang="en-US" sz="1600" b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Cost</a:t>
            </a:r>
            <a:r>
              <a:rPr lang="en-US" altLang="en-US" sz="1600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</a:t>
            </a:r>
            <a:r>
              <a:rPr lang="en-US" altLang="en-US" sz="1600" b="1" i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Algorithm 2</a:t>
            </a:r>
            <a:r>
              <a:rPr lang="en-US" altLang="en-US" sz="1600" b="1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     </a:t>
            </a:r>
            <a:r>
              <a:rPr lang="en-US" altLang="en-US" sz="1600" b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Cost</a:t>
            </a:r>
            <a:r>
              <a:rPr lang="en-US" altLang="en-US" sz="1600" b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</a:t>
            </a:r>
            <a:endParaRPr lang="en-US" altLang="en-US" sz="1600" b="1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	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[0] = 0;  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for(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=0;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&lt;N;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++)        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endParaRPr lang="en-US" altLang="en-US" sz="1600" baseline="-25000" dirty="0">
              <a:solidFill>
                <a:srgbClr val="DD011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	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[1] = 0; 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] = 0;          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endParaRPr lang="en-US" altLang="en-US" sz="1600" baseline="-25000" dirty="0">
              <a:solidFill>
                <a:srgbClr val="DD011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	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[2] = 0;  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        ...                ...</a:t>
            </a:r>
            <a:endParaRPr lang="en-US" altLang="en-US" sz="16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	 </a:t>
            </a:r>
            <a:r>
              <a:rPr lang="en-US" altLang="en-US" sz="1600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[N-1] = 0;      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 		</a:t>
            </a:r>
            <a:endParaRPr lang="en-US" altLang="en-US" sz="16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     -----------                                      -------------</a:t>
            </a:r>
            <a:endParaRPr lang="en-US" altLang="en-US" sz="1600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s-ES_tradnl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s-ES_tradnl" altLang="en-US" sz="1600" baseline="-250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+c</a:t>
            </a:r>
            <a:r>
              <a:rPr lang="es-ES_tradnl" altLang="en-US" sz="1600" baseline="-250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+...+c</a:t>
            </a:r>
            <a:r>
              <a:rPr lang="es-ES_tradnl" altLang="en-US" sz="1600" baseline="-250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= </a:t>
            </a:r>
            <a:r>
              <a:rPr lang="es-ES_tradnl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s-ES_tradnl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s-ES_tradnl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x N</a:t>
            </a:r>
            <a:r>
              <a:rPr lang="es-ES_tradnl" altLang="en-US" sz="16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 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(N+1) x c</a:t>
            </a:r>
            <a:r>
              <a:rPr lang="es-ES_tradnl" altLang="en-US" sz="1600" baseline="-250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+ N x c</a:t>
            </a:r>
            <a:r>
              <a:rPr lang="es-ES_tradnl" altLang="en-US" sz="1600" baseline="-250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s-ES_tradnl" altLang="en-US" sz="1600" dirty="0">
                <a:solidFill>
                  <a:srgbClr val="0070C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= 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(c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 + 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1</a:t>
            </a:r>
            <a:r>
              <a:rPr lang="en-US" altLang="en-US" sz="16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) x N + c</a:t>
            </a:r>
            <a:r>
              <a:rPr lang="en-US" altLang="en-US" sz="1600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sz="1600" dirty="0">
                <a:latin typeface="Lucida Sans Typewriter" panose="020B0509030504030204" pitchFamily="49" charset="0"/>
              </a:rPr>
              <a:t> </a:t>
            </a:r>
            <a:endParaRPr lang="en-US" altLang="en-US" sz="1600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65000"/>
              </a:lnSpc>
              <a:buNone/>
            </a:pPr>
            <a:r>
              <a:rPr lang="en-US" altLang="en-US" sz="1100" dirty="0">
                <a:solidFill>
                  <a:srgbClr val="FF000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</a:t>
            </a:r>
          </a:p>
          <a:p>
            <a:pPr algn="ctr">
              <a:lnSpc>
                <a:spcPct val="65000"/>
              </a:lnSpc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Both algorithms are of the same order: </a:t>
            </a:r>
            <a:r>
              <a:rPr lang="en-US" altLang="en-US" i="1" dirty="0">
                <a:solidFill>
                  <a:srgbClr val="FF0000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O(N)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76B3B7-9DB1-D749-3553-449AF2CD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7FF6B-3DAE-71F2-3D34-48A07057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A17DF380-A6DA-CBEE-357D-D8A378216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685800"/>
            <a:ext cx="10058400" cy="99974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Another Example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A9AFDC-665C-7DB9-AF8A-83335239C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2068760"/>
            <a:ext cx="8926512" cy="3646240"/>
          </a:xfrm>
        </p:spPr>
        <p:txBody>
          <a:bodyPr/>
          <a:lstStyle/>
          <a:p>
            <a:pPr eaLnBrk="1" hangingPunct="1"/>
            <a:r>
              <a:rPr lang="en-US" altLang="en-US" b="1" i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Algorithm 3</a:t>
            </a:r>
            <a:r>
              <a:rPr lang="en-US" altLang="en-US" b="1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                	   </a:t>
            </a:r>
            <a:r>
              <a:rPr lang="en-US" altLang="en-US" b="1" i="1" u="sng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Cost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endParaRPr lang="en-US" altLang="en-US" i="1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 	sum = 0;                              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	     for(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=0; 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&lt;N; 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++)                    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endParaRPr lang="en-US" altLang="en-US" baseline="-25000" dirty="0">
              <a:solidFill>
                <a:srgbClr val="DD011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	   for(j=0; j&lt;N; 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j++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)                 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	        sum += 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arr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[</a:t>
            </a:r>
            <a:r>
              <a:rPr lang="en-US" altLang="en-US" dirty="0" err="1">
                <a:latin typeface="Lucida Sans Typewriter" panose="020B0509030504030204" pitchFamily="49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][j];             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3</a:t>
            </a:r>
            <a:endParaRPr lang="en-US" altLang="en-US" baseline="-25000" dirty="0">
              <a:solidFill>
                <a:srgbClr val="DD0111"/>
              </a:solidFill>
              <a:latin typeface="Lucida Sans Typewriter" panose="020B05090305040302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                                 ------------</a:t>
            </a:r>
          </a:p>
          <a:p>
            <a:pPr eaLnBrk="1" hangingPunct="1">
              <a:buFontTx/>
              <a:buNone/>
            </a:pP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cs typeface="Times New Roman" panose="02020603050405020304" pitchFamily="18" charset="0"/>
              </a:rPr>
              <a:t>      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1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 +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x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(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+1) +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x N x 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(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+1) +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c</a:t>
            </a:r>
            <a:r>
              <a:rPr lang="en-US" altLang="en-US" baseline="-25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3</a:t>
            </a:r>
            <a:r>
              <a:rPr lang="en-US" altLang="en-US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x N</a:t>
            </a:r>
            <a:r>
              <a:rPr lang="en-US" altLang="en-US" i="1" baseline="30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 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= O(N</a:t>
            </a:r>
            <a:r>
              <a:rPr lang="en-US" altLang="en-US" i="1" baseline="30000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i="1" dirty="0">
                <a:solidFill>
                  <a:srgbClr val="DD0111"/>
                </a:solidFill>
                <a:latin typeface="Lucida Sans Typewriter" panose="020B0509030504030204" pitchFamily="49" charset="0"/>
                <a:ea typeface="MS Mincho" panose="02020609040205080304" pitchFamily="49" charset="-128"/>
              </a:rPr>
              <a:t>)</a:t>
            </a:r>
            <a:endParaRPr lang="en-US" altLang="en-US" i="1" baseline="30000" dirty="0">
              <a:solidFill>
                <a:srgbClr val="DD0111"/>
              </a:solidFill>
              <a:latin typeface="Lucida Sans Typewriter" panose="020B0509030504030204" pitchFamily="49" charset="0"/>
              <a:ea typeface="MS Mincho" panose="02020609040205080304" pitchFamily="49" charset="-128"/>
            </a:endParaRPr>
          </a:p>
          <a:p>
            <a:pPr eaLnBrk="1" hangingPunct="1">
              <a:buFontTx/>
              <a:buNone/>
            </a:pPr>
            <a:endParaRPr lang="en-US" altLang="en-US" i="1" dirty="0">
              <a:latin typeface="Lucida Sans Typewriter" panose="020B0509030504030204" pitchFamily="49" charset="0"/>
              <a:ea typeface="MS Mincho" panose="02020609040205080304" pitchFamily="49" charset="-128"/>
            </a:endParaRPr>
          </a:p>
          <a:p>
            <a:pPr eaLnBrk="1" hangingPunct="1"/>
            <a:endParaRPr lang="en-US" altLang="en-US" b="1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B5D5C4-66E4-5F91-1BBF-17704342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F2847-A7C4-2E59-F0C8-C36CEA15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00803119-F40A-C1A9-724C-09235CEB4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55990"/>
            <a:ext cx="10058400" cy="91503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Big-O Visualization</a:t>
            </a:r>
          </a:p>
        </p:txBody>
      </p:sp>
      <p:pic>
        <p:nvPicPr>
          <p:cNvPr id="20484" name="Picture 3" descr="bigO">
            <a:extLst>
              <a:ext uri="{FF2B5EF4-FFF2-40B4-BE49-F238E27FC236}">
                <a16:creationId xmlns:a16="http://schemas.microsoft.com/office/drawing/2014/main" id="{EFBC2E43-7B69-2530-A05D-805CF6EB09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2057400"/>
            <a:ext cx="5196626" cy="359410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485" name="Rectangle 4">
            <a:extLst>
              <a:ext uri="{FF2B5EF4-FFF2-40B4-BE49-F238E27FC236}">
                <a16:creationId xmlns:a16="http://schemas.microsoft.com/office/drawing/2014/main" id="{12B1BE1B-66DE-2576-7F6E-68FCFE48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362200"/>
            <a:ext cx="3048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  </a:t>
            </a:r>
            <a:r>
              <a:rPr lang="en-US" altLang="en-US" sz="2000" dirty="0">
                <a:solidFill>
                  <a:srgbClr val="DD0111"/>
                </a:solidFill>
                <a:latin typeface="Lucida Sans Typewriter" panose="020B0509030504030204" pitchFamily="49" charset="0"/>
              </a:rPr>
              <a:t>O(g(n)) is the set of functions with smaller or same order of growth as g(n)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B3A156-7CA8-FF98-9A23-7849D438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9D45EA-DD95-EE71-F15E-6EAFD00D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243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C6AB7677-A5A5-4547-B600-B0993B59E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More Examples …</a:t>
            </a:r>
            <a:endParaRPr lang="en-US" altLang="en-US" sz="4000" dirty="0">
              <a:latin typeface="Lucida Sans Typewriter" panose="020B0509030504030204" pitchFamily="49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9946FFF-07A7-7C9E-EE5A-EF69392F5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828800"/>
            <a:ext cx="9067800" cy="4267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+ 100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+ 10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+ 50 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is 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O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)</a:t>
            </a:r>
            <a:r>
              <a:rPr lang="en-US" altLang="en-US" dirty="0">
                <a:latin typeface="Lucida Sans Typewriter" panose="020B0509030504030204" pitchFamily="49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10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 + 2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 is 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O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)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 - 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 is 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O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</a:rPr>
              <a:t>2n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 = O(n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3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</a:rPr>
              <a:t>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 = O(n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</a:rPr>
              <a:t>1000n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+1000n = O(n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</a:rPr>
              <a:t>n = O(n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)</a:t>
            </a:r>
            <a:endParaRPr lang="en-US" altLang="en-US" dirty="0">
              <a:latin typeface="Lucida Sans Typewriter" panose="020B0509030504030204" pitchFamily="49" charset="0"/>
              <a:ea typeface="MS Mincho" panose="02020609040205080304" pitchFamily="49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constants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10 is </a:t>
            </a:r>
            <a:r>
              <a:rPr lang="en-US" altLang="en-US" sz="2000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(1)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1273 is </a:t>
            </a:r>
            <a:r>
              <a:rPr lang="en-US" altLang="en-US" sz="2000" i="1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O</a:t>
            </a:r>
            <a:r>
              <a:rPr lang="en-US" altLang="en-US" sz="2000" dirty="0">
                <a:latin typeface="Lucida Sans Typewriter" panose="020B0509030504030204" pitchFamily="49" charset="0"/>
                <a:ea typeface="MS Mincho" panose="02020609040205080304" pitchFamily="49" charset="-128"/>
              </a:rPr>
              <a:t>(1)</a:t>
            </a:r>
            <a:endParaRPr lang="en-US" altLang="en-US" sz="2000" dirty="0">
              <a:latin typeface="Lucida Sans Typewriter" panose="020B05090305040302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F88B11-87D2-E21D-F5FC-B30ACED9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A6C1B-2D86-0660-25D2-6A730037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F61A147B-ADE3-5759-C305-AB2874B04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572818"/>
            <a:ext cx="10058400" cy="102072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Examples of big-omega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7A9388DB-0BFA-5DA6-8DCB-05009E3EA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8676" y="2104916"/>
            <a:ext cx="10058400" cy="3762484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 5n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 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Lucida Sans Typewriter" panose="020B0509030504030204" pitchFamily="49" charset="0"/>
              </a:rPr>
              <a:t>(n)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altLang="en-US" sz="2000" dirty="0">
                <a:latin typeface="Lucida Sans Typewriter" panose="020B0509030504030204" pitchFamily="49" charset="0"/>
              </a:rPr>
              <a:t>	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100n + 5 </a:t>
            </a:r>
            <a:r>
              <a:rPr lang="en-US" altLang="en-US" sz="2000" dirty="0">
                <a:latin typeface="Lucida Sans Typewriter" panose="020B0509030504030204" pitchFamily="49" charset="0"/>
                <a:cs typeface="Arial" panose="020B0604020202020204" pitchFamily="34" charset="0"/>
              </a:rPr>
              <a:t>≠</a:t>
            </a:r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</a:t>
            </a:r>
            <a:endParaRPr lang="en-US" altLang="en-US" sz="2000" dirty="0">
              <a:latin typeface="Lucida Sans Typewriter" panose="020B05090305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endParaRPr lang="en-US" altLang="en-US" sz="2000" dirty="0">
              <a:latin typeface="Lucida Sans Typewriter" panose="020B05090305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n 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Lucida Sans Typewriter" panose="020B0509030504030204" pitchFamily="49" charset="0"/>
              </a:rPr>
              <a:t>(n), 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3</a:t>
            </a:r>
            <a:r>
              <a:rPr lang="en-US" altLang="en-US" sz="2000" dirty="0">
                <a:latin typeface="Lucida Sans Typewriter" panose="020B0509030504030204" pitchFamily="49" charset="0"/>
              </a:rPr>
              <a:t> 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</a:t>
            </a:r>
            <a:r>
              <a:rPr lang="en-US" altLang="en-US" sz="2000" dirty="0">
                <a:latin typeface="Lucida Sans Typewriter" panose="020B0509030504030204" pitchFamily="49" charset="0"/>
              </a:rPr>
              <a:t>(n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)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, n </a:t>
            </a:r>
            <a:r>
              <a:rPr lang="en-US" altLang="en-US" sz="2000" dirty="0">
                <a:latin typeface="Lucida Sans Typewriter" panose="020B0509030504030204" pitchFamily="49" charset="0"/>
              </a:rPr>
              <a:t>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</a:t>
            </a:r>
            <a:r>
              <a:rPr lang="en-US" altLang="en-US" sz="2000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logn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</a:t>
            </a:r>
            <a:endParaRPr lang="en-US" altLang="en-US" sz="2000" dirty="0">
              <a:latin typeface="Lucida Sans Typewriter" panose="020B0509030504030204" pitchFamily="49" charset="0"/>
            </a:endParaRPr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8B38DA6C-B7AB-3077-A744-4897E54A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72841"/>
            <a:ext cx="4931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 c, n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such that: 0  </a:t>
            </a:r>
            <a:r>
              <a:rPr lang="en-US" altLang="en-US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cn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 5n</a:t>
            </a:r>
            <a:r>
              <a:rPr lang="en-US" altLang="en-US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 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EA5342C2-77B7-4CFD-899A-D07E1C536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324" y="2674875"/>
            <a:ext cx="51911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cn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 5n</a:t>
            </a:r>
            <a:r>
              <a:rPr lang="en-US" altLang="en-US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 </a:t>
            </a:r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52502E6-B74D-58A3-1894-F7A12EA0F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672841"/>
            <a:ext cx="28296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 c = 5 and n</a:t>
            </a:r>
            <a:r>
              <a:rPr lang="en-US" altLang="en-US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= 1</a:t>
            </a:r>
            <a:r>
              <a:rPr lang="en-US" altLang="en-US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A36B23-3170-0A43-114F-DF2C1679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96C03-EFC8-3811-1595-E96AEC4B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/>
      <p:bldP spid="153605" grpId="0"/>
      <p:bldP spid="15360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4">
            <a:extLst>
              <a:ext uri="{FF2B5EF4-FFF2-40B4-BE49-F238E27FC236}">
                <a16:creationId xmlns:a16="http://schemas.microsoft.com/office/drawing/2014/main" id="{D3548936-69A4-8698-94A6-1F9A9B450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685800"/>
            <a:ext cx="10058400" cy="10515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4000" dirty="0">
                <a:latin typeface="Lucida Sans Typewriter" panose="020B0509030504030204" pitchFamily="49" charset="0"/>
                <a:ea typeface="굴림" panose="020B0503020000020004" pitchFamily="34" charset="-127"/>
              </a:rPr>
              <a:t>Relations Between Different Sets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ACBB971-83FA-9B52-6556-E109EB216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4900" y="2139315"/>
            <a:ext cx="10058400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</a:rPr>
              <a:t>Subset relations between order-of-growth sets.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ABA2533-FE8F-95CC-2DD8-D654F8F1D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00400"/>
            <a:ext cx="6477000" cy="27432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ko-KR" altLang="en-US" sz="140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30726" name="Oval 5">
            <a:extLst>
              <a:ext uri="{FF2B5EF4-FFF2-40B4-BE49-F238E27FC236}">
                <a16:creationId xmlns:a16="http://schemas.microsoft.com/office/drawing/2014/main" id="{8E1C9FDB-58ED-48BC-F20C-E2CF21860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657600"/>
            <a:ext cx="3505200" cy="1905000"/>
          </a:xfrm>
          <a:prstGeom prst="ellipse">
            <a:avLst/>
          </a:prstGeom>
          <a:solidFill>
            <a:srgbClr val="FF99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100">
              <a:latin typeface="Lucida Sans Typewriter" panose="020B0509030504030204" pitchFamily="49" charset="0"/>
            </a:endParaRPr>
          </a:p>
        </p:txBody>
      </p:sp>
      <p:sp>
        <p:nvSpPr>
          <p:cNvPr id="30727" name="Oval 6">
            <a:extLst>
              <a:ext uri="{FF2B5EF4-FFF2-40B4-BE49-F238E27FC236}">
                <a16:creationId xmlns:a16="http://schemas.microsoft.com/office/drawing/2014/main" id="{59063677-FD27-2818-6370-A3A971BCA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657600"/>
            <a:ext cx="3505200" cy="1905000"/>
          </a:xfrm>
          <a:prstGeom prst="ellipse">
            <a:avLst/>
          </a:prstGeom>
          <a:solidFill>
            <a:srgbClr val="00FF00">
              <a:alpha val="50195"/>
            </a:srgbClr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100">
              <a:latin typeface="Lucida Sans Typewriter" panose="020B0509030504030204" pitchFamily="49" charset="0"/>
            </a:endParaRPr>
          </a:p>
        </p:txBody>
      </p:sp>
      <p:sp>
        <p:nvSpPr>
          <p:cNvPr id="30728" name="Text Box 7">
            <a:extLst>
              <a:ext uri="{FF2B5EF4-FFF2-40B4-BE49-F238E27FC236}">
                <a16:creationId xmlns:a16="http://schemas.microsoft.com/office/drawing/2014/main" id="{C001629D-FFAD-B291-6C0C-4A20CCA64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175" y="2814915"/>
            <a:ext cx="6912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b="1" dirty="0">
                <a:latin typeface="Lucida Sans Typewriter" panose="020B0509030504030204" pitchFamily="49" charset="0"/>
                <a:ea typeface="굴림" panose="020B0503020000020004" pitchFamily="34" charset="-127"/>
              </a:rPr>
              <a:t>R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</a:t>
            </a:r>
            <a:r>
              <a:rPr lang="en-US" altLang="ko-KR" b="1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R</a:t>
            </a:r>
            <a:endParaRPr lang="en-US" altLang="ko-KR" b="1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30729" name="Oval 8">
            <a:extLst>
              <a:ext uri="{FF2B5EF4-FFF2-40B4-BE49-F238E27FC236}">
                <a16:creationId xmlns:a16="http://schemas.microsoft.com/office/drawing/2014/main" id="{4233EE86-68E3-E74B-16DF-ED3D7793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657600"/>
            <a:ext cx="3505200" cy="1905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100">
              <a:latin typeface="Lucida Sans Typewriter" panose="020B0509030504030204" pitchFamily="49" charset="0"/>
            </a:endParaRPr>
          </a:p>
        </p:txBody>
      </p:sp>
      <p:sp>
        <p:nvSpPr>
          <p:cNvPr id="30730" name="Text Box 9">
            <a:extLst>
              <a:ext uri="{FF2B5EF4-FFF2-40B4-BE49-F238E27FC236}">
                <a16:creationId xmlns:a16="http://schemas.microsoft.com/office/drawing/2014/main" id="{CA074510-EB67-14E3-E562-7F902AABE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35" y="3202265"/>
            <a:ext cx="7809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ko-KR" altLang="en-US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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f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)</a:t>
            </a:r>
            <a:endParaRPr lang="en-US" altLang="ko-KR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30731" name="Text Box 10">
            <a:extLst>
              <a:ext uri="{FF2B5EF4-FFF2-40B4-BE49-F238E27FC236}">
                <a16:creationId xmlns:a16="http://schemas.microsoft.com/office/drawing/2014/main" id="{B6E86AAE-67BC-E808-363F-CB2884B41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273" y="3216552"/>
            <a:ext cx="7425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O(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f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)</a:t>
            </a:r>
            <a:endParaRPr lang="en-US" altLang="ko-KR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30732" name="Text Box 11">
            <a:extLst>
              <a:ext uri="{FF2B5EF4-FFF2-40B4-BE49-F238E27FC236}">
                <a16:creationId xmlns:a16="http://schemas.microsoft.com/office/drawing/2014/main" id="{EB132989-309C-4D1A-A434-89D58A87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9660" y="4388127"/>
            <a:ext cx="774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ko-KR" altLang="en-US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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(</a:t>
            </a:r>
            <a:r>
              <a:rPr lang="en-US" altLang="ko-KR" i="1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f</a:t>
            </a:r>
            <a:r>
              <a:rPr lang="en-US" altLang="ko-KR" dirty="0">
                <a:latin typeface="Lucida Sans Typewriter" panose="020B0509030504030204" pitchFamily="49" charset="0"/>
                <a:ea typeface="굴림" panose="020B0503020000020004" pitchFamily="34" charset="-127"/>
                <a:sym typeface="Symbol" panose="05050102010706020507" pitchFamily="18" charset="2"/>
              </a:rPr>
              <a:t>)</a:t>
            </a:r>
            <a:endParaRPr lang="en-US" altLang="ko-KR" dirty="0">
              <a:latin typeface="Lucida Sans Typewriter" panose="020B0509030504030204" pitchFamily="49" charset="0"/>
              <a:ea typeface="굴림" panose="020B0503020000020004" pitchFamily="34" charset="-12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1D6C30-D4A1-436F-BF19-F8405205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262F4-F8A0-6D14-B0B4-F5E9852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15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9AF70861-29D0-32EC-CE4A-9114218F2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609600"/>
            <a:ext cx="10058400" cy="99517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Examples of theta notation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A8956118-C24E-3361-90D8-9981E15D40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849685"/>
            <a:ext cx="8415338" cy="4246315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f(n) = 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/2 – n/2 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latin typeface="Lucida Sans Typewriter" panose="020B0509030504030204" pitchFamily="49" charset="0"/>
              </a:rPr>
              <a:t>(n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) </a:t>
            </a:r>
          </a:p>
          <a:p>
            <a:pPr lvl="2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We can express f(n) = O(n</a:t>
            </a:r>
            <a:r>
              <a:rPr lang="en-US" altLang="en-US" sz="2000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</a:rPr>
              <a:t>) and f(n) =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</a:t>
            </a:r>
            <a:endParaRPr lang="en-US" altLang="en-US" sz="2000" dirty="0">
              <a:latin typeface="Lucida Sans Typewriter" panose="020B0509030504030204" pitchFamily="49" charset="0"/>
            </a:endParaRPr>
          </a:p>
          <a:p>
            <a:pPr lvl="1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f(n) = 6n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3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≠  (n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</a:t>
            </a:r>
          </a:p>
          <a:p>
            <a:pPr lvl="2">
              <a:lnSpc>
                <a:spcPct val="180000"/>
              </a:lnSpc>
            </a:pP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6n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3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≠ O(n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 even though 6n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3 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= (n</a:t>
            </a:r>
            <a:r>
              <a:rPr lang="en-US" altLang="en-US" sz="2000" baseline="30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) </a:t>
            </a:r>
          </a:p>
          <a:p>
            <a:pPr lvl="1">
              <a:lnSpc>
                <a:spcPct val="180000"/>
              </a:lnSpc>
            </a:pPr>
            <a:r>
              <a:rPr lang="en-US" altLang="en-US" sz="2000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logn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≠ (n)</a:t>
            </a:r>
          </a:p>
          <a:p>
            <a:pPr lvl="2">
              <a:lnSpc>
                <a:spcPct val="180000"/>
              </a:lnSpc>
            </a:pPr>
            <a:r>
              <a:rPr lang="en-US" altLang="en-US" sz="2000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logn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= O(n) but </a:t>
            </a:r>
            <a:r>
              <a:rPr lang="en-US" altLang="en-US" sz="2000" dirty="0" err="1">
                <a:latin typeface="Lucida Sans Typewriter" panose="020B0509030504030204" pitchFamily="49" charset="0"/>
                <a:sym typeface="Symbol" panose="05050102010706020507" pitchFamily="18" charset="2"/>
              </a:rPr>
              <a:t>logn</a:t>
            </a:r>
            <a:r>
              <a:rPr lang="en-US" altLang="en-US" sz="2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 ≠ (n)</a:t>
            </a:r>
          </a:p>
          <a:p>
            <a:pPr lvl="2">
              <a:lnSpc>
                <a:spcPct val="180000"/>
              </a:lnSpc>
            </a:pPr>
            <a:endParaRPr lang="en-US" altLang="en-US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pPr lvl="2">
              <a:lnSpc>
                <a:spcPct val="180000"/>
              </a:lnSpc>
            </a:pPr>
            <a:endParaRPr lang="en-US" altLang="en-US" baseline="30000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80000"/>
              </a:lnSpc>
            </a:pPr>
            <a:endParaRPr lang="en-US" altLang="en-US" b="1" dirty="0">
              <a:latin typeface="Lucida Sans Typewriter" panose="020B0509030504030204" pitchFamily="49" charset="0"/>
            </a:endParaRPr>
          </a:p>
          <a:p>
            <a:pPr marL="548640" lvl="2" indent="0">
              <a:lnSpc>
                <a:spcPct val="180000"/>
              </a:lnSpc>
              <a:buNone/>
            </a:pPr>
            <a:endParaRPr lang="en-US" altLang="en-US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DEF13-8959-C285-76DD-DC72DF36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C1E4D-ED82-C036-BEE6-90D10679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457349CE-B715-BBA3-6613-AE425F365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705644"/>
            <a:ext cx="10972800" cy="906462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Logarithms and properties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A9B9C46-0DB3-82DE-FD34-8843E7CD029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10744200" cy="438626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1800" dirty="0">
                <a:latin typeface="Lucida Sans Typewriter" panose="020B0509030504030204" pitchFamily="49" charset="0"/>
              </a:rPr>
              <a:t>In algorithm analysis we often use the notation </a:t>
            </a:r>
            <a:r>
              <a:rPr lang="en-US" altLang="en-US" sz="1800" dirty="0">
                <a:solidFill>
                  <a:srgbClr val="CC0000"/>
                </a:solidFill>
                <a:latin typeface="Lucida Sans Typewriter" panose="020B0509030504030204" pitchFamily="49" charset="0"/>
              </a:rPr>
              <a:t>“log n”</a:t>
            </a:r>
            <a:r>
              <a:rPr lang="en-US" altLang="en-US" sz="1800" dirty="0">
                <a:latin typeface="Lucida Sans Typewriter" panose="020B0509030504030204" pitchFamily="49" charset="0"/>
              </a:rPr>
              <a:t> without specifying the base</a:t>
            </a:r>
          </a:p>
        </p:txBody>
      </p:sp>
      <p:graphicFrame>
        <p:nvGraphicFramePr>
          <p:cNvPr id="33797" name="Object 4">
            <a:extLst>
              <a:ext uri="{FF2B5EF4-FFF2-40B4-BE49-F238E27FC236}">
                <a16:creationId xmlns:a16="http://schemas.microsoft.com/office/drawing/2014/main" id="{D2F507F7-C2F1-7F80-C958-5C93B3B8DB9A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91887759"/>
              </p:ext>
            </p:extLst>
          </p:nvPr>
        </p:nvGraphicFramePr>
        <p:xfrm>
          <a:off x="4173079" y="2760034"/>
          <a:ext cx="1425575" cy="84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57002" progId="Equation.3">
                  <p:embed/>
                </p:oleObj>
              </mc:Choice>
              <mc:Fallback>
                <p:oleObj name="Equation" r:id="rId2" imgW="774364" imgH="457002" progId="Equation.3">
                  <p:embed/>
                  <p:pic>
                    <p:nvPicPr>
                      <p:cNvPr id="33797" name="Object 4">
                        <a:extLst>
                          <a:ext uri="{FF2B5EF4-FFF2-40B4-BE49-F238E27FC236}">
                            <a16:creationId xmlns:a16="http://schemas.microsoft.com/office/drawing/2014/main" id="{D2F507F7-C2F1-7F80-C958-5C93B3B8D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079" y="2760034"/>
                        <a:ext cx="1425575" cy="84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5">
            <a:extLst>
              <a:ext uri="{FF2B5EF4-FFF2-40B4-BE49-F238E27FC236}">
                <a16:creationId xmlns:a16="http://schemas.microsoft.com/office/drawing/2014/main" id="{04CF400F-35C8-2202-864A-EF52A787AF27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82060176"/>
              </p:ext>
            </p:extLst>
          </p:nvPr>
        </p:nvGraphicFramePr>
        <p:xfrm>
          <a:off x="6943725" y="2603500"/>
          <a:ext cx="949325" cy="407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9" imgH="228501" progId="Equation.3">
                  <p:embed/>
                </p:oleObj>
              </mc:Choice>
              <mc:Fallback>
                <p:oleObj name="Equation" r:id="rId4" imgW="533169" imgH="228501" progId="Equation.3">
                  <p:embed/>
                  <p:pic>
                    <p:nvPicPr>
                      <p:cNvPr id="33798" name="Object 5">
                        <a:extLst>
                          <a:ext uri="{FF2B5EF4-FFF2-40B4-BE49-F238E27FC236}">
                            <a16:creationId xmlns:a16="http://schemas.microsoft.com/office/drawing/2014/main" id="{04CF400F-35C8-2202-864A-EF52A787A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5" y="2603500"/>
                        <a:ext cx="949325" cy="407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6">
            <a:extLst>
              <a:ext uri="{FF2B5EF4-FFF2-40B4-BE49-F238E27FC236}">
                <a16:creationId xmlns:a16="http://schemas.microsoft.com/office/drawing/2014/main" id="{0BAD260A-D87B-2716-478A-E9F99565C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13" y="2746187"/>
            <a:ext cx="215956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Lucida Sans Typewriter" panose="020B0509030504030204" pitchFamily="49" charset="0"/>
              </a:rPr>
              <a:t>Binary logarithm</a:t>
            </a:r>
          </a:p>
        </p:txBody>
      </p:sp>
      <p:sp>
        <p:nvSpPr>
          <p:cNvPr id="33800" name="Text Box 7">
            <a:extLst>
              <a:ext uri="{FF2B5EF4-FFF2-40B4-BE49-F238E27FC236}">
                <a16:creationId xmlns:a16="http://schemas.microsoft.com/office/drawing/2014/main" id="{7B3C1E0E-969E-4F24-A0AF-B9EABDED3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706" y="3206656"/>
            <a:ext cx="22829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Lucida Sans Typewriter" panose="020B0509030504030204" pitchFamily="49" charset="0"/>
              </a:rPr>
              <a:t>Natural logarithm</a:t>
            </a:r>
          </a:p>
        </p:txBody>
      </p:sp>
      <p:graphicFrame>
        <p:nvGraphicFramePr>
          <p:cNvPr id="33801" name="Object 8">
            <a:extLst>
              <a:ext uri="{FF2B5EF4-FFF2-40B4-BE49-F238E27FC236}">
                <a16:creationId xmlns:a16="http://schemas.microsoft.com/office/drawing/2014/main" id="{8BB23C42-9FC1-4930-5963-BB7EF5DCF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50677"/>
              </p:ext>
            </p:extLst>
          </p:nvPr>
        </p:nvGraphicFramePr>
        <p:xfrm>
          <a:off x="4230688" y="3789367"/>
          <a:ext cx="1635125" cy="75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600" imgH="457200" progId="Equation.3">
                  <p:embed/>
                </p:oleObj>
              </mc:Choice>
              <mc:Fallback>
                <p:oleObj name="Equation" r:id="rId6" imgW="990600" imgH="457200" progId="Equation.3">
                  <p:embed/>
                  <p:pic>
                    <p:nvPicPr>
                      <p:cNvPr id="33801" name="Object 8">
                        <a:extLst>
                          <a:ext uri="{FF2B5EF4-FFF2-40B4-BE49-F238E27FC236}">
                            <a16:creationId xmlns:a16="http://schemas.microsoft.com/office/drawing/2014/main" id="{8BB23C42-9FC1-4930-5963-BB7EF5DCF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688" y="3789367"/>
                        <a:ext cx="1635125" cy="753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9" name="Object 9">
            <a:extLst>
              <a:ext uri="{FF2B5EF4-FFF2-40B4-BE49-F238E27FC236}">
                <a16:creationId xmlns:a16="http://schemas.microsoft.com/office/drawing/2014/main" id="{642BB4DE-45C9-D325-B1D5-D5F7452CC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705053"/>
              </p:ext>
            </p:extLst>
          </p:nvPr>
        </p:nvGraphicFramePr>
        <p:xfrm>
          <a:off x="8134354" y="2627317"/>
          <a:ext cx="806342" cy="36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203112" progId="Equation.3">
                  <p:embed/>
                </p:oleObj>
              </mc:Choice>
              <mc:Fallback>
                <p:oleObj name="Equation" r:id="rId8" imgW="444307" imgH="203112" progId="Equation.3">
                  <p:embed/>
                  <p:pic>
                    <p:nvPicPr>
                      <p:cNvPr id="245769" name="Object 9">
                        <a:extLst>
                          <a:ext uri="{FF2B5EF4-FFF2-40B4-BE49-F238E27FC236}">
                            <a16:creationId xmlns:a16="http://schemas.microsoft.com/office/drawing/2014/main" id="{642BB4DE-45C9-D325-B1D5-D5F7452CC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4" y="2627317"/>
                        <a:ext cx="806342" cy="36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0">
            <a:extLst>
              <a:ext uri="{FF2B5EF4-FFF2-40B4-BE49-F238E27FC236}">
                <a16:creationId xmlns:a16="http://schemas.microsoft.com/office/drawing/2014/main" id="{764A9D6E-C1B3-1ED2-F2EF-4C9E12E05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21485"/>
              </p:ext>
            </p:extLst>
          </p:nvPr>
        </p:nvGraphicFramePr>
        <p:xfrm>
          <a:off x="6972300" y="3192463"/>
          <a:ext cx="954088" cy="363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9" imgH="203112" progId="Equation.3">
                  <p:embed/>
                </p:oleObj>
              </mc:Choice>
              <mc:Fallback>
                <p:oleObj name="Equation" r:id="rId10" imgW="533169" imgH="203112" progId="Equation.3">
                  <p:embed/>
                  <p:pic>
                    <p:nvPicPr>
                      <p:cNvPr id="33803" name="Object 10">
                        <a:extLst>
                          <a:ext uri="{FF2B5EF4-FFF2-40B4-BE49-F238E27FC236}">
                            <a16:creationId xmlns:a16="http://schemas.microsoft.com/office/drawing/2014/main" id="{764A9D6E-C1B3-1ED2-F2EF-4C9E12E05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3192463"/>
                        <a:ext cx="954088" cy="363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1" name="Object 11">
            <a:extLst>
              <a:ext uri="{FF2B5EF4-FFF2-40B4-BE49-F238E27FC236}">
                <a16:creationId xmlns:a16="http://schemas.microsoft.com/office/drawing/2014/main" id="{632A16EC-CA0F-3878-9918-55D93D179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938382"/>
              </p:ext>
            </p:extLst>
          </p:nvPr>
        </p:nvGraphicFramePr>
        <p:xfrm>
          <a:off x="8108950" y="3174373"/>
          <a:ext cx="1425575" cy="36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058" imgH="203112" progId="Equation.3">
                  <p:embed/>
                </p:oleObj>
              </mc:Choice>
              <mc:Fallback>
                <p:oleObj name="Equation" r:id="rId12" imgW="787058" imgH="203112" progId="Equation.3">
                  <p:embed/>
                  <p:pic>
                    <p:nvPicPr>
                      <p:cNvPr id="245771" name="Object 11">
                        <a:extLst>
                          <a:ext uri="{FF2B5EF4-FFF2-40B4-BE49-F238E27FC236}">
                            <a16:creationId xmlns:a16="http://schemas.microsoft.com/office/drawing/2014/main" id="{632A16EC-CA0F-3878-9918-55D93D179F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3174373"/>
                        <a:ext cx="1425575" cy="36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2">
            <a:extLst>
              <a:ext uri="{FF2B5EF4-FFF2-40B4-BE49-F238E27FC236}">
                <a16:creationId xmlns:a16="http://schemas.microsoft.com/office/drawing/2014/main" id="{1F5C1B87-FFCE-0670-66DC-D60F6001D8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006630"/>
              </p:ext>
            </p:extLst>
          </p:nvPr>
        </p:nvGraphicFramePr>
        <p:xfrm>
          <a:off x="6972300" y="3676650"/>
          <a:ext cx="876300" cy="741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85" imgH="418918" progId="Equation.3">
                  <p:embed/>
                </p:oleObj>
              </mc:Choice>
              <mc:Fallback>
                <p:oleObj name="Equation" r:id="rId14" imgW="495085" imgH="418918" progId="Equation.3">
                  <p:embed/>
                  <p:pic>
                    <p:nvPicPr>
                      <p:cNvPr id="33805" name="Object 12">
                        <a:extLst>
                          <a:ext uri="{FF2B5EF4-FFF2-40B4-BE49-F238E27FC236}">
                            <a16:creationId xmlns:a16="http://schemas.microsoft.com/office/drawing/2014/main" id="{1F5C1B87-FFCE-0670-66DC-D60F6001D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3676650"/>
                        <a:ext cx="876300" cy="741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3" name="Object 13">
            <a:extLst>
              <a:ext uri="{FF2B5EF4-FFF2-40B4-BE49-F238E27FC236}">
                <a16:creationId xmlns:a16="http://schemas.microsoft.com/office/drawing/2014/main" id="{AD53DBAF-D93C-FDE7-B994-7174BBB54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86442"/>
              </p:ext>
            </p:extLst>
          </p:nvPr>
        </p:nvGraphicFramePr>
        <p:xfrm>
          <a:off x="8096677" y="3868634"/>
          <a:ext cx="13906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058" imgH="203112" progId="Equation.3">
                  <p:embed/>
                </p:oleObj>
              </mc:Choice>
              <mc:Fallback>
                <p:oleObj name="Equation" r:id="rId16" imgW="787058" imgH="203112" progId="Equation.3">
                  <p:embed/>
                  <p:pic>
                    <p:nvPicPr>
                      <p:cNvPr id="245773" name="Object 13">
                        <a:extLst>
                          <a:ext uri="{FF2B5EF4-FFF2-40B4-BE49-F238E27FC236}">
                            <a16:creationId xmlns:a16="http://schemas.microsoft.com/office/drawing/2014/main" id="{AD53DBAF-D93C-FDE7-B994-7174BBB54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677" y="3868634"/>
                        <a:ext cx="13906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>
            <a:extLst>
              <a:ext uri="{FF2B5EF4-FFF2-40B4-BE49-F238E27FC236}">
                <a16:creationId xmlns:a16="http://schemas.microsoft.com/office/drawing/2014/main" id="{75659952-36A9-646F-6D2D-560D88D13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333313"/>
              </p:ext>
            </p:extLst>
          </p:nvPr>
        </p:nvGraphicFramePr>
        <p:xfrm>
          <a:off x="6972300" y="5129213"/>
          <a:ext cx="954088" cy="419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700" imgH="228600" progId="Equation.DSMT4">
                  <p:embed/>
                </p:oleObj>
              </mc:Choice>
              <mc:Fallback>
                <p:oleObj name="Equation" r:id="rId18" imgW="520700" imgH="228600" progId="Equation.DSMT4">
                  <p:embed/>
                  <p:pic>
                    <p:nvPicPr>
                      <p:cNvPr id="33807" name="Object 15">
                        <a:extLst>
                          <a:ext uri="{FF2B5EF4-FFF2-40B4-BE49-F238E27FC236}">
                            <a16:creationId xmlns:a16="http://schemas.microsoft.com/office/drawing/2014/main" id="{75659952-36A9-646F-6D2D-560D88D13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0" y="5129213"/>
                        <a:ext cx="954088" cy="419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6" name="Object 16">
            <a:extLst>
              <a:ext uri="{FF2B5EF4-FFF2-40B4-BE49-F238E27FC236}">
                <a16:creationId xmlns:a16="http://schemas.microsoft.com/office/drawing/2014/main" id="{B36DAE02-3D3F-9F3A-C10F-00550DED6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116832"/>
              </p:ext>
            </p:extLst>
          </p:nvPr>
        </p:nvGraphicFramePr>
        <p:xfrm>
          <a:off x="8134354" y="4518716"/>
          <a:ext cx="6762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2751" imgH="203112" progId="Equation.3">
                  <p:embed/>
                </p:oleObj>
              </mc:Choice>
              <mc:Fallback>
                <p:oleObj name="Equation" r:id="rId20" imgW="342751" imgH="203112" progId="Equation.3">
                  <p:embed/>
                  <p:pic>
                    <p:nvPicPr>
                      <p:cNvPr id="245776" name="Object 16">
                        <a:extLst>
                          <a:ext uri="{FF2B5EF4-FFF2-40B4-BE49-F238E27FC236}">
                            <a16:creationId xmlns:a16="http://schemas.microsoft.com/office/drawing/2014/main" id="{B36DAE02-3D3F-9F3A-C10F-00550DED6B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4" y="4518716"/>
                        <a:ext cx="6762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>
            <a:extLst>
              <a:ext uri="{FF2B5EF4-FFF2-40B4-BE49-F238E27FC236}">
                <a16:creationId xmlns:a16="http://schemas.microsoft.com/office/drawing/2014/main" id="{C3D2E4D1-C25A-9826-F5F7-D79B5463E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123892"/>
              </p:ext>
            </p:extLst>
          </p:nvPr>
        </p:nvGraphicFramePr>
        <p:xfrm>
          <a:off x="6973094" y="4558506"/>
          <a:ext cx="9540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82391" imgH="203112" progId="Equation.3">
                  <p:embed/>
                </p:oleObj>
              </mc:Choice>
              <mc:Fallback>
                <p:oleObj name="Equation" r:id="rId22" imgW="482391" imgH="203112" progId="Equation.3">
                  <p:embed/>
                  <p:pic>
                    <p:nvPicPr>
                      <p:cNvPr id="33809" name="Object 17">
                        <a:extLst>
                          <a:ext uri="{FF2B5EF4-FFF2-40B4-BE49-F238E27FC236}">
                            <a16:creationId xmlns:a16="http://schemas.microsoft.com/office/drawing/2014/main" id="{C3D2E4D1-C25A-9826-F5F7-D79B5463E9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094" y="4558506"/>
                        <a:ext cx="9540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8" name="Object 18">
            <a:extLst>
              <a:ext uri="{FF2B5EF4-FFF2-40B4-BE49-F238E27FC236}">
                <a16:creationId xmlns:a16="http://schemas.microsoft.com/office/drawing/2014/main" id="{CD6A2A64-FC3A-0519-8FB5-44B2854D2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278170"/>
              </p:ext>
            </p:extLst>
          </p:nvPr>
        </p:nvGraphicFramePr>
        <p:xfrm>
          <a:off x="8134354" y="5034206"/>
          <a:ext cx="627484" cy="62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1613" imgH="431613" progId="Equation.DSMT4">
                  <p:embed/>
                </p:oleObj>
              </mc:Choice>
              <mc:Fallback>
                <p:oleObj name="Equation" r:id="rId24" imgW="431613" imgH="431613" progId="Equation.DSMT4">
                  <p:embed/>
                  <p:pic>
                    <p:nvPicPr>
                      <p:cNvPr id="245778" name="Object 18">
                        <a:extLst>
                          <a:ext uri="{FF2B5EF4-FFF2-40B4-BE49-F238E27FC236}">
                            <a16:creationId xmlns:a16="http://schemas.microsoft.com/office/drawing/2014/main" id="{CD6A2A64-FC3A-0519-8FB5-44B2854D2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4" y="5034206"/>
                        <a:ext cx="627484" cy="628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5">
                <a:extLst>
                  <a:ext uri="{FF2B5EF4-FFF2-40B4-BE49-F238E27FC236}">
                    <a16:creationId xmlns:a16="http://schemas.microsoft.com/office/drawing/2014/main" id="{209B8DC0-CBAA-4821-0BCF-FD434E7143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5400" y="5768774"/>
                <a:ext cx="9601200" cy="533400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2"/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𝑙𝑜𝑔𝑛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 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GB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𝑛𝑙𝑜𝑔𝑛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𝑙𝑜𝑔𝑛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3 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&lt; …&lt;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&lt;…&lt;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5">
                <a:extLst>
                  <a:ext uri="{FF2B5EF4-FFF2-40B4-BE49-F238E27FC236}">
                    <a16:creationId xmlns:a16="http://schemas.microsoft.com/office/drawing/2014/main" id="{209B8DC0-CBAA-4821-0BCF-FD434E71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768774"/>
                <a:ext cx="9601200" cy="5334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C5B737-791C-694F-AF83-C127E45681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749B36-DF34-419F-B758-3715D07254BF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EA23B46-1CAF-26FD-E2C0-CFB0C56E74D4}"/>
              </a:ext>
            </a:extLst>
          </p:cNvPr>
          <p:cNvSpPr txBox="1">
            <a:spLocks/>
          </p:cNvSpPr>
          <p:nvPr/>
        </p:nvSpPr>
        <p:spPr>
          <a:xfrm>
            <a:off x="3686185" y="6459785"/>
            <a:ext cx="482280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26BB6F5-1655-29DA-4A78-9483957B3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672227"/>
            <a:ext cx="10058400" cy="84073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More Examples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3E0FC94B-04DD-5834-0B7D-A2CFBEAC9A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752600"/>
            <a:ext cx="10744200" cy="455475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Lucida Sans Typewriter" panose="020B0509030504030204" pitchFamily="49" charset="0"/>
              </a:rPr>
              <a:t>For each of the following pairs of functions, either f(n) is O(g(n)), f(n) is Ω(g(n)), or f(n) = Θ(g(n)). Determine which relationship is correct.</a:t>
            </a:r>
          </a:p>
          <a:p>
            <a:pPr eaLnBrk="1" hangingPunct="1">
              <a:lnSpc>
                <a:spcPct val="110000"/>
              </a:lnSpc>
            </a:pPr>
            <a:endParaRPr lang="en-US" altLang="en-US" sz="1800" dirty="0">
              <a:latin typeface="Lucida Sans Typewriter" panose="020B05090305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log 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; g(n) = log n + 5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n; g(n) = log 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log </a:t>
            </a:r>
            <a:r>
              <a:rPr lang="en-US" altLang="en-US" dirty="0" err="1">
                <a:latin typeface="Lucida Sans Typewriter" panose="020B0509030504030204" pitchFamily="49" charset="0"/>
              </a:rPr>
              <a:t>log</a:t>
            </a:r>
            <a:r>
              <a:rPr lang="en-US" altLang="en-US" dirty="0">
                <a:latin typeface="Lucida Sans Typewriter" panose="020B0509030504030204" pitchFamily="49" charset="0"/>
              </a:rPr>
              <a:t> n; g(n) = log 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n; g(n) = log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  <a:r>
              <a:rPr lang="en-US" altLang="en-US" dirty="0">
                <a:latin typeface="Lucida Sans Typewriter" panose="020B0509030504030204" pitchFamily="49" charset="0"/>
              </a:rPr>
              <a:t> 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n log n + n; g(n) = log 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10; g(n) = log 10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2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</a:rPr>
              <a:t>; g(n) = 10n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2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f(n) = 2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</a:rPr>
              <a:t>; g(n) = 3</a:t>
            </a:r>
            <a:r>
              <a:rPr lang="en-US" altLang="en-US" baseline="30000" dirty="0">
                <a:latin typeface="Lucida Sans Typewriter" panose="020B0509030504030204" pitchFamily="49" charset="0"/>
              </a:rPr>
              <a:t>n</a:t>
            </a:r>
          </a:p>
        </p:txBody>
      </p:sp>
      <p:sp>
        <p:nvSpPr>
          <p:cNvPr id="224260" name="Text Box 4">
            <a:extLst>
              <a:ext uri="{FF2B5EF4-FFF2-40B4-BE49-F238E27FC236}">
                <a16:creationId xmlns:a16="http://schemas.microsoft.com/office/drawing/2014/main" id="{529970CD-3029-54E4-1CB9-A40E76ED1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577" y="2776542"/>
            <a:ext cx="23086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 (g(n))</a:t>
            </a:r>
          </a:p>
        </p:txBody>
      </p:sp>
      <p:sp>
        <p:nvSpPr>
          <p:cNvPr id="224261" name="Text Box 5">
            <a:extLst>
              <a:ext uri="{FF2B5EF4-FFF2-40B4-BE49-F238E27FC236}">
                <a16:creationId xmlns:a16="http://schemas.microsoft.com/office/drawing/2014/main" id="{0B7EC13F-F9B7-6499-F4E4-D61E40365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577" y="3240263"/>
            <a:ext cx="2175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(g(n))</a:t>
            </a:r>
          </a:p>
        </p:txBody>
      </p:sp>
      <p:sp>
        <p:nvSpPr>
          <p:cNvPr id="224262" name="Text Box 6">
            <a:extLst>
              <a:ext uri="{FF2B5EF4-FFF2-40B4-BE49-F238E27FC236}">
                <a16:creationId xmlns:a16="http://schemas.microsoft.com/office/drawing/2014/main" id="{08413FD5-3A86-ADF3-CC06-51B4B3880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587" y="3658111"/>
            <a:ext cx="21371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O(g(n))</a:t>
            </a:r>
          </a:p>
        </p:txBody>
      </p:sp>
      <p:sp>
        <p:nvSpPr>
          <p:cNvPr id="224263" name="Text Box 7">
            <a:extLst>
              <a:ext uri="{FF2B5EF4-FFF2-40B4-BE49-F238E27FC236}">
                <a16:creationId xmlns:a16="http://schemas.microsoft.com/office/drawing/2014/main" id="{A18DEB2C-C831-EC6E-C6CC-91A867549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4103658"/>
            <a:ext cx="2175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(g(n))</a:t>
            </a:r>
          </a:p>
        </p:txBody>
      </p:sp>
      <p:sp>
        <p:nvSpPr>
          <p:cNvPr id="224264" name="Text Box 8">
            <a:extLst>
              <a:ext uri="{FF2B5EF4-FFF2-40B4-BE49-F238E27FC236}">
                <a16:creationId xmlns:a16="http://schemas.microsoft.com/office/drawing/2014/main" id="{11012788-525F-1B69-CF74-554904B7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4549205"/>
            <a:ext cx="2175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(g(n))</a:t>
            </a:r>
          </a:p>
        </p:txBody>
      </p:sp>
      <p:sp>
        <p:nvSpPr>
          <p:cNvPr id="224265" name="Text Box 9">
            <a:extLst>
              <a:ext uri="{FF2B5EF4-FFF2-40B4-BE49-F238E27FC236}">
                <a16:creationId xmlns:a16="http://schemas.microsoft.com/office/drawing/2014/main" id="{9F2661FA-01D1-13B1-6866-735D6667A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6577" y="4994752"/>
            <a:ext cx="21691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(g(n))</a:t>
            </a:r>
          </a:p>
        </p:txBody>
      </p:sp>
      <p:sp>
        <p:nvSpPr>
          <p:cNvPr id="224266" name="Text Box 10">
            <a:extLst>
              <a:ext uri="{FF2B5EF4-FFF2-40B4-BE49-F238E27FC236}">
                <a16:creationId xmlns:a16="http://schemas.microsoft.com/office/drawing/2014/main" id="{401F9D53-D733-3C6B-16CC-6BF943BD1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5431314"/>
            <a:ext cx="2175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(g(n))</a:t>
            </a:r>
          </a:p>
        </p:txBody>
      </p:sp>
      <p:sp>
        <p:nvSpPr>
          <p:cNvPr id="224267" name="Text Box 11">
            <a:extLst>
              <a:ext uri="{FF2B5EF4-FFF2-40B4-BE49-F238E27FC236}">
                <a16:creationId xmlns:a16="http://schemas.microsoft.com/office/drawing/2014/main" id="{A3155DF7-D464-2CA4-3DDD-CEAF6A54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587" y="5839097"/>
            <a:ext cx="21371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Lucida Sans Typewriter" panose="020B0509030504030204" pitchFamily="49" charset="0"/>
              </a:rPr>
              <a:t>f(n) =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O(g(n))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481336-8858-D45C-8A74-426CDD1A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4CBA8-042C-1795-C9FE-670ADB38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/>
      <p:bldP spid="224261" grpId="0"/>
      <p:bldP spid="224262" grpId="0"/>
      <p:bldP spid="224263" grpId="0"/>
      <p:bldP spid="224264" grpId="0"/>
      <p:bldP spid="224265" grpId="0"/>
      <p:bldP spid="224266" grpId="0"/>
      <p:bldP spid="22426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6F4C9710-2C1F-1D28-2B37-0438E0CC3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652463"/>
            <a:ext cx="10972800" cy="9064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latin typeface="Lucida Sans Typewriter" panose="020B0509030504030204" pitchFamily="49" charset="0"/>
              </a:rPr>
              <a:t>Common Summations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AAFE7D73-3614-4002-3A5F-4214C24789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87992" y="1714500"/>
            <a:ext cx="5384800" cy="4995866"/>
          </a:xfrm>
        </p:spPr>
        <p:txBody>
          <a:bodyPr>
            <a:normAutofit/>
          </a:bodyPr>
          <a:lstStyle/>
          <a:p>
            <a:pPr eaLnBrk="1" hangingPunct="1">
              <a:lnSpc>
                <a:spcPct val="20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Arithmetic series: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Geometric series: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sz="2000" dirty="0">
                <a:latin typeface="Lucida Sans Typewriter" panose="020B0509030504030204" pitchFamily="49" charset="0"/>
              </a:rPr>
              <a:t>Special case: |x| &lt; 1: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Harmonic series: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dirty="0">
                <a:latin typeface="Lucida Sans Typewriter" panose="020B0509030504030204" pitchFamily="49" charset="0"/>
              </a:rPr>
              <a:t>Other important formulas:</a:t>
            </a:r>
          </a:p>
        </p:txBody>
      </p:sp>
      <p:graphicFrame>
        <p:nvGraphicFramePr>
          <p:cNvPr id="167940" name="Object 4">
            <a:extLst>
              <a:ext uri="{FF2B5EF4-FFF2-40B4-BE49-F238E27FC236}">
                <a16:creationId xmlns:a16="http://schemas.microsoft.com/office/drawing/2014/main" id="{10F4077B-5DC4-88B5-1EF8-797A0A711BCE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39691298"/>
              </p:ext>
            </p:extLst>
          </p:nvPr>
        </p:nvGraphicFramePr>
        <p:xfrm>
          <a:off x="8134879" y="1730375"/>
          <a:ext cx="8001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67940" name="Object 4">
                        <a:extLst>
                          <a:ext uri="{FF2B5EF4-FFF2-40B4-BE49-F238E27FC236}">
                            <a16:creationId xmlns:a16="http://schemas.microsoft.com/office/drawing/2014/main" id="{10F4077B-5DC4-88B5-1EF8-797A0A711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879" y="1730375"/>
                        <a:ext cx="8001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1" name="Object 5">
            <a:extLst>
              <a:ext uri="{FF2B5EF4-FFF2-40B4-BE49-F238E27FC236}">
                <a16:creationId xmlns:a16="http://schemas.microsoft.com/office/drawing/2014/main" id="{03D9EDEB-0F81-F0CB-32CF-AFA23884C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111771"/>
              </p:ext>
            </p:extLst>
          </p:nvPr>
        </p:nvGraphicFramePr>
        <p:xfrm>
          <a:off x="6134629" y="1714500"/>
          <a:ext cx="19796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227" imgH="431613" progId="Equation.3">
                  <p:embed/>
                </p:oleObj>
              </mc:Choice>
              <mc:Fallback>
                <p:oleObj name="Equation" r:id="rId4" imgW="1320227" imgH="431613" progId="Equation.3">
                  <p:embed/>
                  <p:pic>
                    <p:nvPicPr>
                      <p:cNvPr id="167941" name="Object 5">
                        <a:extLst>
                          <a:ext uri="{FF2B5EF4-FFF2-40B4-BE49-F238E27FC236}">
                            <a16:creationId xmlns:a16="http://schemas.microsoft.com/office/drawing/2014/main" id="{03D9EDEB-0F81-F0CB-32CF-AFA23884C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1714500"/>
                        <a:ext cx="19796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2" name="Object 6">
            <a:extLst>
              <a:ext uri="{FF2B5EF4-FFF2-40B4-BE49-F238E27FC236}">
                <a16:creationId xmlns:a16="http://schemas.microsoft.com/office/drawing/2014/main" id="{0C281C2E-60F9-D6B6-CEDD-F254BB1BA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259213"/>
              </p:ext>
            </p:extLst>
          </p:nvPr>
        </p:nvGraphicFramePr>
        <p:xfrm>
          <a:off x="8804804" y="2498725"/>
          <a:ext cx="13509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309" imgH="418918" progId="Equation.3">
                  <p:embed/>
                </p:oleObj>
              </mc:Choice>
              <mc:Fallback>
                <p:oleObj name="Equation" r:id="rId6" imgW="901309" imgH="418918" progId="Equation.3">
                  <p:embed/>
                  <p:pic>
                    <p:nvPicPr>
                      <p:cNvPr id="167942" name="Object 6">
                        <a:extLst>
                          <a:ext uri="{FF2B5EF4-FFF2-40B4-BE49-F238E27FC236}">
                            <a16:creationId xmlns:a16="http://schemas.microsoft.com/office/drawing/2014/main" id="{0C281C2E-60F9-D6B6-CEDD-F254BB1B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4804" y="2498725"/>
                        <a:ext cx="13509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3" name="Object 7">
            <a:extLst>
              <a:ext uri="{FF2B5EF4-FFF2-40B4-BE49-F238E27FC236}">
                <a16:creationId xmlns:a16="http://schemas.microsoft.com/office/drawing/2014/main" id="{7D30511C-A07F-75A6-B99F-7AD59224E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867419"/>
              </p:ext>
            </p:extLst>
          </p:nvPr>
        </p:nvGraphicFramePr>
        <p:xfrm>
          <a:off x="6134629" y="2506663"/>
          <a:ext cx="26082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900" imgH="431800" progId="Equation.3">
                  <p:embed/>
                </p:oleObj>
              </mc:Choice>
              <mc:Fallback>
                <p:oleObj name="Equation" r:id="rId8" imgW="1739900" imgH="431800" progId="Equation.3">
                  <p:embed/>
                  <p:pic>
                    <p:nvPicPr>
                      <p:cNvPr id="167943" name="Object 7">
                        <a:extLst>
                          <a:ext uri="{FF2B5EF4-FFF2-40B4-BE49-F238E27FC236}">
                            <a16:creationId xmlns:a16="http://schemas.microsoft.com/office/drawing/2014/main" id="{7D30511C-A07F-75A6-B99F-7AD59224EF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2506663"/>
                        <a:ext cx="26082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>
            <a:extLst>
              <a:ext uri="{FF2B5EF4-FFF2-40B4-BE49-F238E27FC236}">
                <a16:creationId xmlns:a16="http://schemas.microsoft.com/office/drawing/2014/main" id="{36660A83-8580-2FF7-25CA-CB2AD9F2E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310010"/>
              </p:ext>
            </p:extLst>
          </p:nvPr>
        </p:nvGraphicFramePr>
        <p:xfrm>
          <a:off x="6977591" y="3321050"/>
          <a:ext cx="5143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393529" progId="Equation.3">
                  <p:embed/>
                </p:oleObj>
              </mc:Choice>
              <mc:Fallback>
                <p:oleObj name="Equation" r:id="rId10" imgW="342751" imgH="393529" progId="Equation.3">
                  <p:embed/>
                  <p:pic>
                    <p:nvPicPr>
                      <p:cNvPr id="167944" name="Object 8">
                        <a:extLst>
                          <a:ext uri="{FF2B5EF4-FFF2-40B4-BE49-F238E27FC236}">
                            <a16:creationId xmlns:a16="http://schemas.microsoft.com/office/drawing/2014/main" id="{36660A83-8580-2FF7-25CA-CB2AD9F2EF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591" y="3321050"/>
                        <a:ext cx="5143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5" name="Object 9">
            <a:extLst>
              <a:ext uri="{FF2B5EF4-FFF2-40B4-BE49-F238E27FC236}">
                <a16:creationId xmlns:a16="http://schemas.microsoft.com/office/drawing/2014/main" id="{1F838466-F964-C99F-F2A1-F30C465D8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600514"/>
              </p:ext>
            </p:extLst>
          </p:nvPr>
        </p:nvGraphicFramePr>
        <p:xfrm>
          <a:off x="6134629" y="3300413"/>
          <a:ext cx="7429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431613" progId="Equation.3">
                  <p:embed/>
                </p:oleObj>
              </mc:Choice>
              <mc:Fallback>
                <p:oleObj name="Equation" r:id="rId12" imgW="495085" imgH="431613" progId="Equation.3">
                  <p:embed/>
                  <p:pic>
                    <p:nvPicPr>
                      <p:cNvPr id="167945" name="Object 9">
                        <a:extLst>
                          <a:ext uri="{FF2B5EF4-FFF2-40B4-BE49-F238E27FC236}">
                            <a16:creationId xmlns:a16="http://schemas.microsoft.com/office/drawing/2014/main" id="{1F838466-F964-C99F-F2A1-F30C465D8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3300413"/>
                        <a:ext cx="7429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6" name="Object 10">
            <a:extLst>
              <a:ext uri="{FF2B5EF4-FFF2-40B4-BE49-F238E27FC236}">
                <a16:creationId xmlns:a16="http://schemas.microsoft.com/office/drawing/2014/main" id="{0A8CEBCE-DA81-F93C-DEE0-87DB6262F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532080"/>
              </p:ext>
            </p:extLst>
          </p:nvPr>
        </p:nvGraphicFramePr>
        <p:xfrm>
          <a:off x="8079316" y="4243388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670" imgH="177646" progId="Equation.3">
                  <p:embed/>
                </p:oleObj>
              </mc:Choice>
              <mc:Fallback>
                <p:oleObj name="Equation" r:id="rId14" imgW="380670" imgH="177646" progId="Equation.3">
                  <p:embed/>
                  <p:pic>
                    <p:nvPicPr>
                      <p:cNvPr id="167946" name="Object 10">
                        <a:extLst>
                          <a:ext uri="{FF2B5EF4-FFF2-40B4-BE49-F238E27FC236}">
                            <a16:creationId xmlns:a16="http://schemas.microsoft.com/office/drawing/2014/main" id="{0A8CEBCE-DA81-F93C-DEE0-87DB6262F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9316" y="4243388"/>
                        <a:ext cx="5715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7" name="Object 11">
            <a:extLst>
              <a:ext uri="{FF2B5EF4-FFF2-40B4-BE49-F238E27FC236}">
                <a16:creationId xmlns:a16="http://schemas.microsoft.com/office/drawing/2014/main" id="{DCDE06EC-E6D8-F6EB-E465-F1607768A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218306"/>
              </p:ext>
            </p:extLst>
          </p:nvPr>
        </p:nvGraphicFramePr>
        <p:xfrm>
          <a:off x="6134629" y="4092575"/>
          <a:ext cx="19034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449" imgH="431613" progId="Equation.3">
                  <p:embed/>
                </p:oleObj>
              </mc:Choice>
              <mc:Fallback>
                <p:oleObj name="Equation" r:id="rId16" imgW="1269449" imgH="431613" progId="Equation.3">
                  <p:embed/>
                  <p:pic>
                    <p:nvPicPr>
                      <p:cNvPr id="167947" name="Object 11">
                        <a:extLst>
                          <a:ext uri="{FF2B5EF4-FFF2-40B4-BE49-F238E27FC236}">
                            <a16:creationId xmlns:a16="http://schemas.microsoft.com/office/drawing/2014/main" id="{DCDE06EC-E6D8-F6EB-E465-F1607768A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4092575"/>
                        <a:ext cx="19034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8" name="Object 12">
            <a:extLst>
              <a:ext uri="{FF2B5EF4-FFF2-40B4-BE49-F238E27FC236}">
                <a16:creationId xmlns:a16="http://schemas.microsoft.com/office/drawing/2014/main" id="{6D8868DE-3E42-AB67-0ED3-E30514832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314416"/>
              </p:ext>
            </p:extLst>
          </p:nvPr>
        </p:nvGraphicFramePr>
        <p:xfrm>
          <a:off x="6134629" y="4886325"/>
          <a:ext cx="6667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431613" progId="Equation.3">
                  <p:embed/>
                </p:oleObj>
              </mc:Choice>
              <mc:Fallback>
                <p:oleObj name="Equation" r:id="rId18" imgW="444307" imgH="431613" progId="Equation.3">
                  <p:embed/>
                  <p:pic>
                    <p:nvPicPr>
                      <p:cNvPr id="167948" name="Object 12">
                        <a:extLst>
                          <a:ext uri="{FF2B5EF4-FFF2-40B4-BE49-F238E27FC236}">
                            <a16:creationId xmlns:a16="http://schemas.microsoft.com/office/drawing/2014/main" id="{6D8868DE-3E42-AB67-0ED3-E30514832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4886325"/>
                        <a:ext cx="6667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>
            <a:extLst>
              <a:ext uri="{FF2B5EF4-FFF2-40B4-BE49-F238E27FC236}">
                <a16:creationId xmlns:a16="http://schemas.microsoft.com/office/drawing/2014/main" id="{97AA8627-EC2F-4BC9-567A-41F309152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761970"/>
              </p:ext>
            </p:extLst>
          </p:nvPr>
        </p:nvGraphicFramePr>
        <p:xfrm>
          <a:off x="6791854" y="5059363"/>
          <a:ext cx="723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2391" imgH="203112" progId="Equation.3">
                  <p:embed/>
                </p:oleObj>
              </mc:Choice>
              <mc:Fallback>
                <p:oleObj name="Equation" r:id="rId20" imgW="482391" imgH="203112" progId="Equation.3">
                  <p:embed/>
                  <p:pic>
                    <p:nvPicPr>
                      <p:cNvPr id="167949" name="Object 13">
                        <a:extLst>
                          <a:ext uri="{FF2B5EF4-FFF2-40B4-BE49-F238E27FC236}">
                            <a16:creationId xmlns:a16="http://schemas.microsoft.com/office/drawing/2014/main" id="{97AA8627-EC2F-4BC9-567A-41F309152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854" y="5059363"/>
                        <a:ext cx="723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0" name="Object 14">
            <a:extLst>
              <a:ext uri="{FF2B5EF4-FFF2-40B4-BE49-F238E27FC236}">
                <a16:creationId xmlns:a16="http://schemas.microsoft.com/office/drawing/2014/main" id="{9B2A1CC9-3D05-5D24-70B3-161F6FB23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27265"/>
              </p:ext>
            </p:extLst>
          </p:nvPr>
        </p:nvGraphicFramePr>
        <p:xfrm>
          <a:off x="8607954" y="5683250"/>
          <a:ext cx="914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09600" imgH="419100" progId="Equation.3">
                  <p:embed/>
                </p:oleObj>
              </mc:Choice>
              <mc:Fallback>
                <p:oleObj name="Equation" r:id="rId22" imgW="609600" imgH="419100" progId="Equation.3">
                  <p:embed/>
                  <p:pic>
                    <p:nvPicPr>
                      <p:cNvPr id="167950" name="Object 14">
                        <a:extLst>
                          <a:ext uri="{FF2B5EF4-FFF2-40B4-BE49-F238E27FC236}">
                            <a16:creationId xmlns:a16="http://schemas.microsoft.com/office/drawing/2014/main" id="{9B2A1CC9-3D05-5D24-70B3-161F6FB23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7954" y="5683250"/>
                        <a:ext cx="914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1" name="Object 15">
            <a:extLst>
              <a:ext uri="{FF2B5EF4-FFF2-40B4-BE49-F238E27FC236}">
                <a16:creationId xmlns:a16="http://schemas.microsoft.com/office/drawing/2014/main" id="{70E1FF03-E5D5-A3E2-38D8-855D2AC58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44533"/>
              </p:ext>
            </p:extLst>
          </p:nvPr>
        </p:nvGraphicFramePr>
        <p:xfrm>
          <a:off x="6134629" y="5680075"/>
          <a:ext cx="24368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25600" imgH="431800" progId="Equation.3">
                  <p:embed/>
                </p:oleObj>
              </mc:Choice>
              <mc:Fallback>
                <p:oleObj name="Equation" r:id="rId24" imgW="1625600" imgH="431800" progId="Equation.3">
                  <p:embed/>
                  <p:pic>
                    <p:nvPicPr>
                      <p:cNvPr id="167951" name="Object 15">
                        <a:extLst>
                          <a:ext uri="{FF2B5EF4-FFF2-40B4-BE49-F238E27FC236}">
                            <a16:creationId xmlns:a16="http://schemas.microsoft.com/office/drawing/2014/main" id="{70E1FF03-E5D5-A3E2-38D8-855D2AC58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29" y="5680075"/>
                        <a:ext cx="24368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E2B334-9EC4-1979-B632-15FDAD9A6928}"/>
              </a:ext>
            </a:extLst>
          </p:cNvPr>
          <p:cNvSpPr txBox="1">
            <a:spLocks/>
          </p:cNvSpPr>
          <p:nvPr/>
        </p:nvSpPr>
        <p:spPr>
          <a:xfrm>
            <a:off x="3684598" y="6437312"/>
            <a:ext cx="482280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Charles Aunkan Gomes (Lecturer, Dept of CSE, UIU)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0482DB-984B-5A95-1DC3-5B857FBE6E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749B36-DF34-419F-B758-3715D07254BF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49" y="517071"/>
            <a:ext cx="9982200" cy="987488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</a:rPr>
              <a:t>Practical Complexity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447756"/>
              </p:ext>
            </p:extLst>
          </p:nvPr>
        </p:nvGraphicFramePr>
        <p:xfrm>
          <a:off x="1066799" y="1725315"/>
          <a:ext cx="3954280" cy="23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467796" imgH="3134005" progId="Excel.Chart.8">
                  <p:embed/>
                </p:oleObj>
              </mc:Choice>
              <mc:Fallback>
                <p:oleObj name="Chart" r:id="rId2" imgW="5467796" imgH="313400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799" y="1725315"/>
                        <a:ext cx="3954280" cy="230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942914"/>
              </p:ext>
            </p:extLst>
          </p:nvPr>
        </p:nvGraphicFramePr>
        <p:xfrm>
          <a:off x="5852540" y="1725315"/>
          <a:ext cx="3954280" cy="230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5467796" imgH="3134005" progId="Excel.Chart.8">
                  <p:embed/>
                </p:oleObj>
              </mc:Choice>
              <mc:Fallback>
                <p:oleObj name="Chart" r:id="rId4" imgW="5467796" imgH="3134005" progId="Excel.Chart.8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540" y="1725315"/>
                        <a:ext cx="3954280" cy="230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68625"/>
              </p:ext>
            </p:extLst>
          </p:nvPr>
        </p:nvGraphicFramePr>
        <p:xfrm>
          <a:off x="1047749" y="4035791"/>
          <a:ext cx="3954281" cy="23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5467796" imgH="3134005" progId="Excel.Chart.8">
                  <p:embed/>
                </p:oleObj>
              </mc:Choice>
              <mc:Fallback>
                <p:oleObj name="Chart" r:id="rId6" imgW="5467796" imgH="3134005" progId="Excel.Chart.8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49" y="4035791"/>
                        <a:ext cx="3954281" cy="230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883844"/>
              </p:ext>
            </p:extLst>
          </p:nvPr>
        </p:nvGraphicFramePr>
        <p:xfrm>
          <a:off x="5852540" y="4030452"/>
          <a:ext cx="3954280" cy="23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5467796" imgH="3134005" progId="Excel.Chart.8">
                  <p:embed/>
                </p:oleObj>
              </mc:Choice>
              <mc:Fallback>
                <p:oleObj name="Chart" r:id="rId8" imgW="5467796" imgH="3134005" progId="Excel.Chart.8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540" y="4030452"/>
                        <a:ext cx="3954280" cy="230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D98FC-B644-7BA3-2E4C-2271E6C9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D5280-C54E-931E-CD20-E9AACC14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77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288" y="533400"/>
            <a:ext cx="10058400" cy="10668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Other Asymptotic Notations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10210800" cy="3962400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A function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 is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o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)) if  positive constants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such that </a:t>
            </a:r>
            <a:b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</a:b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	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&lt;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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</a:p>
          <a:p>
            <a:endParaRPr lang="en-US" altLang="en-US" dirty="0">
              <a:solidFill>
                <a:schemeClr val="accent2">
                  <a:lumMod val="75000"/>
                </a:schemeClr>
              </a:solidFill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A function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 is (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)) if  positive constants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r>
              <a:rPr lang="en-US" altLang="en-US" i="1" dirty="0"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such that </a:t>
            </a:r>
            <a:b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</a:b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	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c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g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&lt;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f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) 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 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n</a:t>
            </a:r>
            <a:r>
              <a:rPr lang="en-US" altLang="en-US" i="1" baseline="-25000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sym typeface="Symbol" panose="05050102010706020507" pitchFamily="18" charset="2"/>
              </a:rPr>
              <a:t>0</a:t>
            </a:r>
            <a:endParaRPr lang="en-US" altLang="en-US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Intuitively,</a:t>
            </a: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2133600" y="55626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</a:pPr>
            <a:endParaRPr lang="en-US" altLang="en-US" i="0">
              <a:latin typeface="Lucida Sans Typewriter" panose="020B0509030504030204" pitchFamily="49" charset="0"/>
              <a:sym typeface="Symbol" panose="05050102010706020507" pitchFamily="18" charset="2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1698171" y="4648200"/>
            <a:ext cx="4114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None/>
            </a:pPr>
            <a:endParaRPr lang="en-US" altLang="en-US" i="0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</a:pP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o</a:t>
            </a:r>
            <a:r>
              <a:rPr lang="en-US" altLang="en-US" i="0" dirty="0">
                <a:latin typeface="Lucida Sans Typewriter" panose="020B0509030504030204" pitchFamily="49" charset="0"/>
                <a:sym typeface="Symbol" panose="05050102010706020507" pitchFamily="18" charset="2"/>
              </a:rPr>
              <a:t>( ) is like &lt; 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</a:pPr>
            <a:r>
              <a:rPr lang="en-US" altLang="en-US" dirty="0">
                <a:latin typeface="Lucida Sans Typewriter" panose="020B0509030504030204" pitchFamily="49" charset="0"/>
                <a:sym typeface="Symbol" panose="05050102010706020507" pitchFamily="18" charset="2"/>
              </a:rPr>
              <a:t>O</a:t>
            </a:r>
            <a:r>
              <a:rPr lang="en-US" altLang="en-US" i="0" dirty="0">
                <a:latin typeface="Lucida Sans Typewriter" panose="020B0509030504030204" pitchFamily="49" charset="0"/>
                <a:sym typeface="Symbol" panose="05050102010706020507" pitchFamily="18" charset="2"/>
              </a:rPr>
              <a:t>( ) is like </a:t>
            </a:r>
          </a:p>
        </p:txBody>
      </p:sp>
      <p:sp>
        <p:nvSpPr>
          <p:cNvPr id="37895" name="Rectangle 6"/>
          <p:cNvSpPr>
            <a:spLocks noChangeArrowheads="1"/>
          </p:cNvSpPr>
          <p:nvPr/>
        </p:nvSpPr>
        <p:spPr bwMode="auto">
          <a:xfrm>
            <a:off x="4767942" y="4558782"/>
            <a:ext cx="3352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</a:pPr>
            <a:endParaRPr lang="en-US" altLang="en-US" i="0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</a:pPr>
            <a:r>
              <a:rPr lang="en-US" altLang="en-US" i="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( ) is like &gt; 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</a:pPr>
            <a:r>
              <a:rPr lang="en-US" altLang="en-US" i="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( ) is like </a:t>
            </a:r>
          </a:p>
        </p:txBody>
      </p:sp>
      <p:sp>
        <p:nvSpPr>
          <p:cNvPr id="37896" name="Rectangle 7"/>
          <p:cNvSpPr>
            <a:spLocks noChangeArrowheads="1"/>
          </p:cNvSpPr>
          <p:nvPr/>
        </p:nvSpPr>
        <p:spPr bwMode="auto">
          <a:xfrm>
            <a:off x="7952013" y="4603491"/>
            <a:ext cx="3124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</a:pPr>
            <a:endParaRPr lang="en-US" altLang="en-US" i="0" dirty="0">
              <a:latin typeface="Lucida Sans Typewriter" panose="020B0509030504030204" pitchFamily="49" charset="0"/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</a:pPr>
            <a:r>
              <a:rPr lang="en-US" altLang="en-US" i="0" dirty="0">
                <a:latin typeface="Lucida Sans Typewriter" panose="020B0509030504030204" pitchFamily="49" charset="0"/>
                <a:sym typeface="Symbol" panose="05050102010706020507" pitchFamily="18" charset="2"/>
              </a:rPr>
              <a:t>( ) is like =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B88E7-3F2B-DA2B-2377-CA8D8249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Charles Aunkan Gomes (Lecturer, Dept of CSE, UIU)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BC933-6186-A170-20C9-87E3E698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49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 cat&#10;&#10;Description automatically generated">
            <a:extLst>
              <a:ext uri="{FF2B5EF4-FFF2-40B4-BE49-F238E27FC236}">
                <a16:creationId xmlns:a16="http://schemas.microsoft.com/office/drawing/2014/main" id="{7504AF05-2BBA-ECED-49C0-8EEF76B83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119" y="1905001"/>
            <a:ext cx="2671763" cy="267176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2662D-22A0-A4C5-2326-9271358F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C58E4-9009-2D51-10AE-EC7BD36A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5059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2158</TotalTime>
  <Words>2921</Words>
  <Application>Microsoft Office PowerPoint</Application>
  <PresentationFormat>Widescreen</PresentationFormat>
  <Paragraphs>393</Paragraphs>
  <Slides>38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ＭＳ Ｐゴシック</vt:lpstr>
      <vt:lpstr>Aptos ExtraBold</vt:lpstr>
      <vt:lpstr>Arial</vt:lpstr>
      <vt:lpstr>Calibri</vt:lpstr>
      <vt:lpstr>Calibri Light</vt:lpstr>
      <vt:lpstr>Cambria Math</vt:lpstr>
      <vt:lpstr>Courier New</vt:lpstr>
      <vt:lpstr>Lucida Sans Typewriter</vt:lpstr>
      <vt:lpstr>Noto Sans Symbols</vt:lpstr>
      <vt:lpstr>Times New Roman</vt:lpstr>
      <vt:lpstr>Wingdings</vt:lpstr>
      <vt:lpstr>Retrospect</vt:lpstr>
      <vt:lpstr>Clip</vt:lpstr>
      <vt:lpstr>Equation</vt:lpstr>
      <vt:lpstr>Chart</vt:lpstr>
      <vt:lpstr>PowerPoint Presentation</vt:lpstr>
      <vt:lpstr>DSA</vt:lpstr>
      <vt:lpstr>What is an Algorithm?</vt:lpstr>
      <vt:lpstr>What is a Program?</vt:lpstr>
      <vt:lpstr>Define a Problem, and Solve It</vt:lpstr>
      <vt:lpstr>Define a Problem, and Solve It</vt:lpstr>
      <vt:lpstr>What do we Analyze? </vt:lpstr>
      <vt:lpstr>Running Time</vt:lpstr>
      <vt:lpstr>Asymptotic Performance</vt:lpstr>
      <vt:lpstr>Asymptotic Analysis</vt:lpstr>
      <vt:lpstr>Upper Bound Notation</vt:lpstr>
      <vt:lpstr>Upper Bound Notation</vt:lpstr>
      <vt:lpstr>Lower Bound Notation</vt:lpstr>
      <vt:lpstr>Lower Bound Notation</vt:lpstr>
      <vt:lpstr>Asymptotic Tight Bound</vt:lpstr>
      <vt:lpstr>Asymptotic Tight Bound</vt:lpstr>
      <vt:lpstr>Asymptotic Notation</vt:lpstr>
      <vt:lpstr>Practical Complexity</vt:lpstr>
      <vt:lpstr>Practical Complexity </vt:lpstr>
      <vt:lpstr>Analysis of Algorithms</vt:lpstr>
      <vt:lpstr>Input Size</vt:lpstr>
      <vt:lpstr>How do we compare algorithms?</vt:lpstr>
      <vt:lpstr>Ideal Solution</vt:lpstr>
      <vt:lpstr>Rate of Growth</vt:lpstr>
      <vt:lpstr>Big-O Notation</vt:lpstr>
      <vt:lpstr>Example</vt:lpstr>
      <vt:lpstr>Another Example</vt:lpstr>
      <vt:lpstr>Big-O Visualization</vt:lpstr>
      <vt:lpstr>More Examples …</vt:lpstr>
      <vt:lpstr>Examples of big-omega</vt:lpstr>
      <vt:lpstr>Relations Between Different Sets</vt:lpstr>
      <vt:lpstr>Examples of theta notation</vt:lpstr>
      <vt:lpstr>Logarithms and properties</vt:lpstr>
      <vt:lpstr>More Examples</vt:lpstr>
      <vt:lpstr>Common Summations</vt:lpstr>
      <vt:lpstr>Practical Complexity</vt:lpstr>
      <vt:lpstr>Other Asymptotic Notations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Aunkan Gomes</cp:lastModifiedBy>
  <cp:revision>140</cp:revision>
  <dcterms:created xsi:type="dcterms:W3CDTF">2022-06-16T11:58:56Z</dcterms:created>
  <dcterms:modified xsi:type="dcterms:W3CDTF">2025-12-03T03:28:33Z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